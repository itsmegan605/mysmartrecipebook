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7"/>
  </p:notesMasterIdLst>
  <p:sldIdLst>
    <p:sldId id="256" r:id="rId2"/>
    <p:sldId id="265" r:id="rId3"/>
    <p:sldId id="263" r:id="rId4"/>
    <p:sldId id="330" r:id="rId5"/>
    <p:sldId id="329" r:id="rId6"/>
    <p:sldId id="294" r:id="rId7"/>
    <p:sldId id="295" r:id="rId8"/>
    <p:sldId id="293" r:id="rId9"/>
    <p:sldId id="282" r:id="rId10"/>
    <p:sldId id="290" r:id="rId11"/>
    <p:sldId id="289" r:id="rId12"/>
    <p:sldId id="315" r:id="rId13"/>
    <p:sldId id="311" r:id="rId14"/>
    <p:sldId id="291" r:id="rId15"/>
    <p:sldId id="292" r:id="rId16"/>
    <p:sldId id="333" r:id="rId17"/>
    <p:sldId id="287" r:id="rId18"/>
    <p:sldId id="259" r:id="rId19"/>
    <p:sldId id="266" r:id="rId20"/>
    <p:sldId id="268" r:id="rId21"/>
    <p:sldId id="300" r:id="rId22"/>
    <p:sldId id="307" r:id="rId23"/>
    <p:sldId id="334" r:id="rId24"/>
    <p:sldId id="301" r:id="rId25"/>
    <p:sldId id="317" r:id="rId26"/>
    <p:sldId id="304" r:id="rId27"/>
    <p:sldId id="318" r:id="rId28"/>
    <p:sldId id="319" r:id="rId29"/>
    <p:sldId id="275" r:id="rId30"/>
    <p:sldId id="326" r:id="rId31"/>
    <p:sldId id="276" r:id="rId32"/>
    <p:sldId id="279" r:id="rId33"/>
    <p:sldId id="271" r:id="rId34"/>
    <p:sldId id="308" r:id="rId35"/>
    <p:sldId id="309" r:id="rId36"/>
    <p:sldId id="284" r:id="rId37"/>
    <p:sldId id="327" r:id="rId38"/>
    <p:sldId id="328" r:id="rId39"/>
    <p:sldId id="283" r:id="rId40"/>
    <p:sldId id="303" r:id="rId41"/>
    <p:sldId id="316" r:id="rId42"/>
    <p:sldId id="335" r:id="rId43"/>
    <p:sldId id="320" r:id="rId44"/>
    <p:sldId id="323" r:id="rId45"/>
    <p:sldId id="325" r:id="rId46"/>
    <p:sldId id="278" r:id="rId47"/>
    <p:sldId id="331" r:id="rId48"/>
    <p:sldId id="280" r:id="rId49"/>
    <p:sldId id="332" r:id="rId50"/>
    <p:sldId id="296" r:id="rId51"/>
    <p:sldId id="297" r:id="rId52"/>
    <p:sldId id="299" r:id="rId53"/>
    <p:sldId id="298" r:id="rId54"/>
    <p:sldId id="305" r:id="rId55"/>
    <p:sldId id="281" r:id="rId56"/>
  </p:sldIdLst>
  <p:sldSz cx="9144000" cy="6858000" type="screen4x3"/>
  <p:notesSz cx="6858000" cy="9144000"/>
  <p:defaultText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3C64956-3933-E294-AF2A-D1563ACDCA3F}" name="Chiara Masiero" initials="CM" userId="S::c.masiero@studenti.unipi.it::99767dfe-983b-4d77-8d80-8426448d7cf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537C"/>
    <a:srgbClr val="012456"/>
    <a:srgbClr val="1E1E1E"/>
    <a:srgbClr val="FFFFCC"/>
    <a:srgbClr val="00602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C043D4-D459-4D82-8464-5E29449F6EAB}" v="93" dt="2026-06-15T10:22:15.558"/>
    <p1510:client id="{7ADB3543-14EC-4C42-A10E-3B595D6725C5}" v="1059" dt="2026-06-15T15:19:53.185"/>
    <p1510:client id="{D65FD2CC-120F-A34B-BE9C-F4C6EF7DE8EC}" v="128" dt="2026-06-15T13:41:30.802"/>
    <p1510:client id="{FA9142D2-74D0-471F-8FCB-F94BBAB720F7}" v="2106" dt="2026-06-15T15:17:26.136"/>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849"/>
    <p:restoredTop sz="94655"/>
  </p:normalViewPr>
  <p:slideViewPr>
    <p:cSldViewPr snapToGrid="0">
      <p:cViewPr>
        <p:scale>
          <a:sx n="108" d="100"/>
          <a:sy n="108" d="100"/>
        </p:scale>
        <p:origin x="688" y="59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EF95162-6873-F647-B392-BF6A1F606277}" type="datetimeFigureOut">
              <a:rPr lang="it-IT" smtClean="0"/>
              <a:t>15/06/26</a:t>
            </a:fld>
            <a:endParaRPr lang="it-IT"/>
          </a:p>
        </p:txBody>
      </p:sp>
      <p:sp>
        <p:nvSpPr>
          <p:cNvPr id="4" name="Segnaposto immagin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0FDF8BA-B6A2-CC4D-B552-37BF044E1040}" type="slidenum">
              <a:rPr lang="it-IT" smtClean="0"/>
              <a:t>‹N›</a:t>
            </a:fld>
            <a:endParaRPr lang="it-IT"/>
          </a:p>
        </p:txBody>
      </p:sp>
    </p:spTree>
    <p:extLst>
      <p:ext uri="{BB962C8B-B14F-4D97-AF65-F5344CB8AC3E}">
        <p14:creationId xmlns:p14="http://schemas.microsoft.com/office/powerpoint/2010/main" val="1146860054"/>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t-IT"/>
          </a:p>
        </p:txBody>
      </p:sp>
      <p:sp>
        <p:nvSpPr>
          <p:cNvPr id="4" name="Slide Number Placeholder 3"/>
          <p:cNvSpPr>
            <a:spLocks noGrp="1"/>
          </p:cNvSpPr>
          <p:nvPr>
            <p:ph type="sldNum" sz="quarter" idx="5"/>
          </p:nvPr>
        </p:nvSpPr>
        <p:spPr/>
        <p:txBody>
          <a:bodyPr/>
          <a:lstStyle/>
          <a:p>
            <a:fld id="{60FDF8BA-B6A2-CC4D-B552-37BF044E1040}" type="slidenum">
              <a:rPr lang="it-IT" smtClean="0"/>
              <a:t>3</a:t>
            </a:fld>
            <a:endParaRPr lang="it-IT"/>
          </a:p>
        </p:txBody>
      </p:sp>
    </p:spTree>
    <p:extLst>
      <p:ext uri="{BB962C8B-B14F-4D97-AF65-F5344CB8AC3E}">
        <p14:creationId xmlns:p14="http://schemas.microsoft.com/office/powerpoint/2010/main" val="29616846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5"/>
          </p:nvPr>
        </p:nvSpPr>
        <p:spPr/>
        <p:txBody>
          <a:bodyPr/>
          <a:lstStyle/>
          <a:p>
            <a:fld id="{60FDF8BA-B6A2-CC4D-B552-37BF044E1040}" type="slidenum">
              <a:rPr lang="it-IT" smtClean="0"/>
              <a:t>9</a:t>
            </a:fld>
            <a:endParaRPr lang="it-IT"/>
          </a:p>
        </p:txBody>
      </p:sp>
    </p:spTree>
    <p:extLst>
      <p:ext uri="{BB962C8B-B14F-4D97-AF65-F5344CB8AC3E}">
        <p14:creationId xmlns:p14="http://schemas.microsoft.com/office/powerpoint/2010/main" val="1194378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46160-20E1-861B-D252-188BFA5D0370}"/>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7108D7D9-53D9-E52C-615A-DA4E4014FF0D}"/>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9A12BC3A-10F5-0AAB-A6B1-994AE2692AFF}"/>
              </a:ext>
            </a:extLst>
          </p:cNvPr>
          <p:cNvSpPr>
            <a:spLocks noGrp="1"/>
          </p:cNvSpPr>
          <p:nvPr>
            <p:ph type="body" idx="1"/>
          </p:nvPr>
        </p:nvSpPr>
        <p:spPr/>
        <p:txBody>
          <a:bodyPr/>
          <a:lstStyle/>
          <a:p>
            <a:r>
              <a:rPr lang="en-US"/>
              <a:t>Provide info regarding the final dataset stored in the </a:t>
            </a:r>
            <a:r>
              <a:rPr lang="en-US" err="1"/>
              <a:t>DBs.</a:t>
            </a:r>
            <a:endParaRPr lang="en-US"/>
          </a:p>
          <a:p>
            <a:r>
              <a:rPr lang="en-US"/>
              <a:t>Use max 2 slides for the description of the dataset</a:t>
            </a:r>
          </a:p>
          <a:p>
            <a:endParaRPr lang="it-IT"/>
          </a:p>
        </p:txBody>
      </p:sp>
      <p:sp>
        <p:nvSpPr>
          <p:cNvPr id="4" name="Segnaposto numero diapositiva 3">
            <a:extLst>
              <a:ext uri="{FF2B5EF4-FFF2-40B4-BE49-F238E27FC236}">
                <a16:creationId xmlns:a16="http://schemas.microsoft.com/office/drawing/2014/main" id="{A1AAFA5F-BB4E-652D-6B3B-2FF424BC7791}"/>
              </a:ext>
            </a:extLst>
          </p:cNvPr>
          <p:cNvSpPr>
            <a:spLocks noGrp="1"/>
          </p:cNvSpPr>
          <p:nvPr>
            <p:ph type="sldNum" sz="quarter" idx="5"/>
          </p:nvPr>
        </p:nvSpPr>
        <p:spPr/>
        <p:txBody>
          <a:bodyPr/>
          <a:lstStyle/>
          <a:p>
            <a:fld id="{60FDF8BA-B6A2-CC4D-B552-37BF044E1040}" type="slidenum">
              <a:rPr lang="it-IT" smtClean="0"/>
              <a:t>16</a:t>
            </a:fld>
            <a:endParaRPr lang="it-IT"/>
          </a:p>
        </p:txBody>
      </p:sp>
    </p:spTree>
    <p:extLst>
      <p:ext uri="{BB962C8B-B14F-4D97-AF65-F5344CB8AC3E}">
        <p14:creationId xmlns:p14="http://schemas.microsoft.com/office/powerpoint/2010/main" val="4073548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it-IT"/>
              <a:t>L’ho riassunto molto </a:t>
            </a:r>
          </a:p>
        </p:txBody>
      </p:sp>
      <p:sp>
        <p:nvSpPr>
          <p:cNvPr id="4" name="Segnaposto numero diapositiva 3"/>
          <p:cNvSpPr>
            <a:spLocks noGrp="1"/>
          </p:cNvSpPr>
          <p:nvPr>
            <p:ph type="sldNum" sz="quarter" idx="5"/>
          </p:nvPr>
        </p:nvSpPr>
        <p:spPr/>
        <p:txBody>
          <a:bodyPr/>
          <a:lstStyle/>
          <a:p>
            <a:fld id="{60FDF8BA-B6A2-CC4D-B552-37BF044E1040}" type="slidenum">
              <a:rPr lang="it-IT" smtClean="0"/>
              <a:t>17</a:t>
            </a:fld>
            <a:endParaRPr lang="it-IT"/>
          </a:p>
        </p:txBody>
      </p:sp>
    </p:spTree>
    <p:extLst>
      <p:ext uri="{BB962C8B-B14F-4D97-AF65-F5344CB8AC3E}">
        <p14:creationId xmlns:p14="http://schemas.microsoft.com/office/powerpoint/2010/main" val="37615904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it-IT"/>
              <a:t>Commento del duca: </a:t>
            </a:r>
            <a:r>
              <a:rPr lang="en-US" b="1" i="1"/>
              <a:t>In the rest of the presentation show how each non-functional requirement is supported by database choices (Which databases has been chosen? How the CAP theorem issues have been handled in the application? How inter-DB and intra-DB consistency has been handled? Etc.) </a:t>
            </a:r>
          </a:p>
          <a:p>
            <a:endParaRPr lang="it-IT"/>
          </a:p>
        </p:txBody>
      </p:sp>
      <p:sp>
        <p:nvSpPr>
          <p:cNvPr id="4" name="Segnaposto numero diapositiva 3"/>
          <p:cNvSpPr>
            <a:spLocks noGrp="1"/>
          </p:cNvSpPr>
          <p:nvPr>
            <p:ph type="sldNum" sz="quarter" idx="5"/>
          </p:nvPr>
        </p:nvSpPr>
        <p:spPr/>
        <p:txBody>
          <a:bodyPr/>
          <a:lstStyle/>
          <a:p>
            <a:fld id="{60FDF8BA-B6A2-CC4D-B552-37BF044E1040}" type="slidenum">
              <a:rPr lang="it-IT" smtClean="0"/>
              <a:t>19</a:t>
            </a:fld>
            <a:endParaRPr lang="it-IT"/>
          </a:p>
        </p:txBody>
      </p:sp>
    </p:spTree>
    <p:extLst>
      <p:ext uri="{BB962C8B-B14F-4D97-AF65-F5344CB8AC3E}">
        <p14:creationId xmlns:p14="http://schemas.microsoft.com/office/powerpoint/2010/main" val="1282662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en-US" i="1"/>
              <a:t>Show the document DB data model (</a:t>
            </a:r>
            <a:r>
              <a:rPr lang="en-US" i="1" err="1"/>
              <a:t>json</a:t>
            </a:r>
            <a:r>
              <a:rPr lang="en-US" i="1"/>
              <a:t> document structure of each collection) and justify choices.</a:t>
            </a:r>
          </a:p>
          <a:p>
            <a:endParaRPr lang="en-US" i="1"/>
          </a:p>
          <a:p>
            <a:r>
              <a:rPr lang="en-US" i="1"/>
              <a:t>Show the implemented aggregation (in </a:t>
            </a:r>
            <a:r>
              <a:rPr lang="en-US" i="1" err="1"/>
              <a:t>javascript</a:t>
            </a:r>
            <a:r>
              <a:rPr lang="en-US" i="1"/>
              <a:t> format) highlighting the queries which benefits from the proposed DB design.</a:t>
            </a:r>
          </a:p>
          <a:p>
            <a:endParaRPr lang="en-US" i="1"/>
          </a:p>
          <a:p>
            <a:r>
              <a:rPr lang="en-US" i="1"/>
              <a:t>If needed, make also reference to the Mock-ups (for the view supported by the designed collections)</a:t>
            </a:r>
          </a:p>
          <a:p>
            <a:endParaRPr lang="it-IT"/>
          </a:p>
          <a:p>
            <a:r>
              <a:rPr lang="it-IT"/>
              <a:t>Max 3 slides</a:t>
            </a:r>
          </a:p>
        </p:txBody>
      </p:sp>
      <p:sp>
        <p:nvSpPr>
          <p:cNvPr id="4" name="Segnaposto numero diapositiva 3"/>
          <p:cNvSpPr>
            <a:spLocks noGrp="1"/>
          </p:cNvSpPr>
          <p:nvPr>
            <p:ph type="sldNum" sz="quarter" idx="5"/>
          </p:nvPr>
        </p:nvSpPr>
        <p:spPr/>
        <p:txBody>
          <a:bodyPr/>
          <a:lstStyle/>
          <a:p>
            <a:fld id="{60FDF8BA-B6A2-CC4D-B552-37BF044E1040}" type="slidenum">
              <a:rPr lang="it-IT" smtClean="0"/>
              <a:t>20</a:t>
            </a:fld>
            <a:endParaRPr lang="it-IT"/>
          </a:p>
        </p:txBody>
      </p:sp>
    </p:spTree>
    <p:extLst>
      <p:ext uri="{BB962C8B-B14F-4D97-AF65-F5344CB8AC3E}">
        <p14:creationId xmlns:p14="http://schemas.microsoft.com/office/powerpoint/2010/main" val="34457538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BC448-F7F8-5C8E-1B3A-17A8894D0FD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BF0CA2A2-CF00-D720-D1B6-ABA87596EE15}"/>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156D0D13-1F95-575F-6EF8-76517881C27C}"/>
              </a:ext>
            </a:extLst>
          </p:cNvPr>
          <p:cNvSpPr>
            <a:spLocks noGrp="1"/>
          </p:cNvSpPr>
          <p:nvPr>
            <p:ph type="body" idx="1"/>
          </p:nvPr>
        </p:nvSpPr>
        <p:spPr/>
        <p:txBody>
          <a:bodyPr/>
          <a:lstStyle/>
          <a:p>
            <a:r>
              <a:rPr lang="it-IT"/>
              <a:t>Da modificare con i cambiamenti ultimi da fare </a:t>
            </a:r>
          </a:p>
        </p:txBody>
      </p:sp>
      <p:sp>
        <p:nvSpPr>
          <p:cNvPr id="4" name="Segnaposto numero diapositiva 3">
            <a:extLst>
              <a:ext uri="{FF2B5EF4-FFF2-40B4-BE49-F238E27FC236}">
                <a16:creationId xmlns:a16="http://schemas.microsoft.com/office/drawing/2014/main" id="{8FC801D5-6CC7-D21A-8FB9-BC536E5D86C5}"/>
              </a:ext>
            </a:extLst>
          </p:cNvPr>
          <p:cNvSpPr>
            <a:spLocks noGrp="1"/>
          </p:cNvSpPr>
          <p:nvPr>
            <p:ph type="sldNum" sz="quarter" idx="5"/>
          </p:nvPr>
        </p:nvSpPr>
        <p:spPr/>
        <p:txBody>
          <a:bodyPr/>
          <a:lstStyle/>
          <a:p>
            <a:fld id="{60FDF8BA-B6A2-CC4D-B552-37BF044E1040}" type="slidenum">
              <a:rPr lang="it-IT" smtClean="0"/>
              <a:t>21</a:t>
            </a:fld>
            <a:endParaRPr lang="it-IT"/>
          </a:p>
        </p:txBody>
      </p:sp>
    </p:spTree>
    <p:extLst>
      <p:ext uri="{BB962C8B-B14F-4D97-AF65-F5344CB8AC3E}">
        <p14:creationId xmlns:p14="http://schemas.microsoft.com/office/powerpoint/2010/main" val="1619292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9CF3B-D2B6-68D0-A6A5-C66D99C1F55C}"/>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016ADC3B-8F8B-A4C3-2808-D480A630EA24}"/>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11BD597E-047B-2419-0FAF-5669240668E8}"/>
              </a:ext>
            </a:extLst>
          </p:cNvPr>
          <p:cNvSpPr>
            <a:spLocks noGrp="1"/>
          </p:cNvSpPr>
          <p:nvPr>
            <p:ph type="body" idx="1"/>
          </p:nvPr>
        </p:nvSpPr>
        <p:spPr/>
        <p:txBody>
          <a:bodyPr/>
          <a:lstStyle/>
          <a:p>
            <a:r>
              <a:rPr lang="it-IT"/>
              <a:t>Da modificare con i cambiamenti ultimi da fare </a:t>
            </a:r>
          </a:p>
        </p:txBody>
      </p:sp>
      <p:sp>
        <p:nvSpPr>
          <p:cNvPr id="4" name="Segnaposto numero diapositiva 3">
            <a:extLst>
              <a:ext uri="{FF2B5EF4-FFF2-40B4-BE49-F238E27FC236}">
                <a16:creationId xmlns:a16="http://schemas.microsoft.com/office/drawing/2014/main" id="{F2AA245C-6709-883C-DDC4-1A802270A8F0}"/>
              </a:ext>
            </a:extLst>
          </p:cNvPr>
          <p:cNvSpPr>
            <a:spLocks noGrp="1"/>
          </p:cNvSpPr>
          <p:nvPr>
            <p:ph type="sldNum" sz="quarter" idx="5"/>
          </p:nvPr>
        </p:nvSpPr>
        <p:spPr/>
        <p:txBody>
          <a:bodyPr/>
          <a:lstStyle/>
          <a:p>
            <a:fld id="{60FDF8BA-B6A2-CC4D-B552-37BF044E1040}" type="slidenum">
              <a:rPr lang="it-IT" smtClean="0"/>
              <a:t>22</a:t>
            </a:fld>
            <a:endParaRPr lang="it-IT"/>
          </a:p>
        </p:txBody>
      </p:sp>
    </p:spTree>
    <p:extLst>
      <p:ext uri="{BB962C8B-B14F-4D97-AF65-F5344CB8AC3E}">
        <p14:creationId xmlns:p14="http://schemas.microsoft.com/office/powerpoint/2010/main" val="7067262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1B219-FF98-A82A-24FA-AC95CBFDC787}"/>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1F445D23-EB8E-52E4-484A-BAF7A7F9B770}"/>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37AC89E1-DE8F-CB90-1246-E3757AC9C5E4}"/>
              </a:ext>
            </a:extLst>
          </p:cNvPr>
          <p:cNvSpPr>
            <a:spLocks noGrp="1"/>
          </p:cNvSpPr>
          <p:nvPr>
            <p:ph type="body" idx="1"/>
          </p:nvPr>
        </p:nvSpPr>
        <p:spPr/>
        <p:txBody>
          <a:bodyPr/>
          <a:lstStyle/>
          <a:p>
            <a:r>
              <a:rPr lang="it-IT"/>
              <a:t>Da modificare con i cambiamenti ultimi da fare </a:t>
            </a:r>
          </a:p>
        </p:txBody>
      </p:sp>
      <p:sp>
        <p:nvSpPr>
          <p:cNvPr id="4" name="Segnaposto numero diapositiva 3">
            <a:extLst>
              <a:ext uri="{FF2B5EF4-FFF2-40B4-BE49-F238E27FC236}">
                <a16:creationId xmlns:a16="http://schemas.microsoft.com/office/drawing/2014/main" id="{F2DE0BEC-5662-F7CD-5C96-BBE3B69DC142}"/>
              </a:ext>
            </a:extLst>
          </p:cNvPr>
          <p:cNvSpPr>
            <a:spLocks noGrp="1"/>
          </p:cNvSpPr>
          <p:nvPr>
            <p:ph type="sldNum" sz="quarter" idx="5"/>
          </p:nvPr>
        </p:nvSpPr>
        <p:spPr/>
        <p:txBody>
          <a:bodyPr/>
          <a:lstStyle/>
          <a:p>
            <a:fld id="{60FDF8BA-B6A2-CC4D-B552-37BF044E1040}" type="slidenum">
              <a:rPr lang="it-IT" smtClean="0"/>
              <a:t>23</a:t>
            </a:fld>
            <a:endParaRPr lang="it-IT"/>
          </a:p>
        </p:txBody>
      </p:sp>
    </p:spTree>
    <p:extLst>
      <p:ext uri="{BB962C8B-B14F-4D97-AF65-F5344CB8AC3E}">
        <p14:creationId xmlns:p14="http://schemas.microsoft.com/office/powerpoint/2010/main" val="30699648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02FE0-9DC8-7F24-1907-C65A677AF501}"/>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B59B94E6-7353-A944-0F28-D75145BCFE56}"/>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4CBCD02A-2EC7-9487-29D6-E0A81FD6B0E6}"/>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91D961A6-7D4D-7C36-4F68-353D8A400812}"/>
              </a:ext>
            </a:extLst>
          </p:cNvPr>
          <p:cNvSpPr>
            <a:spLocks noGrp="1"/>
          </p:cNvSpPr>
          <p:nvPr>
            <p:ph type="sldNum" sz="quarter" idx="5"/>
          </p:nvPr>
        </p:nvSpPr>
        <p:spPr/>
        <p:txBody>
          <a:bodyPr/>
          <a:lstStyle/>
          <a:p>
            <a:fld id="{60FDF8BA-B6A2-CC4D-B552-37BF044E1040}" type="slidenum">
              <a:rPr lang="it-IT" smtClean="0"/>
              <a:t>24</a:t>
            </a:fld>
            <a:endParaRPr lang="it-IT"/>
          </a:p>
        </p:txBody>
      </p:sp>
    </p:spTree>
    <p:extLst>
      <p:ext uri="{BB962C8B-B14F-4D97-AF65-F5344CB8AC3E}">
        <p14:creationId xmlns:p14="http://schemas.microsoft.com/office/powerpoint/2010/main" val="13018789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C20F7-0D36-6031-7929-C61A1D0190B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BD6F4AE3-7E64-D0D4-2881-8FDD0A4F800A}"/>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830BC27F-8135-19A2-255C-E4312DFCEF6A}"/>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11AD4FED-3863-8074-5CB7-DF4FE1F4ECFE}"/>
              </a:ext>
            </a:extLst>
          </p:cNvPr>
          <p:cNvSpPr>
            <a:spLocks noGrp="1"/>
          </p:cNvSpPr>
          <p:nvPr>
            <p:ph type="sldNum" sz="quarter" idx="5"/>
          </p:nvPr>
        </p:nvSpPr>
        <p:spPr/>
        <p:txBody>
          <a:bodyPr/>
          <a:lstStyle/>
          <a:p>
            <a:fld id="{60FDF8BA-B6A2-CC4D-B552-37BF044E1040}" type="slidenum">
              <a:rPr lang="it-IT" smtClean="0"/>
              <a:t>25</a:t>
            </a:fld>
            <a:endParaRPr lang="it-IT"/>
          </a:p>
        </p:txBody>
      </p:sp>
    </p:spTree>
    <p:extLst>
      <p:ext uri="{BB962C8B-B14F-4D97-AF65-F5344CB8AC3E}">
        <p14:creationId xmlns:p14="http://schemas.microsoft.com/office/powerpoint/2010/main" val="11077642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92BAA-636F-E91A-770B-BE23025603C4}"/>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24FE006E-9F59-8FEC-37D4-683E4CAC611B}"/>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4BAB0830-4184-E2E0-ED93-FA7B6F0AE805}"/>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D32B91C4-98AD-6DBE-FB12-A8C1EF1CE7C8}"/>
              </a:ext>
            </a:extLst>
          </p:cNvPr>
          <p:cNvSpPr>
            <a:spLocks noGrp="1"/>
          </p:cNvSpPr>
          <p:nvPr>
            <p:ph type="sldNum" sz="quarter" idx="5"/>
          </p:nvPr>
        </p:nvSpPr>
        <p:spPr/>
        <p:txBody>
          <a:bodyPr/>
          <a:lstStyle/>
          <a:p>
            <a:fld id="{60FDF8BA-B6A2-CC4D-B552-37BF044E1040}" type="slidenum">
              <a:rPr lang="it-IT" smtClean="0"/>
              <a:t>26</a:t>
            </a:fld>
            <a:endParaRPr lang="it-IT"/>
          </a:p>
        </p:txBody>
      </p:sp>
    </p:spTree>
    <p:extLst>
      <p:ext uri="{BB962C8B-B14F-4D97-AF65-F5344CB8AC3E}">
        <p14:creationId xmlns:p14="http://schemas.microsoft.com/office/powerpoint/2010/main" val="42889217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97D8B-D55F-5E95-6CEC-32CEF210A465}"/>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B2896A6-B1EA-C5D9-9E9E-F49B76451CFF}"/>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A4F8E06B-93A8-BD9A-3E36-C659DD15737F}"/>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9B68EC29-AFBB-E56D-16E4-1CC67F79B214}"/>
              </a:ext>
            </a:extLst>
          </p:cNvPr>
          <p:cNvSpPr>
            <a:spLocks noGrp="1"/>
          </p:cNvSpPr>
          <p:nvPr>
            <p:ph type="sldNum" sz="quarter" idx="5"/>
          </p:nvPr>
        </p:nvSpPr>
        <p:spPr/>
        <p:txBody>
          <a:bodyPr/>
          <a:lstStyle/>
          <a:p>
            <a:fld id="{60FDF8BA-B6A2-CC4D-B552-37BF044E1040}" type="slidenum">
              <a:rPr lang="it-IT" smtClean="0"/>
              <a:t>27</a:t>
            </a:fld>
            <a:endParaRPr lang="it-IT"/>
          </a:p>
        </p:txBody>
      </p:sp>
    </p:spTree>
    <p:extLst>
      <p:ext uri="{BB962C8B-B14F-4D97-AF65-F5344CB8AC3E}">
        <p14:creationId xmlns:p14="http://schemas.microsoft.com/office/powerpoint/2010/main" val="13105243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B2DD1-2E09-2957-C818-699FDD11A1E1}"/>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C6EFDE31-A826-4E1B-ADE5-ACF6F8C33A85}"/>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DFFB6897-B382-FF77-F3AC-D2094DAE1850}"/>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C69B2D80-9687-69BB-7C76-95B5753FCE3E}"/>
              </a:ext>
            </a:extLst>
          </p:cNvPr>
          <p:cNvSpPr>
            <a:spLocks noGrp="1"/>
          </p:cNvSpPr>
          <p:nvPr>
            <p:ph type="sldNum" sz="quarter" idx="5"/>
          </p:nvPr>
        </p:nvSpPr>
        <p:spPr/>
        <p:txBody>
          <a:bodyPr/>
          <a:lstStyle/>
          <a:p>
            <a:fld id="{60FDF8BA-B6A2-CC4D-B552-37BF044E1040}" type="slidenum">
              <a:rPr lang="it-IT" smtClean="0"/>
              <a:t>28</a:t>
            </a:fld>
            <a:endParaRPr lang="it-IT"/>
          </a:p>
        </p:txBody>
      </p:sp>
    </p:spTree>
    <p:extLst>
      <p:ext uri="{BB962C8B-B14F-4D97-AF65-F5344CB8AC3E}">
        <p14:creationId xmlns:p14="http://schemas.microsoft.com/office/powerpoint/2010/main" val="22830185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en-US" i="1"/>
              <a:t>Show the configuration of the MongoDB Replica Set. </a:t>
            </a:r>
          </a:p>
          <a:p>
            <a:endParaRPr lang="en-US" i="1"/>
          </a:p>
          <a:p>
            <a:r>
              <a:rPr lang="en-US" i="1"/>
              <a:t>Show how Write Concern and Read Preference have been configured and justify this configuration highlighting how they support non-functional requirements.</a:t>
            </a:r>
          </a:p>
          <a:p>
            <a:endParaRPr lang="it-IT"/>
          </a:p>
        </p:txBody>
      </p:sp>
      <p:sp>
        <p:nvSpPr>
          <p:cNvPr id="4" name="Segnaposto numero diapositiva 3"/>
          <p:cNvSpPr>
            <a:spLocks noGrp="1"/>
          </p:cNvSpPr>
          <p:nvPr>
            <p:ph type="sldNum" sz="quarter" idx="5"/>
          </p:nvPr>
        </p:nvSpPr>
        <p:spPr/>
        <p:txBody>
          <a:bodyPr/>
          <a:lstStyle/>
          <a:p>
            <a:fld id="{60FDF8BA-B6A2-CC4D-B552-37BF044E1040}" type="slidenum">
              <a:rPr lang="it-IT" smtClean="0"/>
              <a:t>29</a:t>
            </a:fld>
            <a:endParaRPr lang="it-IT"/>
          </a:p>
        </p:txBody>
      </p:sp>
    </p:spTree>
    <p:extLst>
      <p:ext uri="{BB962C8B-B14F-4D97-AF65-F5344CB8AC3E}">
        <p14:creationId xmlns:p14="http://schemas.microsoft.com/office/powerpoint/2010/main" val="2332461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E1756-86B5-A32B-E099-7058399CFAE9}"/>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481CDF6F-0D4B-B76E-92F7-85D947683649}"/>
              </a:ext>
            </a:extLst>
          </p:cNvPr>
          <p:cNvSpPr>
            <a:spLocks noGrp="1" noRot="1" noChangeAspect="1"/>
          </p:cNvSpPr>
          <p:nvPr>
            <p:ph type="sldImg"/>
          </p:nvPr>
        </p:nvSpPr>
        <p:spPr/>
        <p:txBody>
          <a:bodyPr/>
          <a:lstStyle/>
          <a:p>
            <a:endParaRPr lang="en-GB"/>
          </a:p>
        </p:txBody>
      </p:sp>
      <p:sp>
        <p:nvSpPr>
          <p:cNvPr id="3" name="Segnaposto note 2">
            <a:extLst>
              <a:ext uri="{FF2B5EF4-FFF2-40B4-BE49-F238E27FC236}">
                <a16:creationId xmlns:a16="http://schemas.microsoft.com/office/drawing/2014/main" id="{3D0E0F7F-A10F-B3AA-907F-AC5C44AC98F6}"/>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i="1"/>
              <a:t>Show indexes defined. Justify their usage and validate them experimentally (show query performance with and w/o the indexes). </a:t>
            </a:r>
          </a:p>
          <a:p>
            <a:endParaRPr lang="it-IT"/>
          </a:p>
        </p:txBody>
      </p:sp>
      <p:sp>
        <p:nvSpPr>
          <p:cNvPr id="4" name="Segnaposto numero diapositiva 3">
            <a:extLst>
              <a:ext uri="{FF2B5EF4-FFF2-40B4-BE49-F238E27FC236}">
                <a16:creationId xmlns:a16="http://schemas.microsoft.com/office/drawing/2014/main" id="{7908C2DB-E252-DFBC-CCBB-F4D714E0A9B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FDF8BA-B6A2-CC4D-B552-37BF044E1040}" type="slidenum">
              <a:rPr kumimoji="0" lang="it-IT"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it-IT"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87025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i="1"/>
              <a:t>Show indexes defined. Justify their usage and validate them experimentally (show query performance with and w/o the indexes). </a:t>
            </a:r>
          </a:p>
          <a:p>
            <a:endParaRPr lang="it-IT"/>
          </a:p>
        </p:txBody>
      </p:sp>
      <p:sp>
        <p:nvSpPr>
          <p:cNvPr id="4" name="Segnaposto numero diapositiva 3"/>
          <p:cNvSpPr>
            <a:spLocks noGrp="1"/>
          </p:cNvSpPr>
          <p:nvPr>
            <p:ph type="sldNum" sz="quarter" idx="5"/>
          </p:nvPr>
        </p:nvSpPr>
        <p:spPr/>
        <p:txBody>
          <a:bodyPr/>
          <a:lstStyle/>
          <a:p>
            <a:fld id="{60FDF8BA-B6A2-CC4D-B552-37BF044E1040}" type="slidenum">
              <a:rPr lang="it-IT" smtClean="0"/>
              <a:t>31</a:t>
            </a:fld>
            <a:endParaRPr lang="it-IT"/>
          </a:p>
        </p:txBody>
      </p:sp>
    </p:spTree>
    <p:extLst>
      <p:ext uri="{BB962C8B-B14F-4D97-AF65-F5344CB8AC3E}">
        <p14:creationId xmlns:p14="http://schemas.microsoft.com/office/powerpoint/2010/main" val="16555624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i="1"/>
              <a:t>Argue about possible data sharding strategies highlighting why these strategies could bring benefits </a:t>
            </a:r>
            <a:r>
              <a:rPr lang="en-US" i="1" err="1"/>
              <a:t>w.r.t.</a:t>
            </a:r>
            <a:r>
              <a:rPr lang="en-US" i="1"/>
              <a:t> application functional and non-functional requirements.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i="1"/>
              <a:t>Da </a:t>
            </a:r>
            <a:r>
              <a:rPr lang="en-US" i="1" err="1"/>
              <a:t>aggiustare</a:t>
            </a:r>
            <a:r>
              <a:rPr lang="en-US" i="1"/>
              <a:t> </a:t>
            </a:r>
          </a:p>
          <a:p>
            <a:endParaRPr lang="it-IT"/>
          </a:p>
        </p:txBody>
      </p:sp>
      <p:sp>
        <p:nvSpPr>
          <p:cNvPr id="4" name="Segnaposto numero diapositiva 3"/>
          <p:cNvSpPr>
            <a:spLocks noGrp="1"/>
          </p:cNvSpPr>
          <p:nvPr>
            <p:ph type="sldNum" sz="quarter" idx="5"/>
          </p:nvPr>
        </p:nvSpPr>
        <p:spPr/>
        <p:txBody>
          <a:bodyPr/>
          <a:lstStyle/>
          <a:p>
            <a:fld id="{60FDF8BA-B6A2-CC4D-B552-37BF044E1040}" type="slidenum">
              <a:rPr lang="it-IT" smtClean="0"/>
              <a:t>32</a:t>
            </a:fld>
            <a:endParaRPr lang="it-IT"/>
          </a:p>
        </p:txBody>
      </p:sp>
    </p:spTree>
    <p:extLst>
      <p:ext uri="{BB962C8B-B14F-4D97-AF65-F5344CB8AC3E}">
        <p14:creationId xmlns:p14="http://schemas.microsoft.com/office/powerpoint/2010/main" val="28765778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i="1"/>
              <a:t>Show the Redis data model (which names have been chosen for keys? Which values are stored within keys?) and justify choices.</a:t>
            </a:r>
          </a:p>
          <a:p>
            <a:r>
              <a:rPr lang="en-US" i="1"/>
              <a:t>Show the implemented queries highlighting how the system benefits from the proposed DB design.</a:t>
            </a:r>
          </a:p>
          <a:p>
            <a:endParaRPr lang="en-US" i="1"/>
          </a:p>
          <a:p>
            <a:r>
              <a:rPr lang="en-US" i="1"/>
              <a:t>If needed, make also reference to the Mock-ups (for the view supported by the designed key)</a:t>
            </a:r>
          </a:p>
          <a:p>
            <a:endParaRPr lang="it-IT"/>
          </a:p>
        </p:txBody>
      </p:sp>
      <p:sp>
        <p:nvSpPr>
          <p:cNvPr id="4" name="Segnaposto numero diapositiva 3"/>
          <p:cNvSpPr>
            <a:spLocks noGrp="1"/>
          </p:cNvSpPr>
          <p:nvPr>
            <p:ph type="sldNum" sz="quarter" idx="5"/>
          </p:nvPr>
        </p:nvSpPr>
        <p:spPr/>
        <p:txBody>
          <a:bodyPr/>
          <a:lstStyle/>
          <a:p>
            <a:fld id="{60FDF8BA-B6A2-CC4D-B552-37BF044E1040}" type="slidenum">
              <a:rPr lang="it-IT" smtClean="0"/>
              <a:t>33</a:t>
            </a:fld>
            <a:endParaRPr lang="it-IT"/>
          </a:p>
        </p:txBody>
      </p:sp>
    </p:spTree>
    <p:extLst>
      <p:ext uri="{BB962C8B-B14F-4D97-AF65-F5344CB8AC3E}">
        <p14:creationId xmlns:p14="http://schemas.microsoft.com/office/powerpoint/2010/main" val="27203247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77DFC-4F99-52E4-7779-6EDA94F8C92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37E1355D-763D-1C57-7B11-BFEE9F2F4B36}"/>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E93B1E8A-C84F-91CC-8D9C-CBE94BA5F698}"/>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i="1"/>
              <a:t>Show the Redis data model (which names have been chosen for keys? Which values are stored within keys?) and justify choices.</a:t>
            </a:r>
          </a:p>
          <a:p>
            <a:r>
              <a:rPr lang="en-US" i="1"/>
              <a:t>Show the implemented queries highlighting how the system benefits from the proposed DB design.</a:t>
            </a:r>
          </a:p>
          <a:p>
            <a:endParaRPr lang="en-US" i="1"/>
          </a:p>
          <a:p>
            <a:r>
              <a:rPr lang="en-US" i="1"/>
              <a:t>If needed, make also reference to the Mock-ups (for the view supported by the designed key)</a:t>
            </a:r>
          </a:p>
          <a:p>
            <a:endParaRPr lang="it-IT"/>
          </a:p>
        </p:txBody>
      </p:sp>
      <p:sp>
        <p:nvSpPr>
          <p:cNvPr id="4" name="Segnaposto numero diapositiva 3">
            <a:extLst>
              <a:ext uri="{FF2B5EF4-FFF2-40B4-BE49-F238E27FC236}">
                <a16:creationId xmlns:a16="http://schemas.microsoft.com/office/drawing/2014/main" id="{E1F35687-5F22-C5F9-220B-FA0E219B2491}"/>
              </a:ext>
            </a:extLst>
          </p:cNvPr>
          <p:cNvSpPr>
            <a:spLocks noGrp="1"/>
          </p:cNvSpPr>
          <p:nvPr>
            <p:ph type="sldNum" sz="quarter" idx="5"/>
          </p:nvPr>
        </p:nvSpPr>
        <p:spPr/>
        <p:txBody>
          <a:bodyPr/>
          <a:lstStyle/>
          <a:p>
            <a:fld id="{60FDF8BA-B6A2-CC4D-B552-37BF044E1040}" type="slidenum">
              <a:rPr lang="it-IT" smtClean="0"/>
              <a:t>34</a:t>
            </a:fld>
            <a:endParaRPr lang="it-IT"/>
          </a:p>
        </p:txBody>
      </p:sp>
    </p:spTree>
    <p:extLst>
      <p:ext uri="{BB962C8B-B14F-4D97-AF65-F5344CB8AC3E}">
        <p14:creationId xmlns:p14="http://schemas.microsoft.com/office/powerpoint/2010/main" val="31084147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58038-AF4F-A9E9-9FDF-866F629BBE8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09FA028E-C666-57DC-4B43-74B8915ABCBA}"/>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AC4970F6-EB94-60C0-0FE6-3339E9AF637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i="1"/>
              <a:t>Show the Redis data model (which names have been chosen for keys? Which values are stored within keys?) and justify choices.</a:t>
            </a:r>
          </a:p>
          <a:p>
            <a:r>
              <a:rPr lang="en-US" i="1"/>
              <a:t>Show the implemented queries highlighting how the system benefits from the proposed DB design.</a:t>
            </a:r>
          </a:p>
          <a:p>
            <a:endParaRPr lang="en-US" i="1"/>
          </a:p>
          <a:p>
            <a:r>
              <a:rPr lang="en-US" i="1"/>
              <a:t>If needed, make also reference to the Mock-ups (for the view supported by the designed key)</a:t>
            </a:r>
          </a:p>
          <a:p>
            <a:endParaRPr lang="it-IT"/>
          </a:p>
        </p:txBody>
      </p:sp>
      <p:sp>
        <p:nvSpPr>
          <p:cNvPr id="4" name="Segnaposto numero diapositiva 3">
            <a:extLst>
              <a:ext uri="{FF2B5EF4-FFF2-40B4-BE49-F238E27FC236}">
                <a16:creationId xmlns:a16="http://schemas.microsoft.com/office/drawing/2014/main" id="{68CAFA7D-3C87-46D9-E613-B3CE4364BE58}"/>
              </a:ext>
            </a:extLst>
          </p:cNvPr>
          <p:cNvSpPr>
            <a:spLocks noGrp="1"/>
          </p:cNvSpPr>
          <p:nvPr>
            <p:ph type="sldNum" sz="quarter" idx="5"/>
          </p:nvPr>
        </p:nvSpPr>
        <p:spPr/>
        <p:txBody>
          <a:bodyPr/>
          <a:lstStyle/>
          <a:p>
            <a:fld id="{60FDF8BA-B6A2-CC4D-B552-37BF044E1040}" type="slidenum">
              <a:rPr lang="it-IT" smtClean="0"/>
              <a:t>35</a:t>
            </a:fld>
            <a:endParaRPr lang="it-IT"/>
          </a:p>
        </p:txBody>
      </p:sp>
    </p:spTree>
    <p:extLst>
      <p:ext uri="{BB962C8B-B14F-4D97-AF65-F5344CB8AC3E}">
        <p14:creationId xmlns:p14="http://schemas.microsoft.com/office/powerpoint/2010/main" val="41847374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en-US" i="1"/>
              <a:t>Show the configuration of the Redis DB: did you configure a key eviction policy? Which one and why? How did you handle persistence and why? Did you configure a clustered (sharded/partitioned) DB? Why? </a:t>
            </a:r>
          </a:p>
          <a:p>
            <a:endParaRPr lang="en-US" i="1"/>
          </a:p>
          <a:p>
            <a:r>
              <a:rPr lang="en-US" i="1"/>
              <a:t>Discuss replica configuration. Replicas should be deployed on the same Virtual Machines than the ones of MongoDB (obviously listening on different port numbers)</a:t>
            </a:r>
          </a:p>
          <a:p>
            <a:endParaRPr lang="it-IT"/>
          </a:p>
        </p:txBody>
      </p:sp>
      <p:sp>
        <p:nvSpPr>
          <p:cNvPr id="4" name="Segnaposto numero diapositiva 3"/>
          <p:cNvSpPr>
            <a:spLocks noGrp="1"/>
          </p:cNvSpPr>
          <p:nvPr>
            <p:ph type="sldNum" sz="quarter" idx="5"/>
          </p:nvPr>
        </p:nvSpPr>
        <p:spPr/>
        <p:txBody>
          <a:bodyPr/>
          <a:lstStyle/>
          <a:p>
            <a:fld id="{60FDF8BA-B6A2-CC4D-B552-37BF044E1040}" type="slidenum">
              <a:rPr lang="it-IT" smtClean="0"/>
              <a:t>36</a:t>
            </a:fld>
            <a:endParaRPr lang="it-IT"/>
          </a:p>
        </p:txBody>
      </p:sp>
    </p:spTree>
    <p:extLst>
      <p:ext uri="{BB962C8B-B14F-4D97-AF65-F5344CB8AC3E}">
        <p14:creationId xmlns:p14="http://schemas.microsoft.com/office/powerpoint/2010/main" val="15552199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B9ABE-7CAE-399C-3F2F-17B331FCDA5D}"/>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3F197F72-D1FA-CB6A-217E-57A3E9C18F44}"/>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D0EF3666-103C-F796-BE56-8DA4834EA374}"/>
              </a:ext>
            </a:extLst>
          </p:cNvPr>
          <p:cNvSpPr>
            <a:spLocks noGrp="1"/>
          </p:cNvSpPr>
          <p:nvPr>
            <p:ph type="body" idx="1"/>
          </p:nvPr>
        </p:nvSpPr>
        <p:spPr/>
        <p:txBody>
          <a:bodyPr/>
          <a:lstStyle/>
          <a:p>
            <a:r>
              <a:rPr lang="en-US" i="1"/>
              <a:t>Show the configuration of the Redis DB: did you configure a key eviction policy? Which one and why? How did you handle persistence and why? Did you configure a clustered (sharded/partitioned) DB? Why? </a:t>
            </a:r>
          </a:p>
          <a:p>
            <a:endParaRPr lang="en-US" i="1"/>
          </a:p>
          <a:p>
            <a:r>
              <a:rPr lang="en-US" i="1"/>
              <a:t>Discuss replica configuration. Replicas should be deployed on the same Virtual Machines than the ones of MongoDB (obviously listening on different port numbers)</a:t>
            </a:r>
          </a:p>
          <a:p>
            <a:endParaRPr lang="it-IT"/>
          </a:p>
        </p:txBody>
      </p:sp>
      <p:sp>
        <p:nvSpPr>
          <p:cNvPr id="4" name="Segnaposto numero diapositiva 3">
            <a:extLst>
              <a:ext uri="{FF2B5EF4-FFF2-40B4-BE49-F238E27FC236}">
                <a16:creationId xmlns:a16="http://schemas.microsoft.com/office/drawing/2014/main" id="{D4834EEF-E6AB-6F8D-B108-58FBB8D24EB6}"/>
              </a:ext>
            </a:extLst>
          </p:cNvPr>
          <p:cNvSpPr>
            <a:spLocks noGrp="1"/>
          </p:cNvSpPr>
          <p:nvPr>
            <p:ph type="sldNum" sz="quarter" idx="5"/>
          </p:nvPr>
        </p:nvSpPr>
        <p:spPr/>
        <p:txBody>
          <a:bodyPr/>
          <a:lstStyle/>
          <a:p>
            <a:fld id="{60FDF8BA-B6A2-CC4D-B552-37BF044E1040}" type="slidenum">
              <a:rPr lang="it-IT" smtClean="0"/>
              <a:t>37</a:t>
            </a:fld>
            <a:endParaRPr lang="it-IT"/>
          </a:p>
        </p:txBody>
      </p:sp>
    </p:spTree>
    <p:extLst>
      <p:ext uri="{BB962C8B-B14F-4D97-AF65-F5344CB8AC3E}">
        <p14:creationId xmlns:p14="http://schemas.microsoft.com/office/powerpoint/2010/main" val="21819630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2DE24-9227-4ED3-D305-BD0073910B5D}"/>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BADD62E7-3CC6-AD9D-CA8B-CF08E7D82D98}"/>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5F8411C5-2DF0-674F-2DDF-2A7B0B24DE74}"/>
              </a:ext>
            </a:extLst>
          </p:cNvPr>
          <p:cNvSpPr>
            <a:spLocks noGrp="1"/>
          </p:cNvSpPr>
          <p:nvPr>
            <p:ph type="body" idx="1"/>
          </p:nvPr>
        </p:nvSpPr>
        <p:spPr/>
        <p:txBody>
          <a:bodyPr/>
          <a:lstStyle/>
          <a:p>
            <a:r>
              <a:rPr lang="en-US" i="1"/>
              <a:t>Show the configuration of the Redis DB: did you configure a key eviction policy? Which one and why? How did you handle persistence and why? Did you configure a clustered (sharded/partitioned) DB? Why? </a:t>
            </a:r>
          </a:p>
          <a:p>
            <a:endParaRPr lang="en-US" i="1"/>
          </a:p>
          <a:p>
            <a:r>
              <a:rPr lang="en-US" i="1"/>
              <a:t>Discuss replica configuration. Replicas should be deployed on the same Virtual Machines than the ones of MongoDB (obviously listening on different port numbers)</a:t>
            </a:r>
          </a:p>
          <a:p>
            <a:endParaRPr lang="it-IT"/>
          </a:p>
        </p:txBody>
      </p:sp>
      <p:sp>
        <p:nvSpPr>
          <p:cNvPr id="4" name="Segnaposto numero diapositiva 3">
            <a:extLst>
              <a:ext uri="{FF2B5EF4-FFF2-40B4-BE49-F238E27FC236}">
                <a16:creationId xmlns:a16="http://schemas.microsoft.com/office/drawing/2014/main" id="{7216E3BA-6C13-72B2-6337-BF47A055EA03}"/>
              </a:ext>
            </a:extLst>
          </p:cNvPr>
          <p:cNvSpPr>
            <a:spLocks noGrp="1"/>
          </p:cNvSpPr>
          <p:nvPr>
            <p:ph type="sldNum" sz="quarter" idx="5"/>
          </p:nvPr>
        </p:nvSpPr>
        <p:spPr/>
        <p:txBody>
          <a:bodyPr/>
          <a:lstStyle/>
          <a:p>
            <a:fld id="{60FDF8BA-B6A2-CC4D-B552-37BF044E1040}" type="slidenum">
              <a:rPr lang="it-IT" smtClean="0"/>
              <a:t>38</a:t>
            </a:fld>
            <a:endParaRPr lang="it-IT"/>
          </a:p>
        </p:txBody>
      </p:sp>
    </p:spTree>
    <p:extLst>
      <p:ext uri="{BB962C8B-B14F-4D97-AF65-F5344CB8AC3E}">
        <p14:creationId xmlns:p14="http://schemas.microsoft.com/office/powerpoint/2010/main" val="33669215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en-US" i="1"/>
              <a:t>Show the most important implemented ”graph-based” queries (suggestions and analytics) highlighting how the system benefits from the proposed DB design. Use Cypher Language</a:t>
            </a:r>
          </a:p>
          <a:p>
            <a:endParaRPr lang="en-US" i="1"/>
          </a:p>
          <a:p>
            <a:pPr marL="0" marR="0" lvl="0" indent="0" algn="l" defTabSz="457200" rtl="0" eaLnBrk="1" fontAlgn="auto" latinLnBrk="0" hangingPunct="1">
              <a:lnSpc>
                <a:spcPct val="100000"/>
              </a:lnSpc>
              <a:spcBef>
                <a:spcPts val="0"/>
              </a:spcBef>
              <a:spcAft>
                <a:spcPts val="0"/>
              </a:spcAft>
              <a:buClrTx/>
              <a:buSzTx/>
              <a:buFontTx/>
              <a:buNone/>
              <a:tabLst/>
              <a:defRPr/>
            </a:pPr>
            <a:r>
              <a:rPr lang="en-US" i="1"/>
              <a:t>Show the Neo4j data model (show the graph structure in terms of nodes, edges and properties) and justify choices.</a:t>
            </a:r>
          </a:p>
          <a:p>
            <a:endParaRPr lang="en-US" i="1"/>
          </a:p>
          <a:p>
            <a:r>
              <a:rPr lang="en-US" i="1"/>
              <a:t>If needed, make also reference to the Mock-ups (for the view supported by the designed key)</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t>Use max 3 slides</a:t>
            </a:r>
          </a:p>
          <a:p>
            <a:endParaRPr lang="it-IT"/>
          </a:p>
        </p:txBody>
      </p:sp>
      <p:sp>
        <p:nvSpPr>
          <p:cNvPr id="4" name="Segnaposto numero diapositiva 3"/>
          <p:cNvSpPr>
            <a:spLocks noGrp="1"/>
          </p:cNvSpPr>
          <p:nvPr>
            <p:ph type="sldNum" sz="quarter" idx="5"/>
          </p:nvPr>
        </p:nvSpPr>
        <p:spPr/>
        <p:txBody>
          <a:bodyPr/>
          <a:lstStyle/>
          <a:p>
            <a:fld id="{60FDF8BA-B6A2-CC4D-B552-37BF044E1040}" type="slidenum">
              <a:rPr lang="it-IT" smtClean="0"/>
              <a:t>39</a:t>
            </a:fld>
            <a:endParaRPr lang="it-IT"/>
          </a:p>
        </p:txBody>
      </p:sp>
    </p:spTree>
    <p:extLst>
      <p:ext uri="{BB962C8B-B14F-4D97-AF65-F5344CB8AC3E}">
        <p14:creationId xmlns:p14="http://schemas.microsoft.com/office/powerpoint/2010/main" val="24365454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3C004-5D0E-F4EF-0F9B-9DBBAABB20A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23D900C9-5EE0-94F7-15C1-A65E89EBD9B8}"/>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979E9752-EF93-4DEC-54DF-53D946253210}"/>
              </a:ext>
            </a:extLst>
          </p:cNvPr>
          <p:cNvSpPr>
            <a:spLocks noGrp="1"/>
          </p:cNvSpPr>
          <p:nvPr>
            <p:ph type="body" idx="1"/>
          </p:nvPr>
        </p:nvSpPr>
        <p:spPr/>
        <p:txBody>
          <a:bodyPr/>
          <a:lstStyle/>
          <a:p>
            <a:r>
              <a:rPr lang="en-US" i="1"/>
              <a:t>Show the most important implemented ”graph-based” queries (suggestions and analytics) highlighting how the system benefits from the proposed DB design. Use Cypher Language</a:t>
            </a:r>
          </a:p>
          <a:p>
            <a:endParaRPr lang="en-US" i="1"/>
          </a:p>
          <a:p>
            <a:pPr marL="0" marR="0" lvl="0" indent="0" algn="l" defTabSz="457200" rtl="0" eaLnBrk="1" fontAlgn="auto" latinLnBrk="0" hangingPunct="1">
              <a:lnSpc>
                <a:spcPct val="100000"/>
              </a:lnSpc>
              <a:spcBef>
                <a:spcPts val="0"/>
              </a:spcBef>
              <a:spcAft>
                <a:spcPts val="0"/>
              </a:spcAft>
              <a:buClrTx/>
              <a:buSzTx/>
              <a:buFontTx/>
              <a:buNone/>
              <a:tabLst/>
              <a:defRPr/>
            </a:pPr>
            <a:r>
              <a:rPr lang="en-US" i="1"/>
              <a:t>Show the Neo4j data model (show the graph structure in terms of nodes, edges and properties) and justify choices.</a:t>
            </a:r>
          </a:p>
          <a:p>
            <a:endParaRPr lang="en-US" i="1"/>
          </a:p>
          <a:p>
            <a:r>
              <a:rPr lang="en-US" i="1"/>
              <a:t>If needed, make also reference to the Mock-ups (for the view supported by the designed key)</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t>Use max 3 slides</a:t>
            </a:r>
          </a:p>
          <a:p>
            <a:endParaRPr lang="it-IT"/>
          </a:p>
        </p:txBody>
      </p:sp>
      <p:sp>
        <p:nvSpPr>
          <p:cNvPr id="4" name="Segnaposto numero diapositiva 3">
            <a:extLst>
              <a:ext uri="{FF2B5EF4-FFF2-40B4-BE49-F238E27FC236}">
                <a16:creationId xmlns:a16="http://schemas.microsoft.com/office/drawing/2014/main" id="{09EC84CA-EBD2-14BF-9E60-C4DDF350EE9C}"/>
              </a:ext>
            </a:extLst>
          </p:cNvPr>
          <p:cNvSpPr>
            <a:spLocks noGrp="1"/>
          </p:cNvSpPr>
          <p:nvPr>
            <p:ph type="sldNum" sz="quarter" idx="5"/>
          </p:nvPr>
        </p:nvSpPr>
        <p:spPr/>
        <p:txBody>
          <a:bodyPr/>
          <a:lstStyle/>
          <a:p>
            <a:fld id="{60FDF8BA-B6A2-CC4D-B552-37BF044E1040}" type="slidenum">
              <a:rPr lang="it-IT" smtClean="0"/>
              <a:t>40</a:t>
            </a:fld>
            <a:endParaRPr lang="it-IT"/>
          </a:p>
        </p:txBody>
      </p:sp>
    </p:spTree>
    <p:extLst>
      <p:ext uri="{BB962C8B-B14F-4D97-AF65-F5344CB8AC3E}">
        <p14:creationId xmlns:p14="http://schemas.microsoft.com/office/powerpoint/2010/main" val="31621534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F4203-73B0-17FB-A525-5BE8F7EFA8A3}"/>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DF354C96-BEF0-8810-B05A-1A3B15EC1CAC}"/>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F0DBA890-D8ED-3E11-7D62-EBB79C194501}"/>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i="1"/>
              <a:t>Show indexes defined (if any). Justify their usage and validate them experimentally (show query performance with and w/o the indexes). </a:t>
            </a:r>
          </a:p>
          <a:p>
            <a:endParaRPr lang="it-IT"/>
          </a:p>
        </p:txBody>
      </p:sp>
      <p:sp>
        <p:nvSpPr>
          <p:cNvPr id="4" name="Segnaposto numero diapositiva 3">
            <a:extLst>
              <a:ext uri="{FF2B5EF4-FFF2-40B4-BE49-F238E27FC236}">
                <a16:creationId xmlns:a16="http://schemas.microsoft.com/office/drawing/2014/main" id="{DFC094E1-43E3-2906-E492-4E431DB7C563}"/>
              </a:ext>
            </a:extLst>
          </p:cNvPr>
          <p:cNvSpPr>
            <a:spLocks noGrp="1"/>
          </p:cNvSpPr>
          <p:nvPr>
            <p:ph type="sldNum" sz="quarter" idx="5"/>
          </p:nvPr>
        </p:nvSpPr>
        <p:spPr/>
        <p:txBody>
          <a:bodyPr/>
          <a:lstStyle/>
          <a:p>
            <a:fld id="{60FDF8BA-B6A2-CC4D-B552-37BF044E1040}" type="slidenum">
              <a:rPr lang="it-IT" smtClean="0"/>
              <a:t>45</a:t>
            </a:fld>
            <a:endParaRPr lang="it-IT"/>
          </a:p>
        </p:txBody>
      </p:sp>
    </p:spTree>
    <p:extLst>
      <p:ext uri="{BB962C8B-B14F-4D97-AF65-F5344CB8AC3E}">
        <p14:creationId xmlns:p14="http://schemas.microsoft.com/office/powerpoint/2010/main" val="25891746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en-GB"/>
              <a:t>Max 3 slides</a:t>
            </a:r>
          </a:p>
        </p:txBody>
      </p:sp>
      <p:sp>
        <p:nvSpPr>
          <p:cNvPr id="4" name="Segnaposto numero diapositiva 3"/>
          <p:cNvSpPr>
            <a:spLocks noGrp="1"/>
          </p:cNvSpPr>
          <p:nvPr>
            <p:ph type="sldNum" sz="quarter" idx="5"/>
          </p:nvPr>
        </p:nvSpPr>
        <p:spPr/>
        <p:txBody>
          <a:bodyPr/>
          <a:lstStyle/>
          <a:p>
            <a:fld id="{60FDF8BA-B6A2-CC4D-B552-37BF044E1040}" type="slidenum">
              <a:rPr lang="it-IT" smtClean="0"/>
              <a:t>46</a:t>
            </a:fld>
            <a:endParaRPr lang="it-IT"/>
          </a:p>
        </p:txBody>
      </p:sp>
    </p:spTree>
    <p:extLst>
      <p:ext uri="{BB962C8B-B14F-4D97-AF65-F5344CB8AC3E}">
        <p14:creationId xmlns:p14="http://schemas.microsoft.com/office/powerpoint/2010/main" val="13830071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en-US" sz="1200" kern="1200">
                <a:solidFill>
                  <a:schemeClr val="tx1"/>
                </a:solidFill>
                <a:effectLst/>
                <a:latin typeface="+mn-lt"/>
                <a:ea typeface="+mn-ea"/>
                <a:cs typeface="+mn-cs"/>
              </a:rPr>
              <a:t>Report here screenshots from the Swagger UI page to present the main entities and their related endpoints. Also, show the Swagger UI page live and show the details of some relevant endpoints, illustrating its purpose, input parameters (if any), and expected responses, including success and error scenarios.</a:t>
            </a:r>
            <a:endParaRPr lang="it-IT"/>
          </a:p>
        </p:txBody>
      </p:sp>
      <p:sp>
        <p:nvSpPr>
          <p:cNvPr id="4" name="Segnaposto numero diapositiva 3"/>
          <p:cNvSpPr>
            <a:spLocks noGrp="1"/>
          </p:cNvSpPr>
          <p:nvPr>
            <p:ph type="sldNum" sz="quarter" idx="5"/>
          </p:nvPr>
        </p:nvSpPr>
        <p:spPr/>
        <p:txBody>
          <a:bodyPr/>
          <a:lstStyle/>
          <a:p>
            <a:fld id="{60FDF8BA-B6A2-CC4D-B552-37BF044E1040}" type="slidenum">
              <a:rPr lang="it-IT" smtClean="0"/>
              <a:t>48</a:t>
            </a:fld>
            <a:endParaRPr lang="it-IT"/>
          </a:p>
        </p:txBody>
      </p:sp>
    </p:spTree>
    <p:extLst>
      <p:ext uri="{BB962C8B-B14F-4D97-AF65-F5344CB8AC3E}">
        <p14:creationId xmlns:p14="http://schemas.microsoft.com/office/powerpoint/2010/main" val="18550674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EF38B-AF86-0D2D-6590-168B8CD565EB}"/>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741D8EB8-3FEF-04D7-B58F-06614C8BB5ED}"/>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7AD7BB06-BB0A-C376-A4B4-2F747305B20B}"/>
              </a:ext>
            </a:extLst>
          </p:cNvPr>
          <p:cNvSpPr>
            <a:spLocks noGrp="1"/>
          </p:cNvSpPr>
          <p:nvPr>
            <p:ph type="body" idx="1"/>
          </p:nvPr>
        </p:nvSpPr>
        <p:spPr/>
        <p:txBody>
          <a:bodyPr/>
          <a:lstStyle/>
          <a:p>
            <a:r>
              <a:rPr lang="en-US" sz="1200" kern="1200">
                <a:solidFill>
                  <a:schemeClr val="tx1"/>
                </a:solidFill>
                <a:effectLst/>
                <a:latin typeface="+mn-lt"/>
                <a:ea typeface="+mn-ea"/>
                <a:cs typeface="+mn-cs"/>
              </a:rPr>
              <a:t>Report here screenshots from the Swagger UI page to present the main entities and their related endpoints. Also, show the Swagger UI page live and show the details of some relevant endpoints, illustrating its purpose, input parameters (if any), and expected responses, including success and error scenarios.</a:t>
            </a:r>
            <a:endParaRPr lang="it-IT"/>
          </a:p>
        </p:txBody>
      </p:sp>
      <p:sp>
        <p:nvSpPr>
          <p:cNvPr id="4" name="Segnaposto numero diapositiva 3">
            <a:extLst>
              <a:ext uri="{FF2B5EF4-FFF2-40B4-BE49-F238E27FC236}">
                <a16:creationId xmlns:a16="http://schemas.microsoft.com/office/drawing/2014/main" id="{17B9A2E7-44CE-1315-2273-6F151CBA62EA}"/>
              </a:ext>
            </a:extLst>
          </p:cNvPr>
          <p:cNvSpPr>
            <a:spLocks noGrp="1"/>
          </p:cNvSpPr>
          <p:nvPr>
            <p:ph type="sldNum" sz="quarter" idx="5"/>
          </p:nvPr>
        </p:nvSpPr>
        <p:spPr/>
        <p:txBody>
          <a:bodyPr/>
          <a:lstStyle/>
          <a:p>
            <a:fld id="{60FDF8BA-B6A2-CC4D-B552-37BF044E1040}" type="slidenum">
              <a:rPr lang="it-IT" smtClean="0"/>
              <a:t>49</a:t>
            </a:fld>
            <a:endParaRPr lang="it-IT"/>
          </a:p>
        </p:txBody>
      </p:sp>
    </p:spTree>
    <p:extLst>
      <p:ext uri="{BB962C8B-B14F-4D97-AF65-F5344CB8AC3E}">
        <p14:creationId xmlns:p14="http://schemas.microsoft.com/office/powerpoint/2010/main" val="27641400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pPr marL="342900" indent="-342900">
              <a:lnSpc>
                <a:spcPct val="90000"/>
              </a:lnSpc>
              <a:spcBef>
                <a:spcPct val="20000"/>
              </a:spcBef>
              <a:buFont typeface="Arial"/>
              <a:buChar char="•"/>
            </a:pPr>
            <a:r>
              <a:rPr lang="it-IT" sz="1200" i="1"/>
              <a:t>Show the Postman Collection </a:t>
            </a:r>
            <a:r>
              <a:rPr lang="it-IT" sz="1200" i="1" err="1"/>
              <a:t>containing</a:t>
            </a:r>
            <a:r>
              <a:rPr lang="it-IT" sz="1200" i="1"/>
              <a:t> all the REST endpoints </a:t>
            </a:r>
            <a:r>
              <a:rPr lang="it-IT" sz="1200" i="1" err="1"/>
              <a:t>exposed</a:t>
            </a:r>
            <a:r>
              <a:rPr lang="it-IT" sz="1200" i="1"/>
              <a:t> by </a:t>
            </a:r>
            <a:r>
              <a:rPr lang="it-IT" sz="1200" i="1" err="1"/>
              <a:t>your</a:t>
            </a:r>
            <a:r>
              <a:rPr lang="it-IT" sz="1200" i="1"/>
              <a:t> </a:t>
            </a:r>
            <a:r>
              <a:rPr lang="it-IT" sz="1200" i="1" err="1"/>
              <a:t>application</a:t>
            </a:r>
            <a:r>
              <a:rPr lang="it-IT" sz="1200" i="1"/>
              <a:t> (e.g. authentication, product management, </a:t>
            </a:r>
            <a:r>
              <a:rPr lang="it-IT" sz="1200" i="1" err="1"/>
              <a:t>analytics</a:t>
            </a:r>
            <a:r>
              <a:rPr lang="it-IT" sz="1200" i="1"/>
              <a:t>, etc.) </a:t>
            </a:r>
          </a:p>
          <a:p>
            <a:pPr marL="342900" indent="-342900">
              <a:lnSpc>
                <a:spcPct val="90000"/>
              </a:lnSpc>
              <a:spcBef>
                <a:spcPct val="20000"/>
              </a:spcBef>
              <a:buFont typeface="Arial"/>
              <a:buChar char="•"/>
            </a:pPr>
            <a:endParaRPr lang="it-IT" sz="1200" i="1"/>
          </a:p>
          <a:p>
            <a:pPr marL="342900" indent="-342900">
              <a:lnSpc>
                <a:spcPct val="90000"/>
              </a:lnSpc>
              <a:spcBef>
                <a:spcPct val="20000"/>
              </a:spcBef>
              <a:buFont typeface="Arial"/>
              <a:buChar char="•"/>
            </a:pPr>
            <a:r>
              <a:rPr lang="it-IT" sz="1200" i="1" err="1"/>
              <a:t>Detailed</a:t>
            </a:r>
            <a:r>
              <a:rPr lang="it-IT" sz="1200" i="1"/>
              <a:t> endpoints </a:t>
            </a:r>
            <a:r>
              <a:rPr lang="it-IT" sz="1200" i="1" err="1"/>
              <a:t>descriptions</a:t>
            </a:r>
            <a:r>
              <a:rPr lang="it-IT" sz="1200" i="1"/>
              <a:t>: endpoint </a:t>
            </a:r>
            <a:r>
              <a:rPr lang="it-IT" sz="1200" i="1" err="1"/>
              <a:t>purpose</a:t>
            </a:r>
            <a:r>
              <a:rPr lang="it-IT" sz="1200" i="1"/>
              <a:t>, </a:t>
            </a:r>
            <a:r>
              <a:rPr lang="it-IT" sz="1200" i="1" err="1"/>
              <a:t>required</a:t>
            </a:r>
            <a:r>
              <a:rPr lang="it-IT" sz="1200" i="1"/>
              <a:t> input </a:t>
            </a:r>
            <a:r>
              <a:rPr lang="it-IT" sz="1200" i="1" err="1"/>
              <a:t>parameters</a:t>
            </a:r>
            <a:r>
              <a:rPr lang="it-IT" sz="1200" i="1"/>
              <a:t> with </a:t>
            </a:r>
            <a:r>
              <a:rPr lang="it-IT" sz="1200" i="1" err="1"/>
              <a:t>example</a:t>
            </a:r>
            <a:r>
              <a:rPr lang="it-IT" sz="1200" i="1"/>
              <a:t> values .</a:t>
            </a:r>
          </a:p>
          <a:p>
            <a:pPr marL="342900" indent="-342900">
              <a:lnSpc>
                <a:spcPct val="90000"/>
              </a:lnSpc>
              <a:spcBef>
                <a:spcPct val="20000"/>
              </a:spcBef>
              <a:buFont typeface="Arial"/>
              <a:buChar char="•"/>
            </a:pPr>
            <a:endParaRPr lang="it-IT" sz="1200" i="1"/>
          </a:p>
          <a:p>
            <a:pPr marL="342900" indent="-342900">
              <a:lnSpc>
                <a:spcPct val="90000"/>
              </a:lnSpc>
              <a:spcBef>
                <a:spcPct val="20000"/>
              </a:spcBef>
              <a:buFont typeface="Arial"/>
              <a:buChar char="•"/>
            </a:pPr>
            <a:r>
              <a:rPr lang="it-IT" sz="1200" i="1"/>
              <a:t>Show live testing of some </a:t>
            </a:r>
            <a:r>
              <a:rPr lang="it-IT" sz="1200" i="1" err="1"/>
              <a:t>relevant</a:t>
            </a:r>
            <a:r>
              <a:rPr lang="it-IT" sz="1200" i="1"/>
              <a:t> endpoints of </a:t>
            </a:r>
            <a:r>
              <a:rPr lang="it-IT" sz="1200" i="1" err="1"/>
              <a:t>your</a:t>
            </a:r>
            <a:r>
              <a:rPr lang="it-IT" sz="1200" i="1"/>
              <a:t> </a:t>
            </a:r>
            <a:r>
              <a:rPr lang="it-IT" sz="1200" i="1" err="1"/>
              <a:t>application</a:t>
            </a:r>
            <a:r>
              <a:rPr lang="it-IT" sz="1200" i="1"/>
              <a:t> </a:t>
            </a:r>
            <a:r>
              <a:rPr lang="it-IT" sz="1200" i="1" err="1"/>
              <a:t>within</a:t>
            </a:r>
            <a:r>
              <a:rPr lang="it-IT" sz="1200" i="1"/>
              <a:t> Postman. Also show </a:t>
            </a:r>
            <a:r>
              <a:rPr lang="it-IT" sz="1200" i="1" err="1"/>
              <a:t>how</a:t>
            </a:r>
            <a:r>
              <a:rPr lang="it-IT" sz="1200" i="1"/>
              <a:t> error </a:t>
            </a:r>
            <a:r>
              <a:rPr lang="it-IT" sz="1200" i="1" err="1"/>
              <a:t>scenarios</a:t>
            </a:r>
            <a:r>
              <a:rPr lang="it-IT" sz="1200" i="1"/>
              <a:t> are </a:t>
            </a:r>
            <a:r>
              <a:rPr lang="it-IT" sz="1200" i="1" err="1"/>
              <a:t>handled</a:t>
            </a:r>
            <a:r>
              <a:rPr lang="it-IT" sz="1200" i="1"/>
              <a:t> (</a:t>
            </a:r>
            <a:r>
              <a:rPr lang="it-IT" sz="1200" i="1" err="1"/>
              <a:t>bad</a:t>
            </a:r>
            <a:r>
              <a:rPr lang="it-IT" sz="1200" i="1"/>
              <a:t> </a:t>
            </a:r>
            <a:r>
              <a:rPr lang="it-IT" sz="1200" i="1" err="1"/>
              <a:t>requests</a:t>
            </a:r>
            <a:r>
              <a:rPr lang="it-IT" sz="1200" i="1"/>
              <a:t> and </a:t>
            </a:r>
            <a:r>
              <a:rPr lang="it-IT" sz="1200" i="1" err="1"/>
              <a:t>exceptions</a:t>
            </a:r>
            <a:r>
              <a:rPr lang="it-IT" sz="1200" i="1"/>
              <a:t>; </a:t>
            </a:r>
            <a:r>
              <a:rPr lang="it-IT" sz="1200" i="1" err="1"/>
              <a:t>Missing</a:t>
            </a:r>
            <a:r>
              <a:rPr lang="it-IT" sz="1200" i="1"/>
              <a:t> or </a:t>
            </a:r>
            <a:r>
              <a:rPr lang="it-IT" sz="1200" i="1" err="1"/>
              <a:t>invalid</a:t>
            </a:r>
            <a:r>
              <a:rPr lang="it-IT" sz="1200" i="1"/>
              <a:t> </a:t>
            </a:r>
            <a:r>
              <a:rPr lang="it-IT" sz="1200" i="1" err="1"/>
              <a:t>parameters</a:t>
            </a:r>
            <a:r>
              <a:rPr lang="it-IT" sz="1200" i="1"/>
              <a:t>; </a:t>
            </a:r>
            <a:r>
              <a:rPr lang="it-IT" sz="1200" i="1" err="1"/>
              <a:t>Unauthorized</a:t>
            </a:r>
            <a:r>
              <a:rPr lang="it-IT" sz="1200" i="1"/>
              <a:t> access </a:t>
            </a:r>
            <a:r>
              <a:rPr lang="it-IT" sz="1200" i="1" err="1"/>
              <a:t>attempts</a:t>
            </a:r>
            <a:r>
              <a:rPr lang="it-IT" sz="1200" i="1"/>
              <a:t>; Endpoint-</a:t>
            </a:r>
            <a:r>
              <a:rPr lang="it-IT" sz="1200" i="1" err="1"/>
              <a:t>specific</a:t>
            </a:r>
            <a:r>
              <a:rPr lang="it-IT" sz="1200" i="1"/>
              <a:t> </a:t>
            </a:r>
            <a:r>
              <a:rPr lang="it-IT" sz="1200" i="1" err="1"/>
              <a:t>edge</a:t>
            </a:r>
            <a:r>
              <a:rPr lang="it-IT" sz="1200" i="1"/>
              <a:t> </a:t>
            </a:r>
            <a:r>
              <a:rPr lang="it-IT" sz="1200" i="1" err="1"/>
              <a:t>cases</a:t>
            </a:r>
            <a:r>
              <a:rPr lang="it-IT" sz="1200" i="1"/>
              <a:t> (e.g., </a:t>
            </a:r>
            <a:r>
              <a:rPr lang="it-IT" sz="1200" i="1" err="1"/>
              <a:t>trying</a:t>
            </a:r>
            <a:r>
              <a:rPr lang="it-IT" sz="1200" i="1"/>
              <a:t> to fetch a non-</a:t>
            </a:r>
            <a:r>
              <a:rPr lang="it-IT" sz="1200" i="1" err="1"/>
              <a:t>existent</a:t>
            </a:r>
            <a:r>
              <a:rPr lang="it-IT" sz="1200" i="1"/>
              <a:t> </a:t>
            </a:r>
            <a:r>
              <a:rPr lang="it-IT" sz="1200" i="1" err="1"/>
              <a:t>resource</a:t>
            </a:r>
            <a:r>
              <a:rPr lang="it-IT" sz="1200" i="1"/>
              <a:t>).</a:t>
            </a:r>
          </a:p>
          <a:p>
            <a:endParaRPr lang="it-IT"/>
          </a:p>
        </p:txBody>
      </p:sp>
      <p:sp>
        <p:nvSpPr>
          <p:cNvPr id="4" name="Segnaposto numero diapositiva 3"/>
          <p:cNvSpPr>
            <a:spLocks noGrp="1"/>
          </p:cNvSpPr>
          <p:nvPr>
            <p:ph type="sldNum" sz="quarter" idx="5"/>
          </p:nvPr>
        </p:nvSpPr>
        <p:spPr/>
        <p:txBody>
          <a:bodyPr/>
          <a:lstStyle/>
          <a:p>
            <a:fld id="{60FDF8BA-B6A2-CC4D-B552-37BF044E1040}" type="slidenum">
              <a:rPr lang="it-IT" smtClean="0"/>
              <a:t>55</a:t>
            </a:fld>
            <a:endParaRPr lang="it-IT"/>
          </a:p>
        </p:txBody>
      </p:sp>
    </p:spTree>
    <p:extLst>
      <p:ext uri="{BB962C8B-B14F-4D97-AF65-F5344CB8AC3E}">
        <p14:creationId xmlns:p14="http://schemas.microsoft.com/office/powerpoint/2010/main" val="21355368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5"/>
            <a:ext cx="7772400" cy="1470025"/>
          </a:xfrm>
        </p:spPr>
        <p:txBody>
          <a:bodyPr/>
          <a:lstStyle/>
          <a:p>
            <a:r>
              <a:rPr lang="it-IT"/>
              <a:t>Fare clic per modificare stile</a:t>
            </a:r>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p>
        </p:txBody>
      </p:sp>
      <p:sp>
        <p:nvSpPr>
          <p:cNvPr id="4" name="Segnaposto data 3"/>
          <p:cNvSpPr>
            <a:spLocks noGrp="1"/>
          </p:cNvSpPr>
          <p:nvPr>
            <p:ph type="dt" sz="half" idx="10"/>
          </p:nvPr>
        </p:nvSpPr>
        <p:spPr>
          <a:xfrm>
            <a:off x="457200" y="6356350"/>
            <a:ext cx="2133600" cy="365125"/>
          </a:xfrm>
          <a:prstGeom prst="rect">
            <a:avLst/>
          </a:prstGeom>
        </p:spPr>
        <p:txBody>
          <a:bodyPr/>
          <a:lstStyle/>
          <a:p>
            <a:fld id="{2FDCBEE4-315A-8E42-835E-29A1DAE07625}" type="datetimeFigureOut">
              <a:rPr lang="it-IT" smtClean="0"/>
              <a:t>15/06/26</a:t>
            </a:fld>
            <a:endParaRPr lang="it-IT"/>
          </a:p>
        </p:txBody>
      </p:sp>
      <p:sp>
        <p:nvSpPr>
          <p:cNvPr id="5" name="Segnaposto piè di pagina 4"/>
          <p:cNvSpPr>
            <a:spLocks noGrp="1"/>
          </p:cNvSpPr>
          <p:nvPr>
            <p:ph type="ftr" sz="quarter" idx="11"/>
          </p:nvPr>
        </p:nvSpPr>
        <p:spPr>
          <a:xfrm>
            <a:off x="3124200" y="6356350"/>
            <a:ext cx="2895600" cy="365125"/>
          </a:xfrm>
          <a:prstGeom prst="rect">
            <a:avLst/>
          </a:prstGeom>
        </p:spPr>
        <p:txBody>
          <a:bodyPr/>
          <a:lstStyle/>
          <a:p>
            <a:endParaRPr lang="it-IT"/>
          </a:p>
        </p:txBody>
      </p:sp>
      <p:sp>
        <p:nvSpPr>
          <p:cNvPr id="6" name="Segnaposto numero diapositiva 5"/>
          <p:cNvSpPr>
            <a:spLocks noGrp="1"/>
          </p:cNvSpPr>
          <p:nvPr>
            <p:ph type="sldNum" sz="quarter" idx="12"/>
          </p:nvPr>
        </p:nvSpPr>
        <p:spPr>
          <a:xfrm>
            <a:off x="6553200" y="6356350"/>
            <a:ext cx="2133600" cy="365125"/>
          </a:xfrm>
          <a:prstGeom prst="rect">
            <a:avLst/>
          </a:prstGeom>
        </p:spPr>
        <p:txBody>
          <a:bodyPr/>
          <a:lstStyle/>
          <a:p>
            <a:fld id="{F3EAF9BD-73C2-C944-967F-16A9AD6CE362}" type="slidenum">
              <a:rPr lang="it-IT" smtClean="0"/>
              <a:t>‹N›</a:t>
            </a:fld>
            <a:endParaRPr lang="it-IT"/>
          </a:p>
        </p:txBody>
      </p:sp>
    </p:spTree>
    <p:extLst>
      <p:ext uri="{BB962C8B-B14F-4D97-AF65-F5344CB8AC3E}">
        <p14:creationId xmlns:p14="http://schemas.microsoft.com/office/powerpoint/2010/main" val="17808155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p>
        </p:txBody>
      </p:sp>
      <p:sp>
        <p:nvSpPr>
          <p:cNvPr id="3" name="Segnaposto contenuto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a:xfrm>
            <a:off x="457200" y="6356350"/>
            <a:ext cx="2133600" cy="365125"/>
          </a:xfrm>
          <a:prstGeom prst="rect">
            <a:avLst/>
          </a:prstGeom>
        </p:spPr>
        <p:txBody>
          <a:bodyPr/>
          <a:lstStyle/>
          <a:p>
            <a:fld id="{2FDCBEE4-315A-8E42-835E-29A1DAE07625}" type="datetimeFigureOut">
              <a:rPr lang="it-IT" smtClean="0"/>
              <a:t>15/06/26</a:t>
            </a:fld>
            <a:endParaRPr lang="it-IT"/>
          </a:p>
        </p:txBody>
      </p:sp>
      <p:sp>
        <p:nvSpPr>
          <p:cNvPr id="5" name="Segnaposto piè di pagina 4"/>
          <p:cNvSpPr>
            <a:spLocks noGrp="1"/>
          </p:cNvSpPr>
          <p:nvPr>
            <p:ph type="ftr" sz="quarter" idx="11"/>
          </p:nvPr>
        </p:nvSpPr>
        <p:spPr>
          <a:xfrm>
            <a:off x="3124200" y="6356350"/>
            <a:ext cx="2895600" cy="365125"/>
          </a:xfrm>
          <a:prstGeom prst="rect">
            <a:avLst/>
          </a:prstGeom>
        </p:spPr>
        <p:txBody>
          <a:bodyPr/>
          <a:lstStyle/>
          <a:p>
            <a:endParaRPr lang="it-IT"/>
          </a:p>
        </p:txBody>
      </p:sp>
      <p:sp>
        <p:nvSpPr>
          <p:cNvPr id="6" name="Segnaposto numero diapositiva 5"/>
          <p:cNvSpPr>
            <a:spLocks noGrp="1"/>
          </p:cNvSpPr>
          <p:nvPr>
            <p:ph type="sldNum" sz="quarter" idx="12"/>
          </p:nvPr>
        </p:nvSpPr>
        <p:spPr>
          <a:xfrm>
            <a:off x="6553200" y="6356350"/>
            <a:ext cx="2133600" cy="365125"/>
          </a:xfrm>
          <a:prstGeom prst="rect">
            <a:avLst/>
          </a:prstGeom>
        </p:spPr>
        <p:txBody>
          <a:bodyPr/>
          <a:lstStyle/>
          <a:p>
            <a:fld id="{F3EAF9BD-73C2-C944-967F-16A9AD6CE362}" type="slidenum">
              <a:rPr lang="it-IT" smtClean="0"/>
              <a:t>‹N›</a:t>
            </a:fld>
            <a:endParaRPr lang="it-IT"/>
          </a:p>
        </p:txBody>
      </p:sp>
    </p:spTree>
    <p:extLst>
      <p:ext uri="{BB962C8B-B14F-4D97-AF65-F5344CB8AC3E}">
        <p14:creationId xmlns:p14="http://schemas.microsoft.com/office/powerpoint/2010/main" val="42011166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a:t>Fare clic per modificare stile</a:t>
            </a:r>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Segnaposto data 3"/>
          <p:cNvSpPr>
            <a:spLocks noGrp="1"/>
          </p:cNvSpPr>
          <p:nvPr>
            <p:ph type="dt" sz="half" idx="10"/>
          </p:nvPr>
        </p:nvSpPr>
        <p:spPr>
          <a:xfrm>
            <a:off x="457200" y="6356350"/>
            <a:ext cx="2133600" cy="365125"/>
          </a:xfrm>
          <a:prstGeom prst="rect">
            <a:avLst/>
          </a:prstGeom>
        </p:spPr>
        <p:txBody>
          <a:bodyPr/>
          <a:lstStyle/>
          <a:p>
            <a:fld id="{2FDCBEE4-315A-8E42-835E-29A1DAE07625}" type="datetimeFigureOut">
              <a:rPr lang="it-IT" smtClean="0"/>
              <a:t>15/06/26</a:t>
            </a:fld>
            <a:endParaRPr lang="it-IT"/>
          </a:p>
        </p:txBody>
      </p:sp>
      <p:sp>
        <p:nvSpPr>
          <p:cNvPr id="5" name="Segnaposto piè di pagina 4"/>
          <p:cNvSpPr>
            <a:spLocks noGrp="1"/>
          </p:cNvSpPr>
          <p:nvPr>
            <p:ph type="ftr" sz="quarter" idx="11"/>
          </p:nvPr>
        </p:nvSpPr>
        <p:spPr>
          <a:xfrm>
            <a:off x="3124200" y="6356350"/>
            <a:ext cx="2895600" cy="365125"/>
          </a:xfrm>
          <a:prstGeom prst="rect">
            <a:avLst/>
          </a:prstGeom>
        </p:spPr>
        <p:txBody>
          <a:bodyPr/>
          <a:lstStyle/>
          <a:p>
            <a:endParaRPr lang="it-IT"/>
          </a:p>
        </p:txBody>
      </p:sp>
      <p:sp>
        <p:nvSpPr>
          <p:cNvPr id="6" name="Segnaposto numero diapositiva 5"/>
          <p:cNvSpPr>
            <a:spLocks noGrp="1"/>
          </p:cNvSpPr>
          <p:nvPr>
            <p:ph type="sldNum" sz="quarter" idx="12"/>
          </p:nvPr>
        </p:nvSpPr>
        <p:spPr>
          <a:xfrm>
            <a:off x="6553200" y="6356350"/>
            <a:ext cx="2133600" cy="365125"/>
          </a:xfrm>
          <a:prstGeom prst="rect">
            <a:avLst/>
          </a:prstGeom>
        </p:spPr>
        <p:txBody>
          <a:bodyPr/>
          <a:lstStyle/>
          <a:p>
            <a:fld id="{F3EAF9BD-73C2-C944-967F-16A9AD6CE362}" type="slidenum">
              <a:rPr lang="it-IT" smtClean="0"/>
              <a:t>‹N›</a:t>
            </a:fld>
            <a:endParaRPr lang="it-IT"/>
          </a:p>
        </p:txBody>
      </p:sp>
    </p:spTree>
    <p:extLst>
      <p:ext uri="{BB962C8B-B14F-4D97-AF65-F5344CB8AC3E}">
        <p14:creationId xmlns:p14="http://schemas.microsoft.com/office/powerpoint/2010/main" val="3897685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Contenuto 2">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p>
        </p:txBody>
      </p:sp>
      <p:sp>
        <p:nvSpPr>
          <p:cNvPr id="3" name="Segnaposto contenut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p:cNvSpPr>
            <a:spLocks noGrp="1"/>
          </p:cNvSpPr>
          <p:nvPr>
            <p:ph type="dt" sz="half" idx="10"/>
          </p:nvPr>
        </p:nvSpPr>
        <p:spPr>
          <a:xfrm>
            <a:off x="457200" y="6356350"/>
            <a:ext cx="2133600" cy="365125"/>
          </a:xfrm>
          <a:prstGeom prst="rect">
            <a:avLst/>
          </a:prstGeom>
        </p:spPr>
        <p:txBody>
          <a:bodyPr/>
          <a:lstStyle/>
          <a:p>
            <a:fld id="{2FDCBEE4-315A-8E42-835E-29A1DAE07625}" type="datetimeFigureOut">
              <a:rPr lang="it-IT" smtClean="0"/>
              <a:t>15/06/26</a:t>
            </a:fld>
            <a:endParaRPr lang="it-IT"/>
          </a:p>
        </p:txBody>
      </p:sp>
      <p:sp>
        <p:nvSpPr>
          <p:cNvPr id="6" name="Segnaposto piè di pagina 5"/>
          <p:cNvSpPr>
            <a:spLocks noGrp="1"/>
          </p:cNvSpPr>
          <p:nvPr>
            <p:ph type="ftr" sz="quarter" idx="11"/>
          </p:nvPr>
        </p:nvSpPr>
        <p:spPr>
          <a:xfrm>
            <a:off x="3124200" y="6356350"/>
            <a:ext cx="2895600" cy="365125"/>
          </a:xfrm>
          <a:prstGeom prst="rect">
            <a:avLst/>
          </a:prstGeom>
        </p:spPr>
        <p:txBody>
          <a:bodyPr/>
          <a:lstStyle/>
          <a:p>
            <a:endParaRPr lang="it-IT"/>
          </a:p>
        </p:txBody>
      </p:sp>
      <p:sp>
        <p:nvSpPr>
          <p:cNvPr id="7" name="Segnaposto numero diapositiva 6"/>
          <p:cNvSpPr>
            <a:spLocks noGrp="1"/>
          </p:cNvSpPr>
          <p:nvPr>
            <p:ph type="sldNum" sz="quarter" idx="12"/>
          </p:nvPr>
        </p:nvSpPr>
        <p:spPr>
          <a:xfrm>
            <a:off x="6553200" y="6356350"/>
            <a:ext cx="2133600" cy="365125"/>
          </a:xfrm>
          <a:prstGeom prst="rect">
            <a:avLst/>
          </a:prstGeom>
        </p:spPr>
        <p:txBody>
          <a:bodyPr/>
          <a:lstStyle/>
          <a:p>
            <a:fld id="{F3EAF9BD-73C2-C944-967F-16A9AD6CE362}" type="slidenum">
              <a:rPr lang="it-IT" smtClean="0"/>
              <a:t>‹N›</a:t>
            </a:fld>
            <a:endParaRPr lang="it-IT"/>
          </a:p>
        </p:txBody>
      </p:sp>
    </p:spTree>
    <p:extLst>
      <p:ext uri="{BB962C8B-B14F-4D97-AF65-F5344CB8AC3E}">
        <p14:creationId xmlns:p14="http://schemas.microsoft.com/office/powerpoint/2010/main" val="938557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a:t>Fare clic per modificare stile</a:t>
            </a:r>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p:cNvSpPr>
            <a:spLocks noGrp="1"/>
          </p:cNvSpPr>
          <p:nvPr>
            <p:ph type="dt" sz="half" idx="10"/>
          </p:nvPr>
        </p:nvSpPr>
        <p:spPr>
          <a:xfrm>
            <a:off x="457200" y="6356350"/>
            <a:ext cx="2133600" cy="365125"/>
          </a:xfrm>
          <a:prstGeom prst="rect">
            <a:avLst/>
          </a:prstGeom>
        </p:spPr>
        <p:txBody>
          <a:bodyPr/>
          <a:lstStyle/>
          <a:p>
            <a:fld id="{2FDCBEE4-315A-8E42-835E-29A1DAE07625}" type="datetimeFigureOut">
              <a:rPr lang="it-IT" smtClean="0"/>
              <a:t>15/06/26</a:t>
            </a:fld>
            <a:endParaRPr lang="it-IT"/>
          </a:p>
        </p:txBody>
      </p:sp>
      <p:sp>
        <p:nvSpPr>
          <p:cNvPr id="8" name="Segnaposto piè di pagina 7"/>
          <p:cNvSpPr>
            <a:spLocks noGrp="1"/>
          </p:cNvSpPr>
          <p:nvPr>
            <p:ph type="ftr" sz="quarter" idx="11"/>
          </p:nvPr>
        </p:nvSpPr>
        <p:spPr>
          <a:xfrm>
            <a:off x="3124200" y="6356350"/>
            <a:ext cx="2895600" cy="365125"/>
          </a:xfrm>
          <a:prstGeom prst="rect">
            <a:avLst/>
          </a:prstGeom>
        </p:spPr>
        <p:txBody>
          <a:bodyPr/>
          <a:lstStyle/>
          <a:p>
            <a:endParaRPr lang="it-IT"/>
          </a:p>
        </p:txBody>
      </p:sp>
      <p:sp>
        <p:nvSpPr>
          <p:cNvPr id="9" name="Segnaposto numero diapositiva 8"/>
          <p:cNvSpPr>
            <a:spLocks noGrp="1"/>
          </p:cNvSpPr>
          <p:nvPr>
            <p:ph type="sldNum" sz="quarter" idx="12"/>
          </p:nvPr>
        </p:nvSpPr>
        <p:spPr>
          <a:xfrm>
            <a:off x="6553200" y="6356350"/>
            <a:ext cx="2133600" cy="365125"/>
          </a:xfrm>
          <a:prstGeom prst="rect">
            <a:avLst/>
          </a:prstGeom>
        </p:spPr>
        <p:txBody>
          <a:bodyPr/>
          <a:lstStyle/>
          <a:p>
            <a:fld id="{F3EAF9BD-73C2-C944-967F-16A9AD6CE362}" type="slidenum">
              <a:rPr lang="it-IT" smtClean="0"/>
              <a:t>‹N›</a:t>
            </a:fld>
            <a:endParaRPr lang="it-IT"/>
          </a:p>
        </p:txBody>
      </p:sp>
    </p:spTree>
    <p:extLst>
      <p:ext uri="{BB962C8B-B14F-4D97-AF65-F5344CB8AC3E}">
        <p14:creationId xmlns:p14="http://schemas.microsoft.com/office/powerpoint/2010/main" val="36350880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p>
        </p:txBody>
      </p:sp>
      <p:sp>
        <p:nvSpPr>
          <p:cNvPr id="3" name="Segnaposto data 2"/>
          <p:cNvSpPr>
            <a:spLocks noGrp="1"/>
          </p:cNvSpPr>
          <p:nvPr>
            <p:ph type="dt" sz="half" idx="10"/>
          </p:nvPr>
        </p:nvSpPr>
        <p:spPr>
          <a:xfrm>
            <a:off x="457200" y="6356350"/>
            <a:ext cx="2133600" cy="365125"/>
          </a:xfrm>
          <a:prstGeom prst="rect">
            <a:avLst/>
          </a:prstGeom>
        </p:spPr>
        <p:txBody>
          <a:bodyPr/>
          <a:lstStyle/>
          <a:p>
            <a:fld id="{2FDCBEE4-315A-8E42-835E-29A1DAE07625}" type="datetimeFigureOut">
              <a:rPr lang="it-IT" smtClean="0"/>
              <a:t>15/06/26</a:t>
            </a:fld>
            <a:endParaRPr lang="it-IT"/>
          </a:p>
        </p:txBody>
      </p:sp>
      <p:sp>
        <p:nvSpPr>
          <p:cNvPr id="4" name="Segnaposto piè di pagina 3"/>
          <p:cNvSpPr>
            <a:spLocks noGrp="1"/>
          </p:cNvSpPr>
          <p:nvPr>
            <p:ph type="ftr" sz="quarter" idx="11"/>
          </p:nvPr>
        </p:nvSpPr>
        <p:spPr>
          <a:xfrm>
            <a:off x="3124200" y="6356350"/>
            <a:ext cx="2895600" cy="365125"/>
          </a:xfrm>
          <a:prstGeom prst="rect">
            <a:avLst/>
          </a:prstGeom>
        </p:spPr>
        <p:txBody>
          <a:bodyPr/>
          <a:lstStyle/>
          <a:p>
            <a:endParaRPr lang="it-IT"/>
          </a:p>
        </p:txBody>
      </p:sp>
      <p:sp>
        <p:nvSpPr>
          <p:cNvPr id="5" name="Segnaposto numero diapositiva 4"/>
          <p:cNvSpPr>
            <a:spLocks noGrp="1"/>
          </p:cNvSpPr>
          <p:nvPr>
            <p:ph type="sldNum" sz="quarter" idx="12"/>
          </p:nvPr>
        </p:nvSpPr>
        <p:spPr>
          <a:xfrm>
            <a:off x="6553200" y="6356350"/>
            <a:ext cx="2133600" cy="365125"/>
          </a:xfrm>
          <a:prstGeom prst="rect">
            <a:avLst/>
          </a:prstGeom>
        </p:spPr>
        <p:txBody>
          <a:bodyPr/>
          <a:lstStyle/>
          <a:p>
            <a:fld id="{F3EAF9BD-73C2-C944-967F-16A9AD6CE362}" type="slidenum">
              <a:rPr lang="it-IT" smtClean="0"/>
              <a:t>‹N›</a:t>
            </a:fld>
            <a:endParaRPr lang="it-IT"/>
          </a:p>
        </p:txBody>
      </p:sp>
    </p:spTree>
    <p:extLst>
      <p:ext uri="{BB962C8B-B14F-4D97-AF65-F5344CB8AC3E}">
        <p14:creationId xmlns:p14="http://schemas.microsoft.com/office/powerpoint/2010/main" val="2667587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o">
    <p:spTree>
      <p:nvGrpSpPr>
        <p:cNvPr id="1" name=""/>
        <p:cNvGrpSpPr/>
        <p:nvPr/>
      </p:nvGrpSpPr>
      <p:grpSpPr>
        <a:xfrm>
          <a:off x="0" y="0"/>
          <a:ext cx="0" cy="0"/>
          <a:chOff x="0" y="0"/>
          <a:chExt cx="0" cy="0"/>
        </a:xfrm>
      </p:grpSpPr>
      <p:sp>
        <p:nvSpPr>
          <p:cNvPr id="2" name="Segnaposto data 1"/>
          <p:cNvSpPr>
            <a:spLocks noGrp="1"/>
          </p:cNvSpPr>
          <p:nvPr>
            <p:ph type="dt" sz="half" idx="10"/>
          </p:nvPr>
        </p:nvSpPr>
        <p:spPr>
          <a:xfrm>
            <a:off x="457200" y="6356350"/>
            <a:ext cx="2133600" cy="365125"/>
          </a:xfrm>
          <a:prstGeom prst="rect">
            <a:avLst/>
          </a:prstGeom>
        </p:spPr>
        <p:txBody>
          <a:bodyPr/>
          <a:lstStyle/>
          <a:p>
            <a:fld id="{2FDCBEE4-315A-8E42-835E-29A1DAE07625}" type="datetimeFigureOut">
              <a:rPr lang="it-IT" smtClean="0"/>
              <a:t>15/06/26</a:t>
            </a:fld>
            <a:endParaRPr lang="it-IT"/>
          </a:p>
        </p:txBody>
      </p:sp>
      <p:sp>
        <p:nvSpPr>
          <p:cNvPr id="3" name="Segnaposto piè di pagina 2"/>
          <p:cNvSpPr>
            <a:spLocks noGrp="1"/>
          </p:cNvSpPr>
          <p:nvPr>
            <p:ph type="ftr" sz="quarter" idx="11"/>
          </p:nvPr>
        </p:nvSpPr>
        <p:spPr>
          <a:xfrm>
            <a:off x="3124200" y="6356350"/>
            <a:ext cx="2895600" cy="365125"/>
          </a:xfrm>
          <a:prstGeom prst="rect">
            <a:avLst/>
          </a:prstGeom>
        </p:spPr>
        <p:txBody>
          <a:bodyPr/>
          <a:lstStyle/>
          <a:p>
            <a:endParaRPr lang="it-IT"/>
          </a:p>
        </p:txBody>
      </p:sp>
      <p:sp>
        <p:nvSpPr>
          <p:cNvPr id="4" name="Segnaposto numero diapositiva 3"/>
          <p:cNvSpPr>
            <a:spLocks noGrp="1"/>
          </p:cNvSpPr>
          <p:nvPr>
            <p:ph type="sldNum" sz="quarter" idx="12"/>
          </p:nvPr>
        </p:nvSpPr>
        <p:spPr>
          <a:xfrm>
            <a:off x="6553200" y="6356350"/>
            <a:ext cx="2133600" cy="365125"/>
          </a:xfrm>
          <a:prstGeom prst="rect">
            <a:avLst/>
          </a:prstGeom>
        </p:spPr>
        <p:txBody>
          <a:bodyPr/>
          <a:lstStyle/>
          <a:p>
            <a:fld id="{F3EAF9BD-73C2-C944-967F-16A9AD6CE362}" type="slidenum">
              <a:rPr lang="it-IT" smtClean="0"/>
              <a:t>‹N›</a:t>
            </a:fld>
            <a:endParaRPr lang="it-IT"/>
          </a:p>
        </p:txBody>
      </p:sp>
    </p:spTree>
    <p:extLst>
      <p:ext uri="{BB962C8B-B14F-4D97-AF65-F5344CB8AC3E}">
        <p14:creationId xmlns:p14="http://schemas.microsoft.com/office/powerpoint/2010/main" val="11242553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a:t>Fare clic per modificare stile</a:t>
            </a:r>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Segnaposto data 4"/>
          <p:cNvSpPr>
            <a:spLocks noGrp="1"/>
          </p:cNvSpPr>
          <p:nvPr>
            <p:ph type="dt" sz="half" idx="10"/>
          </p:nvPr>
        </p:nvSpPr>
        <p:spPr>
          <a:xfrm>
            <a:off x="457200" y="6356350"/>
            <a:ext cx="2133600" cy="365125"/>
          </a:xfrm>
          <a:prstGeom prst="rect">
            <a:avLst/>
          </a:prstGeom>
        </p:spPr>
        <p:txBody>
          <a:bodyPr/>
          <a:lstStyle/>
          <a:p>
            <a:fld id="{2FDCBEE4-315A-8E42-835E-29A1DAE07625}" type="datetimeFigureOut">
              <a:rPr lang="it-IT" smtClean="0"/>
              <a:t>15/06/26</a:t>
            </a:fld>
            <a:endParaRPr lang="it-IT"/>
          </a:p>
        </p:txBody>
      </p:sp>
      <p:sp>
        <p:nvSpPr>
          <p:cNvPr id="6" name="Segnaposto piè di pagina 5"/>
          <p:cNvSpPr>
            <a:spLocks noGrp="1"/>
          </p:cNvSpPr>
          <p:nvPr>
            <p:ph type="ftr" sz="quarter" idx="11"/>
          </p:nvPr>
        </p:nvSpPr>
        <p:spPr>
          <a:xfrm>
            <a:off x="3124200" y="6356350"/>
            <a:ext cx="2895600" cy="365125"/>
          </a:xfrm>
          <a:prstGeom prst="rect">
            <a:avLst/>
          </a:prstGeom>
        </p:spPr>
        <p:txBody>
          <a:bodyPr/>
          <a:lstStyle/>
          <a:p>
            <a:endParaRPr lang="it-IT"/>
          </a:p>
        </p:txBody>
      </p:sp>
      <p:sp>
        <p:nvSpPr>
          <p:cNvPr id="7" name="Segnaposto numero diapositiva 6"/>
          <p:cNvSpPr>
            <a:spLocks noGrp="1"/>
          </p:cNvSpPr>
          <p:nvPr>
            <p:ph type="sldNum" sz="quarter" idx="12"/>
          </p:nvPr>
        </p:nvSpPr>
        <p:spPr>
          <a:xfrm>
            <a:off x="6553200" y="6356350"/>
            <a:ext cx="2133600" cy="365125"/>
          </a:xfrm>
          <a:prstGeom prst="rect">
            <a:avLst/>
          </a:prstGeom>
        </p:spPr>
        <p:txBody>
          <a:bodyPr/>
          <a:lstStyle/>
          <a:p>
            <a:fld id="{F3EAF9BD-73C2-C944-967F-16A9AD6CE362}" type="slidenum">
              <a:rPr lang="it-IT" smtClean="0"/>
              <a:t>‹N›</a:t>
            </a:fld>
            <a:endParaRPr lang="it-IT"/>
          </a:p>
        </p:txBody>
      </p:sp>
    </p:spTree>
    <p:extLst>
      <p:ext uri="{BB962C8B-B14F-4D97-AF65-F5344CB8AC3E}">
        <p14:creationId xmlns:p14="http://schemas.microsoft.com/office/powerpoint/2010/main" val="15246710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a:t>Fare clic per modificare stile</a:t>
            </a:r>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Segnaposto data 4"/>
          <p:cNvSpPr>
            <a:spLocks noGrp="1"/>
          </p:cNvSpPr>
          <p:nvPr>
            <p:ph type="dt" sz="half" idx="10"/>
          </p:nvPr>
        </p:nvSpPr>
        <p:spPr>
          <a:xfrm>
            <a:off x="457200" y="6356350"/>
            <a:ext cx="2133600" cy="365125"/>
          </a:xfrm>
          <a:prstGeom prst="rect">
            <a:avLst/>
          </a:prstGeom>
        </p:spPr>
        <p:txBody>
          <a:bodyPr/>
          <a:lstStyle/>
          <a:p>
            <a:fld id="{2FDCBEE4-315A-8E42-835E-29A1DAE07625}" type="datetimeFigureOut">
              <a:rPr lang="it-IT" smtClean="0"/>
              <a:t>15/06/26</a:t>
            </a:fld>
            <a:endParaRPr lang="it-IT"/>
          </a:p>
        </p:txBody>
      </p:sp>
      <p:sp>
        <p:nvSpPr>
          <p:cNvPr id="6" name="Segnaposto piè di pagina 5"/>
          <p:cNvSpPr>
            <a:spLocks noGrp="1"/>
          </p:cNvSpPr>
          <p:nvPr>
            <p:ph type="ftr" sz="quarter" idx="11"/>
          </p:nvPr>
        </p:nvSpPr>
        <p:spPr>
          <a:xfrm>
            <a:off x="3124200" y="6356350"/>
            <a:ext cx="2895600" cy="365125"/>
          </a:xfrm>
          <a:prstGeom prst="rect">
            <a:avLst/>
          </a:prstGeom>
        </p:spPr>
        <p:txBody>
          <a:bodyPr/>
          <a:lstStyle/>
          <a:p>
            <a:endParaRPr lang="it-IT"/>
          </a:p>
        </p:txBody>
      </p:sp>
      <p:sp>
        <p:nvSpPr>
          <p:cNvPr id="7" name="Segnaposto numero diapositiva 6"/>
          <p:cNvSpPr>
            <a:spLocks noGrp="1"/>
          </p:cNvSpPr>
          <p:nvPr>
            <p:ph type="sldNum" sz="quarter" idx="12"/>
          </p:nvPr>
        </p:nvSpPr>
        <p:spPr>
          <a:xfrm>
            <a:off x="6553200" y="6356350"/>
            <a:ext cx="2133600" cy="365125"/>
          </a:xfrm>
          <a:prstGeom prst="rect">
            <a:avLst/>
          </a:prstGeom>
        </p:spPr>
        <p:txBody>
          <a:bodyPr/>
          <a:lstStyle/>
          <a:p>
            <a:fld id="{F3EAF9BD-73C2-C944-967F-16A9AD6CE362}" type="slidenum">
              <a:rPr lang="it-IT" smtClean="0"/>
              <a:t>‹N›</a:t>
            </a:fld>
            <a:endParaRPr lang="it-IT"/>
          </a:p>
        </p:txBody>
      </p:sp>
    </p:spTree>
    <p:extLst>
      <p:ext uri="{BB962C8B-B14F-4D97-AF65-F5344CB8AC3E}">
        <p14:creationId xmlns:p14="http://schemas.microsoft.com/office/powerpoint/2010/main" val="29540628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p>
        </p:txBody>
      </p:sp>
      <p:sp>
        <p:nvSpPr>
          <p:cNvPr id="3" name="Segnaposto testo verticale 2"/>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a:xfrm>
            <a:off x="457200" y="6356350"/>
            <a:ext cx="2133600" cy="365125"/>
          </a:xfrm>
          <a:prstGeom prst="rect">
            <a:avLst/>
          </a:prstGeom>
        </p:spPr>
        <p:txBody>
          <a:bodyPr/>
          <a:lstStyle/>
          <a:p>
            <a:fld id="{2FDCBEE4-315A-8E42-835E-29A1DAE07625}" type="datetimeFigureOut">
              <a:rPr lang="it-IT" smtClean="0"/>
              <a:t>15/06/26</a:t>
            </a:fld>
            <a:endParaRPr lang="it-IT"/>
          </a:p>
        </p:txBody>
      </p:sp>
      <p:sp>
        <p:nvSpPr>
          <p:cNvPr id="5" name="Segnaposto piè di pagina 4"/>
          <p:cNvSpPr>
            <a:spLocks noGrp="1"/>
          </p:cNvSpPr>
          <p:nvPr>
            <p:ph type="ftr" sz="quarter" idx="11"/>
          </p:nvPr>
        </p:nvSpPr>
        <p:spPr>
          <a:xfrm>
            <a:off x="3124200" y="6356350"/>
            <a:ext cx="2895600" cy="365125"/>
          </a:xfrm>
          <a:prstGeom prst="rect">
            <a:avLst/>
          </a:prstGeom>
        </p:spPr>
        <p:txBody>
          <a:bodyPr/>
          <a:lstStyle/>
          <a:p>
            <a:endParaRPr lang="it-IT"/>
          </a:p>
        </p:txBody>
      </p:sp>
      <p:sp>
        <p:nvSpPr>
          <p:cNvPr id="6" name="Segnaposto numero diapositiva 5"/>
          <p:cNvSpPr>
            <a:spLocks noGrp="1"/>
          </p:cNvSpPr>
          <p:nvPr>
            <p:ph type="sldNum" sz="quarter" idx="12"/>
          </p:nvPr>
        </p:nvSpPr>
        <p:spPr>
          <a:xfrm>
            <a:off x="6553200" y="6356350"/>
            <a:ext cx="2133600" cy="365125"/>
          </a:xfrm>
          <a:prstGeom prst="rect">
            <a:avLst/>
          </a:prstGeom>
        </p:spPr>
        <p:txBody>
          <a:bodyPr/>
          <a:lstStyle/>
          <a:p>
            <a:fld id="{F3EAF9BD-73C2-C944-967F-16A9AD6CE362}" type="slidenum">
              <a:rPr lang="it-IT" smtClean="0"/>
              <a:t>‹N›</a:t>
            </a:fld>
            <a:endParaRPr lang="it-IT"/>
          </a:p>
        </p:txBody>
      </p:sp>
    </p:spTree>
    <p:extLst>
      <p:ext uri="{BB962C8B-B14F-4D97-AF65-F5344CB8AC3E}">
        <p14:creationId xmlns:p14="http://schemas.microsoft.com/office/powerpoint/2010/main" val="793106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verticale e testo">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74638"/>
            <a:ext cx="2057400" cy="5851525"/>
          </a:xfrm>
        </p:spPr>
        <p:txBody>
          <a:bodyPr vert="eaVert"/>
          <a:lstStyle/>
          <a:p>
            <a:r>
              <a:rPr lang="it-IT"/>
              <a:t>Fare clic per modificare stile</a:t>
            </a:r>
          </a:p>
        </p:txBody>
      </p:sp>
      <p:sp>
        <p:nvSpPr>
          <p:cNvPr id="3" name="Segnaposto testo verticale 2"/>
          <p:cNvSpPr>
            <a:spLocks noGrp="1"/>
          </p:cNvSpPr>
          <p:nvPr>
            <p:ph type="body" orient="vert" idx="1"/>
          </p:nvPr>
        </p:nvSpPr>
        <p:spPr>
          <a:xfrm>
            <a:off x="457200" y="274638"/>
            <a:ext cx="6019800" cy="5851525"/>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a:xfrm>
            <a:off x="457200" y="6356350"/>
            <a:ext cx="2133600" cy="365125"/>
          </a:xfrm>
          <a:prstGeom prst="rect">
            <a:avLst/>
          </a:prstGeom>
        </p:spPr>
        <p:txBody>
          <a:bodyPr/>
          <a:lstStyle/>
          <a:p>
            <a:fld id="{2FDCBEE4-315A-8E42-835E-29A1DAE07625}" type="datetimeFigureOut">
              <a:rPr lang="it-IT" smtClean="0"/>
              <a:t>15/06/26</a:t>
            </a:fld>
            <a:endParaRPr lang="it-IT"/>
          </a:p>
        </p:txBody>
      </p:sp>
      <p:sp>
        <p:nvSpPr>
          <p:cNvPr id="5" name="Segnaposto piè di pagina 4"/>
          <p:cNvSpPr>
            <a:spLocks noGrp="1"/>
          </p:cNvSpPr>
          <p:nvPr>
            <p:ph type="ftr" sz="quarter" idx="11"/>
          </p:nvPr>
        </p:nvSpPr>
        <p:spPr>
          <a:xfrm>
            <a:off x="3124200" y="6356350"/>
            <a:ext cx="2895600" cy="365125"/>
          </a:xfrm>
          <a:prstGeom prst="rect">
            <a:avLst/>
          </a:prstGeom>
        </p:spPr>
        <p:txBody>
          <a:bodyPr/>
          <a:lstStyle/>
          <a:p>
            <a:endParaRPr lang="it-IT"/>
          </a:p>
        </p:txBody>
      </p:sp>
      <p:sp>
        <p:nvSpPr>
          <p:cNvPr id="6" name="Segnaposto numero diapositiva 5"/>
          <p:cNvSpPr>
            <a:spLocks noGrp="1"/>
          </p:cNvSpPr>
          <p:nvPr>
            <p:ph type="sldNum" sz="quarter" idx="12"/>
          </p:nvPr>
        </p:nvSpPr>
        <p:spPr>
          <a:xfrm>
            <a:off x="6553200" y="6356350"/>
            <a:ext cx="2133600" cy="365125"/>
          </a:xfrm>
          <a:prstGeom prst="rect">
            <a:avLst/>
          </a:prstGeom>
        </p:spPr>
        <p:txBody>
          <a:bodyPr/>
          <a:lstStyle/>
          <a:p>
            <a:fld id="{F3EAF9BD-73C2-C944-967F-16A9AD6CE362}" type="slidenum">
              <a:rPr lang="it-IT" smtClean="0"/>
              <a:t>‹N›</a:t>
            </a:fld>
            <a:endParaRPr lang="it-IT"/>
          </a:p>
        </p:txBody>
      </p:sp>
    </p:spTree>
    <p:extLst>
      <p:ext uri="{BB962C8B-B14F-4D97-AF65-F5344CB8AC3E}">
        <p14:creationId xmlns:p14="http://schemas.microsoft.com/office/powerpoint/2010/main" val="3082130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182741" y="90093"/>
            <a:ext cx="8761797" cy="1143000"/>
          </a:xfrm>
          <a:prstGeom prst="rect">
            <a:avLst/>
          </a:prstGeom>
        </p:spPr>
        <p:txBody>
          <a:bodyPr vert="horz" lIns="91440" tIns="45720" rIns="91440" bIns="45720" rtlCol="0" anchor="ctr">
            <a:normAutofit/>
          </a:bodyPr>
          <a:lstStyle/>
          <a:p>
            <a:r>
              <a:rPr lang="en-US" noProof="0"/>
              <a:t>Fare </a:t>
            </a:r>
            <a:r>
              <a:rPr lang="en-US" noProof="0" err="1"/>
              <a:t>clic</a:t>
            </a:r>
            <a:r>
              <a:rPr lang="en-US" noProof="0"/>
              <a:t> per </a:t>
            </a:r>
            <a:r>
              <a:rPr lang="en-US" noProof="0" err="1"/>
              <a:t>modificare</a:t>
            </a:r>
            <a:r>
              <a:rPr lang="en-US" noProof="0"/>
              <a:t> stile</a:t>
            </a:r>
          </a:p>
        </p:txBody>
      </p:sp>
      <p:sp>
        <p:nvSpPr>
          <p:cNvPr id="3" name="Segnaposto testo 2"/>
          <p:cNvSpPr>
            <a:spLocks noGrp="1"/>
          </p:cNvSpPr>
          <p:nvPr>
            <p:ph type="body" idx="1"/>
          </p:nvPr>
        </p:nvSpPr>
        <p:spPr>
          <a:xfrm>
            <a:off x="182741" y="1350522"/>
            <a:ext cx="8761797" cy="4794457"/>
          </a:xfrm>
          <a:prstGeom prst="rect">
            <a:avLst/>
          </a:prstGeom>
        </p:spPr>
        <p:txBody>
          <a:bodyPr vert="horz" lIns="91440" tIns="45720" rIns="91440" bIns="45720" rtlCol="0">
            <a:normAutofit/>
          </a:bodyPr>
          <a:lstStyle/>
          <a:p>
            <a:pPr lvl="0"/>
            <a:r>
              <a:rPr lang="en-US" noProof="0"/>
              <a:t>Fare </a:t>
            </a:r>
            <a:r>
              <a:rPr lang="en-US" noProof="0" err="1"/>
              <a:t>clic</a:t>
            </a:r>
            <a:r>
              <a:rPr lang="en-US" noProof="0"/>
              <a:t> per </a:t>
            </a:r>
            <a:r>
              <a:rPr lang="en-US" noProof="0" err="1"/>
              <a:t>modificare</a:t>
            </a:r>
            <a:r>
              <a:rPr lang="en-US" noProof="0"/>
              <a:t> </a:t>
            </a:r>
            <a:r>
              <a:rPr lang="en-US" noProof="0" err="1"/>
              <a:t>gli</a:t>
            </a:r>
            <a:r>
              <a:rPr lang="en-US" noProof="0"/>
              <a:t> </a:t>
            </a:r>
            <a:r>
              <a:rPr lang="en-US" noProof="0" err="1"/>
              <a:t>stili</a:t>
            </a:r>
            <a:r>
              <a:rPr lang="en-US" noProof="0"/>
              <a:t> del </a:t>
            </a:r>
            <a:r>
              <a:rPr lang="en-US" noProof="0" err="1"/>
              <a:t>testo</a:t>
            </a:r>
            <a:r>
              <a:rPr lang="en-US" noProof="0"/>
              <a:t> </a:t>
            </a:r>
            <a:r>
              <a:rPr lang="en-US" noProof="0" err="1"/>
              <a:t>dello</a:t>
            </a:r>
            <a:r>
              <a:rPr lang="en-US" noProof="0"/>
              <a:t> schema</a:t>
            </a:r>
          </a:p>
          <a:p>
            <a:pPr lvl="1"/>
            <a:r>
              <a:rPr lang="en-US" noProof="0"/>
              <a:t>Secondo </a:t>
            </a:r>
            <a:r>
              <a:rPr lang="en-US" noProof="0" err="1"/>
              <a:t>livello</a:t>
            </a:r>
            <a:endParaRPr lang="en-US" noProof="0"/>
          </a:p>
          <a:p>
            <a:pPr lvl="2"/>
            <a:r>
              <a:rPr lang="en-US" noProof="0" err="1"/>
              <a:t>Terzo</a:t>
            </a:r>
            <a:r>
              <a:rPr lang="en-US" noProof="0"/>
              <a:t> </a:t>
            </a:r>
            <a:r>
              <a:rPr lang="en-US" noProof="0" err="1"/>
              <a:t>livello</a:t>
            </a:r>
            <a:endParaRPr lang="en-US" noProof="0"/>
          </a:p>
          <a:p>
            <a:pPr lvl="3"/>
            <a:r>
              <a:rPr lang="en-US" noProof="0"/>
              <a:t>Quarto </a:t>
            </a:r>
            <a:r>
              <a:rPr lang="en-US" noProof="0" err="1"/>
              <a:t>livello</a:t>
            </a:r>
            <a:endParaRPr lang="en-US" noProof="0"/>
          </a:p>
          <a:p>
            <a:pPr lvl="4"/>
            <a:r>
              <a:rPr lang="en-US" noProof="0" err="1"/>
              <a:t>Quinto</a:t>
            </a:r>
            <a:r>
              <a:rPr lang="en-US" noProof="0"/>
              <a:t> </a:t>
            </a:r>
            <a:r>
              <a:rPr lang="en-US" noProof="0" err="1"/>
              <a:t>livello</a:t>
            </a:r>
            <a:endParaRPr lang="en-US" noProof="0"/>
          </a:p>
        </p:txBody>
      </p:sp>
      <p:pic>
        <p:nvPicPr>
          <p:cNvPr id="9" name="Immagine 8" descr="crossLabLogo.pn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7130101" y="6226140"/>
            <a:ext cx="1556700" cy="511003"/>
          </a:xfrm>
          <a:prstGeom prst="rect">
            <a:avLst/>
          </a:prstGeom>
        </p:spPr>
      </p:pic>
      <p:pic>
        <p:nvPicPr>
          <p:cNvPr id="10" name="Immagine 9" descr="Schermata 2019-07-02 alle 11.33.44.png"/>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82742" y="6226140"/>
            <a:ext cx="2392045" cy="548860"/>
          </a:xfrm>
          <a:prstGeom prst="rect">
            <a:avLst/>
          </a:prstGeom>
        </p:spPr>
      </p:pic>
      <p:pic>
        <p:nvPicPr>
          <p:cNvPr id="12" name="Immagine 11" descr="logoUnipi.png"/>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4068848" y="6144979"/>
            <a:ext cx="1307462" cy="696420"/>
          </a:xfrm>
          <a:prstGeom prst="rect">
            <a:avLst/>
          </a:prstGeom>
        </p:spPr>
      </p:pic>
    </p:spTree>
    <p:extLst>
      <p:ext uri="{BB962C8B-B14F-4D97-AF65-F5344CB8AC3E}">
        <p14:creationId xmlns:p14="http://schemas.microsoft.com/office/powerpoint/2010/main" val="11478826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image" Target="../media/image33.png"/><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41.png"/></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image" Target="../media/image43.png"/></Relationships>
</file>

<file path=ppt/slides/_rels/slide3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hyperlink" Target="http://localhost:8080/swagger-ui/index.html" TargetMode="External"/><Relationship Id="rId2" Type="http://schemas.openxmlformats.org/officeDocument/2006/relationships/notesSlide" Target="../notesSlides/notesSlide29.xml"/><Relationship Id="rId1" Type="http://schemas.openxmlformats.org/officeDocument/2006/relationships/slideLayout" Target="../slideLayouts/slideLayout6.xml"/><Relationship Id="rId4" Type="http://schemas.openxmlformats.org/officeDocument/2006/relationships/image" Target="../media/image52.png"/></Relationships>
</file>

<file path=ppt/slides/_rels/slide4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ctrTitle"/>
          </p:nvPr>
        </p:nvSpPr>
        <p:spPr>
          <a:xfrm>
            <a:off x="46383" y="540164"/>
            <a:ext cx="9144000" cy="1470025"/>
          </a:xfrm>
        </p:spPr>
        <p:txBody>
          <a:bodyPr>
            <a:normAutofit/>
          </a:bodyPr>
          <a:lstStyle/>
          <a:p>
            <a:r>
              <a:rPr lang="en-US" sz="3900"/>
              <a:t>Large-Scale and Multi-Structured Databases</a:t>
            </a:r>
            <a:endParaRPr lang="en-US" sz="3300" i="1"/>
          </a:p>
        </p:txBody>
      </p:sp>
      <p:sp>
        <p:nvSpPr>
          <p:cNvPr id="3" name="Sottotitolo 2"/>
          <p:cNvSpPr>
            <a:spLocks noGrp="1"/>
          </p:cNvSpPr>
          <p:nvPr>
            <p:ph type="subTitle" idx="1"/>
          </p:nvPr>
        </p:nvSpPr>
        <p:spPr/>
        <p:txBody>
          <a:bodyPr/>
          <a:lstStyle/>
          <a:p>
            <a:r>
              <a:rPr lang="it-IT"/>
              <a:t>Eleonora </a:t>
            </a:r>
            <a:r>
              <a:rPr lang="it-IT" err="1"/>
              <a:t>Sgorbini</a:t>
            </a:r>
            <a:endParaRPr lang="it-IT"/>
          </a:p>
          <a:p>
            <a:r>
              <a:rPr lang="it-IT"/>
              <a:t>Megan Maremmani</a:t>
            </a:r>
          </a:p>
          <a:p>
            <a:r>
              <a:rPr lang="it-IT"/>
              <a:t>Chiara Masiero</a:t>
            </a:r>
          </a:p>
        </p:txBody>
      </p:sp>
      <p:pic>
        <p:nvPicPr>
          <p:cNvPr id="4" name="Immagine 3">
            <a:extLst>
              <a:ext uri="{FF2B5EF4-FFF2-40B4-BE49-F238E27FC236}">
                <a16:creationId xmlns:a16="http://schemas.microsoft.com/office/drawing/2014/main" id="{FAEE7280-65FE-59B8-D853-321D266EA8FE}"/>
              </a:ext>
            </a:extLst>
          </p:cNvPr>
          <p:cNvPicPr>
            <a:picLocks noChangeAspect="1"/>
          </p:cNvPicPr>
          <p:nvPr/>
        </p:nvPicPr>
        <p:blipFill>
          <a:blip r:embed="rId2"/>
          <a:srcRect t="17797" b="16000"/>
          <a:stretch>
            <a:fillRect/>
          </a:stretch>
        </p:blipFill>
        <p:spPr>
          <a:xfrm>
            <a:off x="898190" y="1908313"/>
            <a:ext cx="7440385" cy="1891748"/>
          </a:xfrm>
          <a:prstGeom prst="rect">
            <a:avLst/>
          </a:prstGeom>
        </p:spPr>
      </p:pic>
    </p:spTree>
    <p:extLst>
      <p:ext uri="{BB962C8B-B14F-4D97-AF65-F5344CB8AC3E}">
        <p14:creationId xmlns:p14="http://schemas.microsoft.com/office/powerpoint/2010/main" val="16214697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2387B-9513-A290-B4A0-F1AC86631D5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ACA56E5-98DB-81EF-9AB1-0BD31AD6E302}"/>
              </a:ext>
            </a:extLst>
          </p:cNvPr>
          <p:cNvSpPr>
            <a:spLocks noGrp="1"/>
          </p:cNvSpPr>
          <p:nvPr>
            <p:ph type="title"/>
          </p:nvPr>
        </p:nvSpPr>
        <p:spPr>
          <a:xfrm>
            <a:off x="191101" y="0"/>
            <a:ext cx="8761797" cy="1143000"/>
          </a:xfrm>
        </p:spPr>
        <p:txBody>
          <a:bodyPr/>
          <a:lstStyle/>
          <a:p>
            <a:r>
              <a:rPr lang="en-US"/>
              <a:t>Application Highlights</a:t>
            </a:r>
          </a:p>
        </p:txBody>
      </p:sp>
      <p:sp>
        <p:nvSpPr>
          <p:cNvPr id="3" name="CasellaDiTesto 2">
            <a:extLst>
              <a:ext uri="{FF2B5EF4-FFF2-40B4-BE49-F238E27FC236}">
                <a16:creationId xmlns:a16="http://schemas.microsoft.com/office/drawing/2014/main" id="{7CD447AC-3C5D-187B-1286-5CBD0F1817A2}"/>
              </a:ext>
            </a:extLst>
          </p:cNvPr>
          <p:cNvSpPr txBox="1"/>
          <p:nvPr/>
        </p:nvSpPr>
        <p:spPr>
          <a:xfrm>
            <a:off x="400050" y="1037150"/>
            <a:ext cx="8343900" cy="6078587"/>
          </a:xfrm>
          <a:prstGeom prst="rect">
            <a:avLst/>
          </a:prstGeom>
          <a:noFill/>
        </p:spPr>
        <p:txBody>
          <a:bodyPr wrap="square" rtlCol="0">
            <a:spAutoFit/>
          </a:bodyPr>
          <a:lstStyle/>
          <a:p>
            <a:pPr algn="ctr"/>
            <a:r>
              <a:rPr lang="en-US" i="1" dirty="0" err="1"/>
              <a:t>MySmartRecipeBook</a:t>
            </a:r>
            <a:r>
              <a:rPr lang="en-US" dirty="0"/>
              <a:t> is a recipe based web application designed to discover professional recipes and  help you reducing food waste!</a:t>
            </a:r>
          </a:p>
          <a:p>
            <a:pPr algn="just"/>
            <a:endParaRPr lang="en-US" dirty="0"/>
          </a:p>
          <a:p>
            <a:pPr marL="285750" indent="-285750" algn="just">
              <a:buFont typeface="Arial" panose="020B0604020202020204" pitchFamily="34" charset="0"/>
              <a:buChar char="•"/>
            </a:pPr>
            <a:r>
              <a:rPr lang="en-US" b="1" dirty="0"/>
              <a:t>Advanced Search</a:t>
            </a:r>
            <a:r>
              <a:rPr lang="en-US" dirty="0"/>
              <a:t>: Users can browse through thousands of recipes using detailed filters such as category, or specific chefs, and save their favorite.</a:t>
            </a:r>
          </a:p>
          <a:p>
            <a:pPr marL="285750" indent="-285750" algn="just">
              <a:buFont typeface="Arial" panose="020B0604020202020204" pitchFamily="34" charset="0"/>
              <a:buChar char="•"/>
            </a:pPr>
            <a:endParaRPr lang="en-US" sz="800" dirty="0"/>
          </a:p>
          <a:p>
            <a:pPr algn="just"/>
            <a:r>
              <a:rPr lang="en-US" sz="500" dirty="0"/>
              <a:t> </a:t>
            </a:r>
          </a:p>
          <a:p>
            <a:pPr marL="285750" indent="-285750" algn="just">
              <a:buFont typeface="Arial" panose="020B0604020202020204" pitchFamily="34" charset="0"/>
              <a:buChar char="•"/>
            </a:pPr>
            <a:r>
              <a:rPr lang="en-US" b="1" dirty="0"/>
              <a:t>Smart Fridge</a:t>
            </a:r>
            <a:r>
              <a:rPr lang="en-US" dirty="0"/>
              <a:t>: This feature allows users to input available ingredients from their pantry to receive recipe recommendations, promoting culinary creativity and reducing food waste.</a:t>
            </a:r>
          </a:p>
          <a:p>
            <a:pPr marL="285750" indent="-285750" algn="just">
              <a:buFont typeface="Arial" panose="020B0604020202020204" pitchFamily="34" charset="0"/>
              <a:buChar char="•"/>
            </a:pPr>
            <a:endParaRPr lang="en-US" sz="800" dirty="0"/>
          </a:p>
          <a:p>
            <a:pPr marL="285750" indent="-285750" algn="just">
              <a:buFont typeface="Arial" panose="020B0604020202020204" pitchFamily="34" charset="0"/>
              <a:buChar char="•"/>
            </a:pPr>
            <a:r>
              <a:rPr lang="en-US" b="1" dirty="0"/>
              <a:t>Smart Shopping List</a:t>
            </a:r>
            <a:r>
              <a:rPr lang="en-US" dirty="0"/>
              <a:t>: The application includes a portable digital shopping list that allows users to keep track of necessary ingredients while at the supermarket.</a:t>
            </a:r>
          </a:p>
          <a:p>
            <a:pPr marL="285750" indent="-285750" algn="just">
              <a:buFont typeface="Arial" panose="020B0604020202020204" pitchFamily="34" charset="0"/>
              <a:buChar char="•"/>
            </a:pPr>
            <a:endParaRPr lang="en-US" sz="800" dirty="0"/>
          </a:p>
          <a:p>
            <a:pPr marL="285750" indent="-285750" algn="just">
              <a:buFont typeface="Arial" panose="020B0604020202020204" pitchFamily="34" charset="0"/>
              <a:buChar char="•"/>
            </a:pPr>
            <a:r>
              <a:rPr lang="en-US" b="1" dirty="0"/>
              <a:t>Application Analytics</a:t>
            </a:r>
            <a:r>
              <a:rPr lang="en-US" dirty="0"/>
              <a:t>: The platform provides insights into culinary trends, enabling the Admin to track monthly registrations, monitor the most popular chefs, and identify trending recipe categories.</a:t>
            </a:r>
          </a:p>
          <a:p>
            <a:pPr marL="285750" indent="-285750" algn="just">
              <a:buFont typeface="Arial" panose="020B0604020202020204" pitchFamily="34" charset="0"/>
              <a:buChar char="•"/>
            </a:pPr>
            <a:endParaRPr lang="en-US" sz="800" dirty="0"/>
          </a:p>
          <a:p>
            <a:pPr marL="285750" indent="-285750" algn="just">
              <a:buFont typeface="Arial" panose="020B0604020202020204" pitchFamily="34" charset="0"/>
              <a:buChar char="•"/>
            </a:pPr>
            <a:r>
              <a:rPr lang="en-US" b="1" dirty="0"/>
              <a:t>Certified Content</a:t>
            </a:r>
            <a:r>
              <a:rPr lang="en-US" dirty="0"/>
              <a:t>: A dedicated administrative layer ensures a safe environment by verifying chefs’ registration request and reviewing all submitted recipes before publication to maintain high-quality standards.</a:t>
            </a:r>
          </a:p>
          <a:p>
            <a:pPr marL="285750" indent="-285750" algn="just">
              <a:buFont typeface="Arial" panose="020B0604020202020204" pitchFamily="34" charset="0"/>
              <a:buChar char="•"/>
            </a:pPr>
            <a:endParaRPr lang="en-US" i="1" dirty="0"/>
          </a:p>
          <a:p>
            <a:pPr algn="just"/>
            <a:endParaRPr lang="en-US" dirty="0"/>
          </a:p>
          <a:p>
            <a:pPr marL="285750" indent="-285750" algn="just">
              <a:buFont typeface="Arial" panose="020B0604020202020204" pitchFamily="34" charset="0"/>
              <a:buChar char="•"/>
            </a:pPr>
            <a:endParaRPr lang="en-US" dirty="0"/>
          </a:p>
        </p:txBody>
      </p:sp>
    </p:spTree>
    <p:extLst>
      <p:ext uri="{BB962C8B-B14F-4D97-AF65-F5344CB8AC3E}">
        <p14:creationId xmlns:p14="http://schemas.microsoft.com/office/powerpoint/2010/main" val="17830188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11D8A20-7DC5-3042-A86D-62CF3361ACA7}"/>
              </a:ext>
            </a:extLst>
          </p:cNvPr>
          <p:cNvSpPr>
            <a:spLocks noGrp="1"/>
          </p:cNvSpPr>
          <p:nvPr>
            <p:ph type="title"/>
          </p:nvPr>
        </p:nvSpPr>
        <p:spPr>
          <a:xfrm>
            <a:off x="282829" y="0"/>
            <a:ext cx="8761797" cy="1143000"/>
          </a:xfrm>
        </p:spPr>
        <p:txBody>
          <a:bodyPr>
            <a:normAutofit/>
          </a:bodyPr>
          <a:lstStyle/>
          <a:p>
            <a:r>
              <a:rPr lang="en-US"/>
              <a:t>Actors and Mockups (</a:t>
            </a:r>
            <a:r>
              <a:rPr lang="en-US" err="1"/>
              <a:t>i</a:t>
            </a:r>
            <a:r>
              <a:rPr lang="en-US"/>
              <a:t>)</a:t>
            </a:r>
          </a:p>
        </p:txBody>
      </p:sp>
      <p:sp>
        <p:nvSpPr>
          <p:cNvPr id="3" name="CasellaDiTesto 2">
            <a:extLst>
              <a:ext uri="{FF2B5EF4-FFF2-40B4-BE49-F238E27FC236}">
                <a16:creationId xmlns:a16="http://schemas.microsoft.com/office/drawing/2014/main" id="{391F4034-971B-8A4B-888B-5902E8333D6B}"/>
              </a:ext>
            </a:extLst>
          </p:cNvPr>
          <p:cNvSpPr txBox="1"/>
          <p:nvPr/>
        </p:nvSpPr>
        <p:spPr>
          <a:xfrm>
            <a:off x="282829" y="912168"/>
            <a:ext cx="8213271" cy="369332"/>
          </a:xfrm>
          <a:prstGeom prst="rect">
            <a:avLst/>
          </a:prstGeom>
          <a:noFill/>
        </p:spPr>
        <p:txBody>
          <a:bodyPr wrap="square" rtlCol="0">
            <a:spAutoFit/>
          </a:bodyPr>
          <a:lstStyle/>
          <a:p>
            <a:r>
              <a:rPr lang="en-US" b="1" i="1" u="sng"/>
              <a:t>Unregistered User</a:t>
            </a:r>
          </a:p>
        </p:txBody>
      </p:sp>
      <p:pic>
        <p:nvPicPr>
          <p:cNvPr id="5" name="Immagine 4" descr="Immagine che contiene testo, schermata, Pagina Web, Sito Web&#10;&#10;Il contenuto generato dall'IA potrebbe non essere corretto.">
            <a:extLst>
              <a:ext uri="{FF2B5EF4-FFF2-40B4-BE49-F238E27FC236}">
                <a16:creationId xmlns:a16="http://schemas.microsoft.com/office/drawing/2014/main" id="{7966A980-AE35-BD2A-FDA3-A210FEE88F43}"/>
              </a:ext>
            </a:extLst>
          </p:cNvPr>
          <p:cNvPicPr>
            <a:picLocks noChangeAspect="1"/>
          </p:cNvPicPr>
          <p:nvPr/>
        </p:nvPicPr>
        <p:blipFill rotWithShape="1">
          <a:blip r:embed="rId3"/>
          <a:srcRect l="2821" t="-470" r="2165" b="577"/>
          <a:stretch>
            <a:fillRect/>
          </a:stretch>
        </p:blipFill>
        <p:spPr>
          <a:xfrm>
            <a:off x="1514152" y="1281500"/>
            <a:ext cx="6115695" cy="4233889"/>
          </a:xfrm>
          <a:prstGeom prst="rect">
            <a:avLst/>
          </a:prstGeom>
        </p:spPr>
      </p:pic>
      <p:sp>
        <p:nvSpPr>
          <p:cNvPr id="6" name="TextBox 5">
            <a:extLst>
              <a:ext uri="{FF2B5EF4-FFF2-40B4-BE49-F238E27FC236}">
                <a16:creationId xmlns:a16="http://schemas.microsoft.com/office/drawing/2014/main" id="{075331F9-A7EB-AFCC-D72D-AD3483CEFDE3}"/>
              </a:ext>
            </a:extLst>
          </p:cNvPr>
          <p:cNvSpPr txBox="1"/>
          <p:nvPr/>
        </p:nvSpPr>
        <p:spPr>
          <a:xfrm>
            <a:off x="358427" y="5554346"/>
            <a:ext cx="8610599" cy="553998"/>
          </a:xfrm>
          <a:prstGeom prst="rect">
            <a:avLst/>
          </a:prstGeom>
          <a:noFill/>
        </p:spPr>
        <p:txBody>
          <a:bodyPr wrap="square">
            <a:spAutoFit/>
          </a:bodyPr>
          <a:lstStyle/>
          <a:p>
            <a:pPr algn="ctr"/>
            <a:r>
              <a:rPr lang="en-US" sz="1500"/>
              <a:t>The homepage is designed with a search bar for finding recipes via title or substring matching, and it immediately presents users with the newest recipes available in the application.</a:t>
            </a:r>
            <a:endParaRPr lang="it-IT" sz="1500"/>
          </a:p>
        </p:txBody>
      </p:sp>
    </p:spTree>
    <p:extLst>
      <p:ext uri="{BB962C8B-B14F-4D97-AF65-F5344CB8AC3E}">
        <p14:creationId xmlns:p14="http://schemas.microsoft.com/office/powerpoint/2010/main" val="710998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CFA37-B4D2-5E2E-C141-1B51DE5015C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3EE0558-5742-9822-AE6C-9D1B35D18CC9}"/>
              </a:ext>
            </a:extLst>
          </p:cNvPr>
          <p:cNvSpPr>
            <a:spLocks noGrp="1"/>
          </p:cNvSpPr>
          <p:nvPr>
            <p:ph type="title"/>
          </p:nvPr>
        </p:nvSpPr>
        <p:spPr>
          <a:xfrm>
            <a:off x="191101" y="0"/>
            <a:ext cx="8761797" cy="1143000"/>
          </a:xfrm>
        </p:spPr>
        <p:txBody>
          <a:bodyPr>
            <a:normAutofit/>
          </a:bodyPr>
          <a:lstStyle/>
          <a:p>
            <a:r>
              <a:rPr lang="en-US"/>
              <a:t>Actors and Mockups (ii) </a:t>
            </a:r>
          </a:p>
        </p:txBody>
      </p:sp>
      <p:pic>
        <p:nvPicPr>
          <p:cNvPr id="4" name="Immagine 3" descr="Immagine che contiene testo, Cucina, pasto, cibo&#10;&#10;Il contenuto generato dall'IA potrebbe non essere corretto.">
            <a:extLst>
              <a:ext uri="{FF2B5EF4-FFF2-40B4-BE49-F238E27FC236}">
                <a16:creationId xmlns:a16="http://schemas.microsoft.com/office/drawing/2014/main" id="{40A9E86B-0765-E747-88A0-5C6C275A1E0A}"/>
              </a:ext>
            </a:extLst>
          </p:cNvPr>
          <p:cNvPicPr>
            <a:picLocks noChangeAspect="1"/>
          </p:cNvPicPr>
          <p:nvPr/>
        </p:nvPicPr>
        <p:blipFill>
          <a:blip r:embed="rId2"/>
          <a:stretch>
            <a:fillRect/>
          </a:stretch>
        </p:blipFill>
        <p:spPr>
          <a:xfrm>
            <a:off x="598783" y="1584651"/>
            <a:ext cx="7946433" cy="3688697"/>
          </a:xfrm>
          <a:prstGeom prst="rect">
            <a:avLst/>
          </a:prstGeom>
        </p:spPr>
      </p:pic>
      <p:sp>
        <p:nvSpPr>
          <p:cNvPr id="6" name="CasellaDiTesto 2">
            <a:extLst>
              <a:ext uri="{FF2B5EF4-FFF2-40B4-BE49-F238E27FC236}">
                <a16:creationId xmlns:a16="http://schemas.microsoft.com/office/drawing/2014/main" id="{0E9EB363-D719-8CF1-027A-E1DEAB0F5739}"/>
              </a:ext>
            </a:extLst>
          </p:cNvPr>
          <p:cNvSpPr txBox="1"/>
          <p:nvPr/>
        </p:nvSpPr>
        <p:spPr>
          <a:xfrm>
            <a:off x="282829" y="1048427"/>
            <a:ext cx="8213271" cy="369332"/>
          </a:xfrm>
          <a:prstGeom prst="rect">
            <a:avLst/>
          </a:prstGeom>
          <a:noFill/>
        </p:spPr>
        <p:txBody>
          <a:bodyPr wrap="square" rtlCol="0">
            <a:spAutoFit/>
          </a:bodyPr>
          <a:lstStyle/>
          <a:p>
            <a:r>
              <a:rPr lang="en-US" b="1" i="1" u="sng"/>
              <a:t>Unregistered User</a:t>
            </a:r>
          </a:p>
        </p:txBody>
      </p:sp>
      <p:sp>
        <p:nvSpPr>
          <p:cNvPr id="8" name="TextBox 7">
            <a:extLst>
              <a:ext uri="{FF2B5EF4-FFF2-40B4-BE49-F238E27FC236}">
                <a16:creationId xmlns:a16="http://schemas.microsoft.com/office/drawing/2014/main" id="{906C83B3-C289-7F96-4BD0-9E25ED0ADA31}"/>
              </a:ext>
            </a:extLst>
          </p:cNvPr>
          <p:cNvSpPr txBox="1"/>
          <p:nvPr/>
        </p:nvSpPr>
        <p:spPr>
          <a:xfrm>
            <a:off x="1110342" y="5438000"/>
            <a:ext cx="6923314" cy="553998"/>
          </a:xfrm>
          <a:prstGeom prst="rect">
            <a:avLst/>
          </a:prstGeom>
          <a:noFill/>
        </p:spPr>
        <p:txBody>
          <a:bodyPr wrap="square">
            <a:spAutoFit/>
          </a:bodyPr>
          <a:lstStyle/>
          <a:p>
            <a:pPr algn="ctr"/>
            <a:r>
              <a:rPr lang="it-IT" sz="1500"/>
              <a:t>By </a:t>
            </a:r>
            <a:r>
              <a:rPr lang="it-IT" sz="1500" err="1"/>
              <a:t>clicking</a:t>
            </a:r>
            <a:r>
              <a:rPr lang="it-IT" sz="1500"/>
              <a:t> the </a:t>
            </a:r>
            <a:r>
              <a:rPr lang="it-IT" sz="1500" err="1"/>
              <a:t>dedicated</a:t>
            </a:r>
            <a:r>
              <a:rPr lang="it-IT" sz="1500"/>
              <a:t> </a:t>
            </a:r>
            <a:r>
              <a:rPr lang="it-IT" sz="1500" err="1"/>
              <a:t>button</a:t>
            </a:r>
            <a:r>
              <a:rPr lang="it-IT" sz="1500"/>
              <a:t> on the homepage, users can </a:t>
            </a:r>
            <a:r>
              <a:rPr lang="it-IT" sz="1500" err="1"/>
              <a:t>instantly</a:t>
            </a:r>
            <a:r>
              <a:rPr lang="it-IT" sz="1500"/>
              <a:t> </a:t>
            </a:r>
            <a:r>
              <a:rPr lang="it-IT" sz="1500" err="1"/>
              <a:t>view</a:t>
            </a:r>
            <a:r>
              <a:rPr lang="it-IT" sz="1500"/>
              <a:t> the </a:t>
            </a:r>
            <a:r>
              <a:rPr lang="it-IT" sz="1500" err="1"/>
              <a:t>most</a:t>
            </a:r>
            <a:r>
              <a:rPr lang="it-IT" sz="1500"/>
              <a:t> </a:t>
            </a:r>
            <a:r>
              <a:rPr lang="it-IT" sz="1500" err="1"/>
              <a:t>popular</a:t>
            </a:r>
            <a:r>
              <a:rPr lang="it-IT" sz="1500"/>
              <a:t> recipe for </a:t>
            </a:r>
            <a:r>
              <a:rPr lang="it-IT" sz="1500" err="1"/>
              <a:t>each</a:t>
            </a:r>
            <a:r>
              <a:rPr lang="it-IT" sz="1500"/>
              <a:t> </a:t>
            </a:r>
            <a:r>
              <a:rPr lang="it-IT" sz="1500" err="1"/>
              <a:t>available</a:t>
            </a:r>
            <a:r>
              <a:rPr lang="it-IT" sz="1500"/>
              <a:t> </a:t>
            </a:r>
            <a:r>
              <a:rPr lang="it-IT" sz="1500" err="1"/>
              <a:t>category</a:t>
            </a:r>
            <a:r>
              <a:rPr lang="it-IT" sz="1500"/>
              <a:t>.</a:t>
            </a:r>
          </a:p>
        </p:txBody>
      </p:sp>
    </p:spTree>
    <p:extLst>
      <p:ext uri="{BB962C8B-B14F-4D97-AF65-F5344CB8AC3E}">
        <p14:creationId xmlns:p14="http://schemas.microsoft.com/office/powerpoint/2010/main" val="23118981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694FE-A43B-C566-DE8E-FB2834C0ED8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64A061A-FDEF-B233-84F5-D1C3C1D877A5}"/>
              </a:ext>
            </a:extLst>
          </p:cNvPr>
          <p:cNvSpPr>
            <a:spLocks noGrp="1"/>
          </p:cNvSpPr>
          <p:nvPr>
            <p:ph type="title"/>
          </p:nvPr>
        </p:nvSpPr>
        <p:spPr>
          <a:xfrm>
            <a:off x="191101" y="0"/>
            <a:ext cx="8761797" cy="1143000"/>
          </a:xfrm>
        </p:spPr>
        <p:txBody>
          <a:bodyPr>
            <a:normAutofit/>
          </a:bodyPr>
          <a:lstStyle/>
          <a:p>
            <a:r>
              <a:rPr lang="en-US"/>
              <a:t>Actors and Mockups (iii)</a:t>
            </a:r>
          </a:p>
        </p:txBody>
      </p:sp>
      <p:sp>
        <p:nvSpPr>
          <p:cNvPr id="8" name="CasellaDiTesto 7">
            <a:extLst>
              <a:ext uri="{FF2B5EF4-FFF2-40B4-BE49-F238E27FC236}">
                <a16:creationId xmlns:a16="http://schemas.microsoft.com/office/drawing/2014/main" id="{EE6ED896-CE08-2451-F6A1-803D290F9614}"/>
              </a:ext>
            </a:extLst>
          </p:cNvPr>
          <p:cNvSpPr txBox="1"/>
          <p:nvPr/>
        </p:nvSpPr>
        <p:spPr>
          <a:xfrm>
            <a:off x="407051" y="5622667"/>
            <a:ext cx="8008367" cy="553998"/>
          </a:xfrm>
          <a:prstGeom prst="rect">
            <a:avLst/>
          </a:prstGeom>
          <a:noFill/>
        </p:spPr>
        <p:txBody>
          <a:bodyPr wrap="square" rtlCol="0">
            <a:spAutoFit/>
          </a:bodyPr>
          <a:lstStyle/>
          <a:p>
            <a:pPr algn="ctr"/>
            <a:r>
              <a:rPr lang="en-US" sz="1500" dirty="0"/>
              <a:t>Any user can search recipes, browse categories and view complete recipe details before registering.</a:t>
            </a:r>
          </a:p>
          <a:p>
            <a:endParaRPr lang="it-IT" sz="1500" dirty="0"/>
          </a:p>
        </p:txBody>
      </p:sp>
      <p:pic>
        <p:nvPicPr>
          <p:cNvPr id="7" name="Immagine 6">
            <a:extLst>
              <a:ext uri="{FF2B5EF4-FFF2-40B4-BE49-F238E27FC236}">
                <a16:creationId xmlns:a16="http://schemas.microsoft.com/office/drawing/2014/main" id="{466E6336-796A-C9A9-4FD0-ED27F3EEB68A}"/>
              </a:ext>
            </a:extLst>
          </p:cNvPr>
          <p:cNvPicPr>
            <a:picLocks noChangeAspect="1"/>
          </p:cNvPicPr>
          <p:nvPr/>
        </p:nvPicPr>
        <p:blipFill>
          <a:blip r:embed="rId2"/>
          <a:stretch>
            <a:fillRect/>
          </a:stretch>
        </p:blipFill>
        <p:spPr>
          <a:xfrm>
            <a:off x="1359837" y="1372712"/>
            <a:ext cx="6424324" cy="4204908"/>
          </a:xfrm>
          <a:prstGeom prst="rect">
            <a:avLst/>
          </a:prstGeom>
        </p:spPr>
      </p:pic>
      <p:sp>
        <p:nvSpPr>
          <p:cNvPr id="5" name="CasellaDiTesto 2">
            <a:extLst>
              <a:ext uri="{FF2B5EF4-FFF2-40B4-BE49-F238E27FC236}">
                <a16:creationId xmlns:a16="http://schemas.microsoft.com/office/drawing/2014/main" id="{99B806A2-D93B-8F46-0EC1-4130A22CD655}"/>
              </a:ext>
            </a:extLst>
          </p:cNvPr>
          <p:cNvSpPr txBox="1"/>
          <p:nvPr/>
        </p:nvSpPr>
        <p:spPr>
          <a:xfrm>
            <a:off x="304600" y="958334"/>
            <a:ext cx="8213271" cy="369332"/>
          </a:xfrm>
          <a:prstGeom prst="rect">
            <a:avLst/>
          </a:prstGeom>
          <a:noFill/>
        </p:spPr>
        <p:txBody>
          <a:bodyPr wrap="square" rtlCol="0">
            <a:spAutoFit/>
          </a:bodyPr>
          <a:lstStyle/>
          <a:p>
            <a:r>
              <a:rPr lang="en-US" b="1" i="1" u="sng"/>
              <a:t>Unregistered User</a:t>
            </a:r>
          </a:p>
        </p:txBody>
      </p:sp>
    </p:spTree>
    <p:extLst>
      <p:ext uri="{BB962C8B-B14F-4D97-AF65-F5344CB8AC3E}">
        <p14:creationId xmlns:p14="http://schemas.microsoft.com/office/powerpoint/2010/main" val="42326445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A2C0F-E214-497D-305C-8BF739082DC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EF4964AF-AA85-4A0E-C506-EA977A6F13B3}"/>
              </a:ext>
            </a:extLst>
          </p:cNvPr>
          <p:cNvSpPr>
            <a:spLocks noGrp="1"/>
          </p:cNvSpPr>
          <p:nvPr>
            <p:ph type="title"/>
          </p:nvPr>
        </p:nvSpPr>
        <p:spPr>
          <a:xfrm>
            <a:off x="191101" y="26881"/>
            <a:ext cx="8761797" cy="1143000"/>
          </a:xfrm>
        </p:spPr>
        <p:txBody>
          <a:bodyPr>
            <a:normAutofit/>
          </a:bodyPr>
          <a:lstStyle/>
          <a:p>
            <a:r>
              <a:rPr lang="en-US"/>
              <a:t>Actors and Mockups (iv)</a:t>
            </a:r>
          </a:p>
        </p:txBody>
      </p:sp>
      <p:pic>
        <p:nvPicPr>
          <p:cNvPr id="5" name="Immagine 4">
            <a:extLst>
              <a:ext uri="{FF2B5EF4-FFF2-40B4-BE49-F238E27FC236}">
                <a16:creationId xmlns:a16="http://schemas.microsoft.com/office/drawing/2014/main" id="{91C05081-5E50-8EBD-D010-873EF55B4443}"/>
              </a:ext>
            </a:extLst>
          </p:cNvPr>
          <p:cNvPicPr>
            <a:picLocks noChangeAspect="1"/>
          </p:cNvPicPr>
          <p:nvPr/>
        </p:nvPicPr>
        <p:blipFill>
          <a:blip r:embed="rId2"/>
          <a:stretch>
            <a:fillRect/>
          </a:stretch>
        </p:blipFill>
        <p:spPr>
          <a:xfrm>
            <a:off x="325778" y="1539792"/>
            <a:ext cx="5682829" cy="2543693"/>
          </a:xfrm>
          <a:prstGeom prst="rect">
            <a:avLst/>
          </a:prstGeom>
        </p:spPr>
      </p:pic>
      <p:pic>
        <p:nvPicPr>
          <p:cNvPr id="10" name="Immagine 9">
            <a:extLst>
              <a:ext uri="{FF2B5EF4-FFF2-40B4-BE49-F238E27FC236}">
                <a16:creationId xmlns:a16="http://schemas.microsoft.com/office/drawing/2014/main" id="{6A4937E9-B265-FFCB-C69E-46CC5FB7134E}"/>
              </a:ext>
            </a:extLst>
          </p:cNvPr>
          <p:cNvPicPr>
            <a:picLocks noChangeAspect="1"/>
          </p:cNvPicPr>
          <p:nvPr/>
        </p:nvPicPr>
        <p:blipFill>
          <a:blip r:embed="rId3"/>
          <a:stretch>
            <a:fillRect/>
          </a:stretch>
        </p:blipFill>
        <p:spPr>
          <a:xfrm>
            <a:off x="4032335" y="2479337"/>
            <a:ext cx="4912203" cy="3519904"/>
          </a:xfrm>
          <a:prstGeom prst="rect">
            <a:avLst/>
          </a:prstGeom>
        </p:spPr>
      </p:pic>
      <p:sp>
        <p:nvSpPr>
          <p:cNvPr id="4" name="CasellaDiTesto 3">
            <a:extLst>
              <a:ext uri="{FF2B5EF4-FFF2-40B4-BE49-F238E27FC236}">
                <a16:creationId xmlns:a16="http://schemas.microsoft.com/office/drawing/2014/main" id="{64D13A50-793C-9CDF-E19A-DC1B0E09A1E3}"/>
              </a:ext>
            </a:extLst>
          </p:cNvPr>
          <p:cNvSpPr txBox="1"/>
          <p:nvPr/>
        </p:nvSpPr>
        <p:spPr>
          <a:xfrm>
            <a:off x="545304" y="4533531"/>
            <a:ext cx="3267506" cy="1015663"/>
          </a:xfrm>
          <a:prstGeom prst="rect">
            <a:avLst/>
          </a:prstGeom>
          <a:noFill/>
        </p:spPr>
        <p:txBody>
          <a:bodyPr wrap="square" rtlCol="0">
            <a:spAutoFit/>
          </a:bodyPr>
          <a:lstStyle/>
          <a:p>
            <a:pPr algn="ctr"/>
            <a:r>
              <a:rPr lang="it-IT" sz="1500" dirty="0" err="1"/>
              <a:t>Unregistered</a:t>
            </a:r>
            <a:r>
              <a:rPr lang="it-IT" sz="1500" dirty="0"/>
              <a:t> users can </a:t>
            </a:r>
            <a:r>
              <a:rPr lang="it-IT" sz="1500" dirty="0" err="1"/>
              <a:t>browse</a:t>
            </a:r>
            <a:r>
              <a:rPr lang="it-IT" sz="1500" dirty="0"/>
              <a:t> chefs, </a:t>
            </a:r>
            <a:r>
              <a:rPr lang="it-IT" sz="1500" dirty="0" err="1"/>
              <a:t>searching</a:t>
            </a:r>
            <a:r>
              <a:rPr lang="it-IT" sz="1500" dirty="0"/>
              <a:t> </a:t>
            </a:r>
            <a:r>
              <a:rPr lang="it-IT" sz="1500" dirty="0" err="1"/>
              <a:t>them</a:t>
            </a:r>
            <a:r>
              <a:rPr lang="it-IT" sz="1500" dirty="0"/>
              <a:t> by </a:t>
            </a:r>
            <a:r>
              <a:rPr lang="it-IT" sz="1500" dirty="0" err="1"/>
              <a:t>surname</a:t>
            </a:r>
            <a:r>
              <a:rPr lang="it-IT" sz="1500" dirty="0"/>
              <a:t> and </a:t>
            </a:r>
            <a:r>
              <a:rPr lang="it-IT" sz="1500" dirty="0" err="1"/>
              <a:t>explore</a:t>
            </a:r>
            <a:r>
              <a:rPr lang="it-IT" sz="1500" dirty="0"/>
              <a:t> </a:t>
            </a:r>
            <a:r>
              <a:rPr lang="it-IT" sz="1500" dirty="0" err="1"/>
              <a:t>their</a:t>
            </a:r>
            <a:r>
              <a:rPr lang="it-IT" sz="1500" dirty="0"/>
              <a:t> </a:t>
            </a:r>
            <a:r>
              <a:rPr lang="it-IT" sz="1500" dirty="0" err="1"/>
              <a:t>published</a:t>
            </a:r>
            <a:r>
              <a:rPr lang="it-IT" sz="1500" dirty="0"/>
              <a:t> </a:t>
            </a:r>
            <a:r>
              <a:rPr lang="it-IT" sz="1500" dirty="0" err="1"/>
              <a:t>recipes</a:t>
            </a:r>
            <a:r>
              <a:rPr lang="it-IT" sz="1500" dirty="0"/>
              <a:t>.</a:t>
            </a:r>
          </a:p>
          <a:p>
            <a:endParaRPr lang="it-IT" sz="1500" dirty="0"/>
          </a:p>
        </p:txBody>
      </p:sp>
      <p:sp>
        <p:nvSpPr>
          <p:cNvPr id="7" name="CasellaDiTesto 2">
            <a:extLst>
              <a:ext uri="{FF2B5EF4-FFF2-40B4-BE49-F238E27FC236}">
                <a16:creationId xmlns:a16="http://schemas.microsoft.com/office/drawing/2014/main" id="{94F21F6A-3AB6-E9F7-33AD-8293DB8D5320}"/>
              </a:ext>
            </a:extLst>
          </p:cNvPr>
          <p:cNvSpPr txBox="1"/>
          <p:nvPr/>
        </p:nvSpPr>
        <p:spPr>
          <a:xfrm>
            <a:off x="282829" y="1048427"/>
            <a:ext cx="8213271" cy="369332"/>
          </a:xfrm>
          <a:prstGeom prst="rect">
            <a:avLst/>
          </a:prstGeom>
          <a:noFill/>
        </p:spPr>
        <p:txBody>
          <a:bodyPr wrap="square" rtlCol="0">
            <a:spAutoFit/>
          </a:bodyPr>
          <a:lstStyle/>
          <a:p>
            <a:r>
              <a:rPr lang="en-US" b="1" i="1" u="sng"/>
              <a:t>Unregistered User</a:t>
            </a:r>
          </a:p>
        </p:txBody>
      </p:sp>
    </p:spTree>
    <p:extLst>
      <p:ext uri="{BB962C8B-B14F-4D97-AF65-F5344CB8AC3E}">
        <p14:creationId xmlns:p14="http://schemas.microsoft.com/office/powerpoint/2010/main" val="31315791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42187-3138-3C72-E72B-DA0A1AE1FCF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17EA7D6-BD73-0872-95EB-54738804703D}"/>
              </a:ext>
            </a:extLst>
          </p:cNvPr>
          <p:cNvSpPr>
            <a:spLocks noGrp="1"/>
          </p:cNvSpPr>
          <p:nvPr>
            <p:ph type="title"/>
          </p:nvPr>
        </p:nvSpPr>
        <p:spPr>
          <a:xfrm>
            <a:off x="182741" y="3005"/>
            <a:ext cx="8761797" cy="1143000"/>
          </a:xfrm>
        </p:spPr>
        <p:txBody>
          <a:bodyPr>
            <a:normAutofit/>
          </a:bodyPr>
          <a:lstStyle/>
          <a:p>
            <a:r>
              <a:rPr lang="en-US"/>
              <a:t>Actors and Mockups (v)</a:t>
            </a:r>
          </a:p>
        </p:txBody>
      </p:sp>
      <p:pic>
        <p:nvPicPr>
          <p:cNvPr id="6" name="Immagine 5">
            <a:extLst>
              <a:ext uri="{FF2B5EF4-FFF2-40B4-BE49-F238E27FC236}">
                <a16:creationId xmlns:a16="http://schemas.microsoft.com/office/drawing/2014/main" id="{08D019BB-2758-0FF1-E327-048509D254BB}"/>
              </a:ext>
            </a:extLst>
          </p:cNvPr>
          <p:cNvPicPr>
            <a:picLocks noChangeAspect="1"/>
          </p:cNvPicPr>
          <p:nvPr/>
        </p:nvPicPr>
        <p:blipFill>
          <a:blip r:embed="rId2"/>
          <a:srcRect l="2376" r="1342"/>
          <a:stretch>
            <a:fillRect/>
          </a:stretch>
        </p:blipFill>
        <p:spPr>
          <a:xfrm>
            <a:off x="282829" y="1326719"/>
            <a:ext cx="5576047" cy="3479290"/>
          </a:xfrm>
          <a:prstGeom prst="rect">
            <a:avLst/>
          </a:prstGeom>
        </p:spPr>
      </p:pic>
      <p:pic>
        <p:nvPicPr>
          <p:cNvPr id="5" name="Immagine 4">
            <a:extLst>
              <a:ext uri="{FF2B5EF4-FFF2-40B4-BE49-F238E27FC236}">
                <a16:creationId xmlns:a16="http://schemas.microsoft.com/office/drawing/2014/main" id="{7E83557F-47F2-3A8C-AA48-37A5EF54F746}"/>
              </a:ext>
            </a:extLst>
          </p:cNvPr>
          <p:cNvPicPr>
            <a:picLocks noChangeAspect="1"/>
          </p:cNvPicPr>
          <p:nvPr/>
        </p:nvPicPr>
        <p:blipFill>
          <a:blip r:embed="rId3"/>
          <a:stretch>
            <a:fillRect/>
          </a:stretch>
        </p:blipFill>
        <p:spPr>
          <a:xfrm>
            <a:off x="4211715" y="2691430"/>
            <a:ext cx="4732823" cy="3369338"/>
          </a:xfrm>
          <a:prstGeom prst="rect">
            <a:avLst/>
          </a:prstGeom>
        </p:spPr>
      </p:pic>
      <p:sp>
        <p:nvSpPr>
          <p:cNvPr id="7" name="CasellaDiTesto 6">
            <a:extLst>
              <a:ext uri="{FF2B5EF4-FFF2-40B4-BE49-F238E27FC236}">
                <a16:creationId xmlns:a16="http://schemas.microsoft.com/office/drawing/2014/main" id="{713DDDFA-438A-F35A-3252-E224E4922D7B}"/>
              </a:ext>
            </a:extLst>
          </p:cNvPr>
          <p:cNvSpPr txBox="1"/>
          <p:nvPr/>
        </p:nvSpPr>
        <p:spPr>
          <a:xfrm>
            <a:off x="257790" y="4990675"/>
            <a:ext cx="3947532" cy="1015663"/>
          </a:xfrm>
          <a:prstGeom prst="rect">
            <a:avLst/>
          </a:prstGeom>
          <a:noFill/>
        </p:spPr>
        <p:txBody>
          <a:bodyPr wrap="square">
            <a:spAutoFit/>
          </a:bodyPr>
          <a:lstStyle/>
          <a:p>
            <a:pPr algn="ctr">
              <a:buNone/>
            </a:pPr>
            <a:r>
              <a:rPr lang="it-IT" sz="1500" err="1"/>
              <a:t>Unregistered</a:t>
            </a:r>
            <a:r>
              <a:rPr lang="it-IT" sz="1500"/>
              <a:t> users can </a:t>
            </a:r>
            <a:r>
              <a:rPr lang="it-IT" sz="1500" err="1"/>
              <a:t>search</a:t>
            </a:r>
            <a:r>
              <a:rPr lang="it-IT" sz="1500"/>
              <a:t> </a:t>
            </a:r>
            <a:r>
              <a:rPr lang="it-IT" sz="1500" err="1"/>
              <a:t>recipes</a:t>
            </a:r>
            <a:r>
              <a:rPr lang="it-IT" sz="1500"/>
              <a:t> by keyword, </a:t>
            </a:r>
            <a:r>
              <a:rPr lang="it-IT" sz="1500" err="1"/>
              <a:t>browse</a:t>
            </a:r>
            <a:r>
              <a:rPr lang="it-IT" sz="1500"/>
              <a:t> matching </a:t>
            </a:r>
            <a:r>
              <a:rPr lang="it-IT" sz="1500" err="1"/>
              <a:t>results</a:t>
            </a:r>
            <a:r>
              <a:rPr lang="it-IT" sz="1500"/>
              <a:t>, and access the complete recipe </a:t>
            </a:r>
            <a:r>
              <a:rPr lang="it-IT" sz="1500" err="1"/>
              <a:t>view</a:t>
            </a:r>
            <a:r>
              <a:rPr lang="it-IT" sz="1500"/>
              <a:t> with </a:t>
            </a:r>
            <a:r>
              <a:rPr lang="it-IT" sz="1500" err="1"/>
              <a:t>all</a:t>
            </a:r>
            <a:r>
              <a:rPr lang="it-IT" sz="1500"/>
              <a:t> the </a:t>
            </a:r>
            <a:r>
              <a:rPr lang="it-IT" sz="1500" err="1"/>
              <a:t>detailed</a:t>
            </a:r>
            <a:r>
              <a:rPr lang="it-IT" sz="1500"/>
              <a:t> information.</a:t>
            </a:r>
          </a:p>
        </p:txBody>
      </p:sp>
      <p:sp>
        <p:nvSpPr>
          <p:cNvPr id="8" name="CasellaDiTesto 2">
            <a:extLst>
              <a:ext uri="{FF2B5EF4-FFF2-40B4-BE49-F238E27FC236}">
                <a16:creationId xmlns:a16="http://schemas.microsoft.com/office/drawing/2014/main" id="{85A558F0-3A22-E1C4-38EE-30AEBCF969E5}"/>
              </a:ext>
            </a:extLst>
          </p:cNvPr>
          <p:cNvSpPr txBox="1"/>
          <p:nvPr/>
        </p:nvSpPr>
        <p:spPr>
          <a:xfrm>
            <a:off x="282829" y="961339"/>
            <a:ext cx="8213271" cy="369332"/>
          </a:xfrm>
          <a:prstGeom prst="rect">
            <a:avLst/>
          </a:prstGeom>
          <a:noFill/>
        </p:spPr>
        <p:txBody>
          <a:bodyPr wrap="square" rtlCol="0">
            <a:spAutoFit/>
          </a:bodyPr>
          <a:lstStyle/>
          <a:p>
            <a:r>
              <a:rPr lang="en-US" b="1" i="1" u="sng"/>
              <a:t>Unregistered User</a:t>
            </a:r>
          </a:p>
        </p:txBody>
      </p:sp>
    </p:spTree>
    <p:extLst>
      <p:ext uri="{BB962C8B-B14F-4D97-AF65-F5344CB8AC3E}">
        <p14:creationId xmlns:p14="http://schemas.microsoft.com/office/powerpoint/2010/main" val="14654189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F8221-0CA2-0DF1-9BF6-76078FB63E0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469C115-BBCD-1394-1527-5966058F73C3}"/>
              </a:ext>
            </a:extLst>
          </p:cNvPr>
          <p:cNvSpPr>
            <a:spLocks noGrp="1"/>
          </p:cNvSpPr>
          <p:nvPr>
            <p:ph type="title"/>
          </p:nvPr>
        </p:nvSpPr>
        <p:spPr/>
        <p:txBody>
          <a:bodyPr>
            <a:normAutofit/>
          </a:bodyPr>
          <a:lstStyle/>
          <a:p>
            <a:r>
              <a:rPr lang="en-US"/>
              <a:t>Actors and Mockups (vi)</a:t>
            </a:r>
          </a:p>
        </p:txBody>
      </p:sp>
      <p:sp>
        <p:nvSpPr>
          <p:cNvPr id="3" name="CasellaDiTesto 2">
            <a:extLst>
              <a:ext uri="{FF2B5EF4-FFF2-40B4-BE49-F238E27FC236}">
                <a16:creationId xmlns:a16="http://schemas.microsoft.com/office/drawing/2014/main" id="{04E6363C-8502-0802-883F-78BAC512497B}"/>
              </a:ext>
            </a:extLst>
          </p:cNvPr>
          <p:cNvSpPr txBox="1"/>
          <p:nvPr/>
        </p:nvSpPr>
        <p:spPr>
          <a:xfrm>
            <a:off x="465364" y="1233093"/>
            <a:ext cx="8213271" cy="369332"/>
          </a:xfrm>
          <a:prstGeom prst="rect">
            <a:avLst/>
          </a:prstGeom>
          <a:noFill/>
        </p:spPr>
        <p:txBody>
          <a:bodyPr wrap="square" rtlCol="0">
            <a:spAutoFit/>
          </a:bodyPr>
          <a:lstStyle/>
          <a:p>
            <a:r>
              <a:rPr lang="en-US" b="1" i="1" u="sng"/>
              <a:t>Log In and Register</a:t>
            </a:r>
          </a:p>
        </p:txBody>
      </p:sp>
      <p:pic>
        <p:nvPicPr>
          <p:cNvPr id="5" name="Immagine 4">
            <a:extLst>
              <a:ext uri="{FF2B5EF4-FFF2-40B4-BE49-F238E27FC236}">
                <a16:creationId xmlns:a16="http://schemas.microsoft.com/office/drawing/2014/main" id="{4EDB08DF-103D-16D7-C4FD-086DCAA1F5DF}"/>
              </a:ext>
            </a:extLst>
          </p:cNvPr>
          <p:cNvPicPr>
            <a:picLocks noChangeAspect="1"/>
          </p:cNvPicPr>
          <p:nvPr/>
        </p:nvPicPr>
        <p:blipFill>
          <a:blip r:embed="rId2"/>
          <a:stretch>
            <a:fillRect/>
          </a:stretch>
        </p:blipFill>
        <p:spPr>
          <a:xfrm>
            <a:off x="4685091" y="1758360"/>
            <a:ext cx="4108605" cy="3748560"/>
          </a:xfrm>
          <a:prstGeom prst="rect">
            <a:avLst/>
          </a:prstGeom>
        </p:spPr>
      </p:pic>
      <p:pic>
        <p:nvPicPr>
          <p:cNvPr id="7" name="Immagine 6">
            <a:extLst>
              <a:ext uri="{FF2B5EF4-FFF2-40B4-BE49-F238E27FC236}">
                <a16:creationId xmlns:a16="http://schemas.microsoft.com/office/drawing/2014/main" id="{E70D1B25-64DD-B7A1-3A70-8317CA1FB24F}"/>
              </a:ext>
            </a:extLst>
          </p:cNvPr>
          <p:cNvPicPr>
            <a:picLocks noChangeAspect="1"/>
          </p:cNvPicPr>
          <p:nvPr/>
        </p:nvPicPr>
        <p:blipFill>
          <a:blip r:embed="rId3"/>
          <a:stretch>
            <a:fillRect/>
          </a:stretch>
        </p:blipFill>
        <p:spPr>
          <a:xfrm>
            <a:off x="465364" y="1758360"/>
            <a:ext cx="4081492" cy="3748560"/>
          </a:xfrm>
          <a:prstGeom prst="rect">
            <a:avLst/>
          </a:prstGeom>
        </p:spPr>
      </p:pic>
    </p:spTree>
    <p:extLst>
      <p:ext uri="{BB962C8B-B14F-4D97-AF65-F5344CB8AC3E}">
        <p14:creationId xmlns:p14="http://schemas.microsoft.com/office/powerpoint/2010/main" val="7736248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77F8C-7092-8716-22E7-9A6D8D08551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EDBE3F3B-822F-EF55-6057-10758470728A}"/>
              </a:ext>
            </a:extLst>
          </p:cNvPr>
          <p:cNvSpPr>
            <a:spLocks noGrp="1"/>
          </p:cNvSpPr>
          <p:nvPr>
            <p:ph type="title"/>
          </p:nvPr>
        </p:nvSpPr>
        <p:spPr>
          <a:xfrm>
            <a:off x="191101" y="13043"/>
            <a:ext cx="8761797" cy="1143000"/>
          </a:xfrm>
        </p:spPr>
        <p:txBody>
          <a:bodyPr>
            <a:normAutofit/>
          </a:bodyPr>
          <a:lstStyle/>
          <a:p>
            <a:r>
              <a:rPr lang="en-US"/>
              <a:t>Actors and Mockups (vii)</a:t>
            </a:r>
          </a:p>
        </p:txBody>
      </p:sp>
      <p:sp>
        <p:nvSpPr>
          <p:cNvPr id="3" name="CasellaDiTesto 2">
            <a:extLst>
              <a:ext uri="{FF2B5EF4-FFF2-40B4-BE49-F238E27FC236}">
                <a16:creationId xmlns:a16="http://schemas.microsoft.com/office/drawing/2014/main" id="{4F4694F3-C5B7-4209-CD77-0F0FFF30ECFC}"/>
              </a:ext>
            </a:extLst>
          </p:cNvPr>
          <p:cNvSpPr txBox="1"/>
          <p:nvPr/>
        </p:nvSpPr>
        <p:spPr>
          <a:xfrm>
            <a:off x="348131" y="841615"/>
            <a:ext cx="1532813" cy="369332"/>
          </a:xfrm>
          <a:prstGeom prst="rect">
            <a:avLst/>
          </a:prstGeom>
          <a:noFill/>
        </p:spPr>
        <p:txBody>
          <a:bodyPr wrap="square" rtlCol="0">
            <a:spAutoFit/>
          </a:bodyPr>
          <a:lstStyle/>
          <a:p>
            <a:r>
              <a:rPr lang="en-US" b="1" i="1" u="sng"/>
              <a:t>Chef</a:t>
            </a:r>
          </a:p>
        </p:txBody>
      </p:sp>
      <p:pic>
        <p:nvPicPr>
          <p:cNvPr id="6" name="Immagine 5">
            <a:extLst>
              <a:ext uri="{FF2B5EF4-FFF2-40B4-BE49-F238E27FC236}">
                <a16:creationId xmlns:a16="http://schemas.microsoft.com/office/drawing/2014/main" id="{B8A2E0BD-D3F6-D437-1EF8-FAE9ADE9DB00}"/>
              </a:ext>
            </a:extLst>
          </p:cNvPr>
          <p:cNvPicPr>
            <a:picLocks noChangeAspect="1"/>
          </p:cNvPicPr>
          <p:nvPr/>
        </p:nvPicPr>
        <p:blipFill>
          <a:blip r:embed="rId3"/>
          <a:srcRect l="3424" r="3271"/>
          <a:stretch>
            <a:fillRect/>
          </a:stretch>
        </p:blipFill>
        <p:spPr>
          <a:xfrm>
            <a:off x="4714818" y="1210947"/>
            <a:ext cx="4246441" cy="3731931"/>
          </a:xfrm>
          <a:prstGeom prst="rect">
            <a:avLst/>
          </a:prstGeom>
        </p:spPr>
      </p:pic>
      <p:pic>
        <p:nvPicPr>
          <p:cNvPr id="7" name="Immagine 6">
            <a:extLst>
              <a:ext uri="{FF2B5EF4-FFF2-40B4-BE49-F238E27FC236}">
                <a16:creationId xmlns:a16="http://schemas.microsoft.com/office/drawing/2014/main" id="{DD8ADB8E-6ECF-92B1-2715-E8D928C76AB9}"/>
              </a:ext>
            </a:extLst>
          </p:cNvPr>
          <p:cNvPicPr>
            <a:picLocks noChangeAspect="1"/>
          </p:cNvPicPr>
          <p:nvPr/>
        </p:nvPicPr>
        <p:blipFill>
          <a:blip r:embed="rId4"/>
          <a:srcRect l="6480" t="8105" r="7652" b="7626"/>
          <a:stretch>
            <a:fillRect/>
          </a:stretch>
        </p:blipFill>
        <p:spPr>
          <a:xfrm>
            <a:off x="5624440" y="4857363"/>
            <a:ext cx="1861662" cy="1311030"/>
          </a:xfrm>
          <a:prstGeom prst="rect">
            <a:avLst/>
          </a:prstGeom>
        </p:spPr>
      </p:pic>
      <p:sp>
        <p:nvSpPr>
          <p:cNvPr id="4" name="CasellaDiTesto 3">
            <a:extLst>
              <a:ext uri="{FF2B5EF4-FFF2-40B4-BE49-F238E27FC236}">
                <a16:creationId xmlns:a16="http://schemas.microsoft.com/office/drawing/2014/main" id="{CA6B6CAD-F343-2AFC-65A8-7F5D9AD917CB}"/>
              </a:ext>
            </a:extLst>
          </p:cNvPr>
          <p:cNvSpPr txBox="1"/>
          <p:nvPr/>
        </p:nvSpPr>
        <p:spPr>
          <a:xfrm>
            <a:off x="326360" y="5614395"/>
            <a:ext cx="4517784" cy="553998"/>
          </a:xfrm>
          <a:prstGeom prst="rect">
            <a:avLst/>
          </a:prstGeom>
          <a:noFill/>
        </p:spPr>
        <p:txBody>
          <a:bodyPr wrap="square" rtlCol="0">
            <a:spAutoFit/>
          </a:bodyPr>
          <a:lstStyle/>
          <a:p>
            <a:pPr algn="ctr"/>
            <a:r>
              <a:rPr lang="it-IT" sz="1500" dirty="0"/>
              <a:t>The Chef can </a:t>
            </a:r>
            <a:r>
              <a:rPr lang="it-IT" sz="1500" dirty="0" err="1"/>
              <a:t>manage</a:t>
            </a:r>
            <a:r>
              <a:rPr lang="it-IT" sz="1500" dirty="0"/>
              <a:t> personal info, create new </a:t>
            </a:r>
            <a:r>
              <a:rPr lang="it-IT" sz="1500" dirty="0" err="1"/>
              <a:t>recipes</a:t>
            </a:r>
            <a:r>
              <a:rPr lang="it-IT" sz="1500" dirty="0"/>
              <a:t>, monitor </a:t>
            </a:r>
            <a:r>
              <a:rPr lang="it-IT" sz="1500" dirty="0" err="1"/>
              <a:t>pending</a:t>
            </a:r>
            <a:r>
              <a:rPr lang="it-IT" sz="1500" dirty="0"/>
              <a:t>  </a:t>
            </a:r>
            <a:r>
              <a:rPr lang="it-IT" sz="1500" dirty="0" err="1"/>
              <a:t>submissions</a:t>
            </a:r>
            <a:r>
              <a:rPr lang="it-IT" sz="1500" dirty="0"/>
              <a:t> and </a:t>
            </a:r>
            <a:r>
              <a:rPr lang="it-IT" sz="1500" dirty="0" err="1"/>
              <a:t>see</a:t>
            </a:r>
            <a:r>
              <a:rPr lang="it-IT" sz="1500" dirty="0"/>
              <a:t> </a:t>
            </a:r>
            <a:r>
              <a:rPr lang="it-IT" sz="1500" dirty="0" err="1"/>
              <a:t>their</a:t>
            </a:r>
            <a:r>
              <a:rPr lang="it-IT" sz="1500" dirty="0"/>
              <a:t> </a:t>
            </a:r>
            <a:r>
              <a:rPr lang="it-IT" sz="1500" dirty="0" err="1"/>
              <a:t>recipes</a:t>
            </a:r>
            <a:r>
              <a:rPr lang="it-IT" sz="1500" dirty="0"/>
              <a:t>.</a:t>
            </a:r>
          </a:p>
        </p:txBody>
      </p:sp>
      <p:pic>
        <p:nvPicPr>
          <p:cNvPr id="8" name="Immagine 7" descr="Immagine che contiene testo, schermata, software, Pagina Web&#10;&#10;Il contenuto generato dall'IA potrebbe non essere corretto.">
            <a:extLst>
              <a:ext uri="{FF2B5EF4-FFF2-40B4-BE49-F238E27FC236}">
                <a16:creationId xmlns:a16="http://schemas.microsoft.com/office/drawing/2014/main" id="{AFA9D2E6-2736-B61F-E8B9-B764ECF65229}"/>
              </a:ext>
            </a:extLst>
          </p:cNvPr>
          <p:cNvPicPr>
            <a:picLocks noChangeAspect="1"/>
          </p:cNvPicPr>
          <p:nvPr/>
        </p:nvPicPr>
        <p:blipFill>
          <a:blip r:embed="rId5"/>
          <a:stretch>
            <a:fillRect/>
          </a:stretch>
        </p:blipFill>
        <p:spPr>
          <a:xfrm>
            <a:off x="348131" y="3871468"/>
            <a:ext cx="4223869" cy="1736918"/>
          </a:xfrm>
          <a:prstGeom prst="rect">
            <a:avLst/>
          </a:prstGeom>
        </p:spPr>
      </p:pic>
      <p:pic>
        <p:nvPicPr>
          <p:cNvPr id="11" name="Immagine 10" descr="Immagine che contiene testo, schermata, Pagina Web, Sito Web&#10;&#10;Il contenuto generato dall'IA potrebbe non essere corretto.">
            <a:extLst>
              <a:ext uri="{FF2B5EF4-FFF2-40B4-BE49-F238E27FC236}">
                <a16:creationId xmlns:a16="http://schemas.microsoft.com/office/drawing/2014/main" id="{0661DAAA-0EC8-CEAE-185F-2B84813D78D0}"/>
              </a:ext>
            </a:extLst>
          </p:cNvPr>
          <p:cNvPicPr>
            <a:picLocks noChangeAspect="1"/>
          </p:cNvPicPr>
          <p:nvPr/>
        </p:nvPicPr>
        <p:blipFill>
          <a:blip r:embed="rId6"/>
          <a:stretch>
            <a:fillRect/>
          </a:stretch>
        </p:blipFill>
        <p:spPr>
          <a:xfrm>
            <a:off x="353672" y="1210947"/>
            <a:ext cx="4218328" cy="2660521"/>
          </a:xfrm>
          <a:prstGeom prst="rect">
            <a:avLst/>
          </a:prstGeom>
        </p:spPr>
      </p:pic>
    </p:spTree>
    <p:extLst>
      <p:ext uri="{BB962C8B-B14F-4D97-AF65-F5344CB8AC3E}">
        <p14:creationId xmlns:p14="http://schemas.microsoft.com/office/powerpoint/2010/main" val="13153779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01400-A7ED-557A-E0AF-DBB2224B81C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90062BA-E133-1DA2-50C7-87FF569C4BC2}"/>
              </a:ext>
            </a:extLst>
          </p:cNvPr>
          <p:cNvSpPr>
            <a:spLocks noGrp="1"/>
          </p:cNvSpPr>
          <p:nvPr>
            <p:ph type="title"/>
          </p:nvPr>
        </p:nvSpPr>
        <p:spPr>
          <a:xfrm>
            <a:off x="291599" y="10133"/>
            <a:ext cx="8761797" cy="1143000"/>
          </a:xfrm>
        </p:spPr>
        <p:txBody>
          <a:bodyPr>
            <a:normAutofit/>
          </a:bodyPr>
          <a:lstStyle/>
          <a:p>
            <a:r>
              <a:rPr lang="en-US"/>
              <a:t>Actors and Mockups (viii)</a:t>
            </a:r>
          </a:p>
        </p:txBody>
      </p:sp>
      <p:sp>
        <p:nvSpPr>
          <p:cNvPr id="3" name="CasellaDiTesto 2">
            <a:extLst>
              <a:ext uri="{FF2B5EF4-FFF2-40B4-BE49-F238E27FC236}">
                <a16:creationId xmlns:a16="http://schemas.microsoft.com/office/drawing/2014/main" id="{1C8CF19C-9C58-31A1-C8D1-4BAE87A01F7E}"/>
              </a:ext>
            </a:extLst>
          </p:cNvPr>
          <p:cNvSpPr txBox="1"/>
          <p:nvPr/>
        </p:nvSpPr>
        <p:spPr>
          <a:xfrm>
            <a:off x="182741" y="863761"/>
            <a:ext cx="8213271" cy="369332"/>
          </a:xfrm>
          <a:prstGeom prst="rect">
            <a:avLst/>
          </a:prstGeom>
          <a:noFill/>
        </p:spPr>
        <p:txBody>
          <a:bodyPr wrap="square" rtlCol="0">
            <a:spAutoFit/>
          </a:bodyPr>
          <a:lstStyle/>
          <a:p>
            <a:r>
              <a:rPr lang="en-US" b="1" i="1" u="sng"/>
              <a:t>Admin</a:t>
            </a:r>
          </a:p>
        </p:txBody>
      </p:sp>
      <p:sp>
        <p:nvSpPr>
          <p:cNvPr id="6" name="CasellaDiTesto 5">
            <a:extLst>
              <a:ext uri="{FF2B5EF4-FFF2-40B4-BE49-F238E27FC236}">
                <a16:creationId xmlns:a16="http://schemas.microsoft.com/office/drawing/2014/main" id="{D0677D19-1AB0-FC51-E4F5-87A33964DA65}"/>
              </a:ext>
            </a:extLst>
          </p:cNvPr>
          <p:cNvSpPr txBox="1"/>
          <p:nvPr/>
        </p:nvSpPr>
        <p:spPr>
          <a:xfrm>
            <a:off x="833940" y="5502712"/>
            <a:ext cx="7476119" cy="553998"/>
          </a:xfrm>
          <a:prstGeom prst="rect">
            <a:avLst/>
          </a:prstGeom>
          <a:noFill/>
        </p:spPr>
        <p:txBody>
          <a:bodyPr wrap="square" rtlCol="0">
            <a:spAutoFit/>
          </a:bodyPr>
          <a:lstStyle/>
          <a:p>
            <a:pPr algn="ctr"/>
            <a:r>
              <a:rPr lang="it-IT" sz="1500" dirty="0"/>
              <a:t>The Admin can handle </a:t>
            </a:r>
            <a:r>
              <a:rPr lang="it-IT" sz="1500" dirty="0" err="1"/>
              <a:t>pending</a:t>
            </a:r>
            <a:r>
              <a:rPr lang="it-IT" sz="1500" dirty="0"/>
              <a:t> </a:t>
            </a:r>
            <a:r>
              <a:rPr lang="it-IT" sz="1500" dirty="0" err="1"/>
              <a:t>recipes</a:t>
            </a:r>
            <a:r>
              <a:rPr lang="it-IT" sz="1500" dirty="0"/>
              <a:t> , chef </a:t>
            </a:r>
            <a:r>
              <a:rPr lang="it-IT" sz="1500" dirty="0" err="1"/>
              <a:t>registration</a:t>
            </a:r>
            <a:r>
              <a:rPr lang="it-IT" sz="1500" dirty="0"/>
              <a:t> </a:t>
            </a:r>
            <a:r>
              <a:rPr lang="it-IT" sz="1500" dirty="0" err="1"/>
              <a:t>requests</a:t>
            </a:r>
            <a:r>
              <a:rPr lang="it-IT" sz="1500" dirty="0"/>
              <a:t> and </a:t>
            </a:r>
            <a:r>
              <a:rPr lang="it-IT" sz="1500" dirty="0" err="1"/>
              <a:t>view</a:t>
            </a:r>
            <a:r>
              <a:rPr lang="it-IT" sz="1500" dirty="0"/>
              <a:t> the </a:t>
            </a:r>
            <a:r>
              <a:rPr lang="it-IT" sz="1500" dirty="0" err="1"/>
              <a:t>analytics</a:t>
            </a:r>
            <a:r>
              <a:rPr lang="it-IT" sz="1500" dirty="0"/>
              <a:t> by </a:t>
            </a:r>
            <a:r>
              <a:rPr lang="it-IT" sz="1500" dirty="0" err="1"/>
              <a:t>clicking</a:t>
            </a:r>
            <a:r>
              <a:rPr lang="it-IT" sz="1500" dirty="0"/>
              <a:t> the </a:t>
            </a:r>
            <a:r>
              <a:rPr lang="it-IT" sz="1500" dirty="0" err="1"/>
              <a:t>corresponding</a:t>
            </a:r>
            <a:r>
              <a:rPr lang="it-IT" sz="1500" dirty="0"/>
              <a:t> </a:t>
            </a:r>
            <a:r>
              <a:rPr lang="it-IT" sz="1500" dirty="0" err="1"/>
              <a:t>button</a:t>
            </a:r>
            <a:r>
              <a:rPr lang="it-IT" sz="1500" dirty="0"/>
              <a:t>.</a:t>
            </a:r>
          </a:p>
        </p:txBody>
      </p:sp>
      <p:pic>
        <p:nvPicPr>
          <p:cNvPr id="7" name="Immagine 6" descr="Immagine che contiene testo, software, Icona del computer, Pagina Web&#10;&#10;Il contenuto generato dall'IA potrebbe non essere corretto.">
            <a:extLst>
              <a:ext uri="{FF2B5EF4-FFF2-40B4-BE49-F238E27FC236}">
                <a16:creationId xmlns:a16="http://schemas.microsoft.com/office/drawing/2014/main" id="{D7CDC380-58C0-D0CC-E5EF-EC1A44838DF2}"/>
              </a:ext>
            </a:extLst>
          </p:cNvPr>
          <p:cNvPicPr>
            <a:picLocks noChangeAspect="1"/>
          </p:cNvPicPr>
          <p:nvPr/>
        </p:nvPicPr>
        <p:blipFill>
          <a:blip r:embed="rId2"/>
          <a:stretch>
            <a:fillRect/>
          </a:stretch>
        </p:blipFill>
        <p:spPr>
          <a:xfrm>
            <a:off x="269827" y="1248434"/>
            <a:ext cx="5127256" cy="2838695"/>
          </a:xfrm>
          <a:prstGeom prst="rect">
            <a:avLst/>
          </a:prstGeom>
        </p:spPr>
      </p:pic>
      <p:pic>
        <p:nvPicPr>
          <p:cNvPr id="5" name="Immagine 4" descr="Immagine che contiene testo, numero, software, schermata&#10;&#10;Il contenuto generato dall'IA potrebbe non essere corretto.">
            <a:extLst>
              <a:ext uri="{FF2B5EF4-FFF2-40B4-BE49-F238E27FC236}">
                <a16:creationId xmlns:a16="http://schemas.microsoft.com/office/drawing/2014/main" id="{21E14B75-A363-99BF-EE80-195EF3AA1AD3}"/>
              </a:ext>
            </a:extLst>
          </p:cNvPr>
          <p:cNvPicPr>
            <a:picLocks noChangeAspect="1"/>
          </p:cNvPicPr>
          <p:nvPr/>
        </p:nvPicPr>
        <p:blipFill>
          <a:blip r:embed="rId3"/>
          <a:srcRect l="3610" t="3827" r="2325" b="1368"/>
          <a:stretch>
            <a:fillRect/>
          </a:stretch>
        </p:blipFill>
        <p:spPr>
          <a:xfrm>
            <a:off x="3367668" y="2845715"/>
            <a:ext cx="5330284" cy="2648094"/>
          </a:xfrm>
          <a:prstGeom prst="rect">
            <a:avLst/>
          </a:prstGeom>
        </p:spPr>
      </p:pic>
    </p:spTree>
    <p:extLst>
      <p:ext uri="{BB962C8B-B14F-4D97-AF65-F5344CB8AC3E}">
        <p14:creationId xmlns:p14="http://schemas.microsoft.com/office/powerpoint/2010/main" val="29731236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8F4EC-E013-BAB6-606A-6D4F668687D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96287BE-7CD1-B189-4766-19D2B182181D}"/>
              </a:ext>
            </a:extLst>
          </p:cNvPr>
          <p:cNvSpPr>
            <a:spLocks noGrp="1"/>
          </p:cNvSpPr>
          <p:nvPr>
            <p:ph type="title"/>
          </p:nvPr>
        </p:nvSpPr>
        <p:spPr>
          <a:xfrm>
            <a:off x="182740" y="0"/>
            <a:ext cx="8761797" cy="1143000"/>
          </a:xfrm>
        </p:spPr>
        <p:txBody>
          <a:bodyPr>
            <a:normAutofit/>
          </a:bodyPr>
          <a:lstStyle/>
          <a:p>
            <a:r>
              <a:rPr lang="en-US"/>
              <a:t>Actors and Mockups (ix)</a:t>
            </a:r>
          </a:p>
        </p:txBody>
      </p:sp>
      <p:sp>
        <p:nvSpPr>
          <p:cNvPr id="3" name="CasellaDiTesto 2">
            <a:extLst>
              <a:ext uri="{FF2B5EF4-FFF2-40B4-BE49-F238E27FC236}">
                <a16:creationId xmlns:a16="http://schemas.microsoft.com/office/drawing/2014/main" id="{622EA379-0BA9-6FEF-B248-DBB4651E0536}"/>
              </a:ext>
            </a:extLst>
          </p:cNvPr>
          <p:cNvSpPr txBox="1"/>
          <p:nvPr/>
        </p:nvSpPr>
        <p:spPr>
          <a:xfrm>
            <a:off x="361192" y="863761"/>
            <a:ext cx="8213271" cy="369332"/>
          </a:xfrm>
          <a:prstGeom prst="rect">
            <a:avLst/>
          </a:prstGeom>
          <a:noFill/>
        </p:spPr>
        <p:txBody>
          <a:bodyPr wrap="square" rtlCol="0">
            <a:spAutoFit/>
          </a:bodyPr>
          <a:lstStyle/>
          <a:p>
            <a:r>
              <a:rPr lang="en-US" b="1" i="1" u="sng"/>
              <a:t>Foodie</a:t>
            </a:r>
          </a:p>
        </p:txBody>
      </p:sp>
      <p:sp>
        <p:nvSpPr>
          <p:cNvPr id="4" name="CasellaDiTesto 3">
            <a:extLst>
              <a:ext uri="{FF2B5EF4-FFF2-40B4-BE49-F238E27FC236}">
                <a16:creationId xmlns:a16="http://schemas.microsoft.com/office/drawing/2014/main" id="{CC955C3B-70EF-BFA2-A757-F38723584810}"/>
              </a:ext>
            </a:extLst>
          </p:cNvPr>
          <p:cNvSpPr txBox="1"/>
          <p:nvPr/>
        </p:nvSpPr>
        <p:spPr>
          <a:xfrm>
            <a:off x="798739" y="5480066"/>
            <a:ext cx="7546522" cy="553998"/>
          </a:xfrm>
          <a:prstGeom prst="rect">
            <a:avLst/>
          </a:prstGeom>
          <a:noFill/>
        </p:spPr>
        <p:txBody>
          <a:bodyPr wrap="square" rtlCol="0">
            <a:spAutoFit/>
          </a:bodyPr>
          <a:lstStyle/>
          <a:p>
            <a:pPr algn="ctr"/>
            <a:r>
              <a:rPr lang="it-IT" sz="1500"/>
              <a:t>The Foodie </a:t>
            </a:r>
            <a:r>
              <a:rPr lang="it-IT" sz="1500" err="1"/>
              <a:t>manages</a:t>
            </a:r>
            <a:r>
              <a:rPr lang="it-IT" sz="1500"/>
              <a:t> personal information, accesses Smart Fridge and Shopping List features, and </a:t>
            </a:r>
            <a:r>
              <a:rPr lang="it-IT" sz="1500" err="1"/>
              <a:t>keeps</a:t>
            </a:r>
            <a:r>
              <a:rPr lang="it-IT" sz="1500"/>
              <a:t> track of </a:t>
            </a:r>
            <a:r>
              <a:rPr lang="it-IT" sz="1500" err="1"/>
              <a:t>favourite</a:t>
            </a:r>
            <a:r>
              <a:rPr lang="it-IT" sz="1500"/>
              <a:t> </a:t>
            </a:r>
            <a:r>
              <a:rPr lang="it-IT" sz="1500" err="1"/>
              <a:t>recipes</a:t>
            </a:r>
            <a:r>
              <a:rPr lang="it-IT" sz="1500"/>
              <a:t>.</a:t>
            </a:r>
          </a:p>
        </p:txBody>
      </p:sp>
      <p:pic>
        <p:nvPicPr>
          <p:cNvPr id="7" name="Immagine 6">
            <a:extLst>
              <a:ext uri="{FF2B5EF4-FFF2-40B4-BE49-F238E27FC236}">
                <a16:creationId xmlns:a16="http://schemas.microsoft.com/office/drawing/2014/main" id="{6F853746-56CA-6E2C-BBDD-13282887D392}"/>
              </a:ext>
            </a:extLst>
          </p:cNvPr>
          <p:cNvPicPr>
            <a:picLocks noChangeAspect="1"/>
          </p:cNvPicPr>
          <p:nvPr/>
        </p:nvPicPr>
        <p:blipFill>
          <a:blip r:embed="rId2"/>
          <a:stretch>
            <a:fillRect/>
          </a:stretch>
        </p:blipFill>
        <p:spPr>
          <a:xfrm>
            <a:off x="1576002" y="1233093"/>
            <a:ext cx="5975272" cy="4195915"/>
          </a:xfrm>
          <a:prstGeom prst="rect">
            <a:avLst/>
          </a:prstGeom>
        </p:spPr>
      </p:pic>
    </p:spTree>
    <p:extLst>
      <p:ext uri="{BB962C8B-B14F-4D97-AF65-F5344CB8AC3E}">
        <p14:creationId xmlns:p14="http://schemas.microsoft.com/office/powerpoint/2010/main" val="2262419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86038-9AF6-1972-3AB7-1A1416E147D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DE887B8-0AC8-7FB2-571B-74DEFD14189F}"/>
              </a:ext>
            </a:extLst>
          </p:cNvPr>
          <p:cNvSpPr>
            <a:spLocks noGrp="1"/>
          </p:cNvSpPr>
          <p:nvPr>
            <p:ph type="title"/>
          </p:nvPr>
        </p:nvSpPr>
        <p:spPr>
          <a:xfrm>
            <a:off x="191101" y="18929"/>
            <a:ext cx="8761797" cy="1143000"/>
          </a:xfrm>
        </p:spPr>
        <p:txBody>
          <a:bodyPr>
            <a:normAutofit/>
          </a:bodyPr>
          <a:lstStyle/>
          <a:p>
            <a:r>
              <a:rPr lang="en-US"/>
              <a:t>Actors and Mockups (x)</a:t>
            </a:r>
          </a:p>
        </p:txBody>
      </p:sp>
      <p:sp>
        <p:nvSpPr>
          <p:cNvPr id="3" name="CasellaDiTesto 2">
            <a:extLst>
              <a:ext uri="{FF2B5EF4-FFF2-40B4-BE49-F238E27FC236}">
                <a16:creationId xmlns:a16="http://schemas.microsoft.com/office/drawing/2014/main" id="{6D22D84F-072B-8F36-9117-C17EE3F503FF}"/>
              </a:ext>
            </a:extLst>
          </p:cNvPr>
          <p:cNvSpPr txBox="1"/>
          <p:nvPr/>
        </p:nvSpPr>
        <p:spPr>
          <a:xfrm>
            <a:off x="322945" y="1048427"/>
            <a:ext cx="2307521" cy="369332"/>
          </a:xfrm>
          <a:prstGeom prst="rect">
            <a:avLst/>
          </a:prstGeom>
          <a:noFill/>
        </p:spPr>
        <p:txBody>
          <a:bodyPr wrap="square" rtlCol="0">
            <a:spAutoFit/>
          </a:bodyPr>
          <a:lstStyle/>
          <a:p>
            <a:r>
              <a:rPr lang="en-US" b="1" i="1" u="sng"/>
              <a:t>Foodie – See Similar</a:t>
            </a:r>
          </a:p>
        </p:txBody>
      </p:sp>
      <p:pic>
        <p:nvPicPr>
          <p:cNvPr id="5" name="Immagine 4">
            <a:extLst>
              <a:ext uri="{FF2B5EF4-FFF2-40B4-BE49-F238E27FC236}">
                <a16:creationId xmlns:a16="http://schemas.microsoft.com/office/drawing/2014/main" id="{C7DB51D7-66BE-D650-91F4-622737A572C6}"/>
              </a:ext>
            </a:extLst>
          </p:cNvPr>
          <p:cNvPicPr>
            <a:picLocks noChangeAspect="1"/>
          </p:cNvPicPr>
          <p:nvPr/>
        </p:nvPicPr>
        <p:blipFill>
          <a:blip r:embed="rId2"/>
          <a:stretch>
            <a:fillRect/>
          </a:stretch>
        </p:blipFill>
        <p:spPr>
          <a:xfrm>
            <a:off x="830050" y="1719324"/>
            <a:ext cx="7465784" cy="2073110"/>
          </a:xfrm>
          <a:prstGeom prst="rect">
            <a:avLst/>
          </a:prstGeom>
        </p:spPr>
      </p:pic>
      <p:pic>
        <p:nvPicPr>
          <p:cNvPr id="8" name="Immagine 7">
            <a:extLst>
              <a:ext uri="{FF2B5EF4-FFF2-40B4-BE49-F238E27FC236}">
                <a16:creationId xmlns:a16="http://schemas.microsoft.com/office/drawing/2014/main" id="{35A617D0-E97C-C414-A59C-A510F6C68C72}"/>
              </a:ext>
            </a:extLst>
          </p:cNvPr>
          <p:cNvPicPr>
            <a:picLocks noChangeAspect="1"/>
          </p:cNvPicPr>
          <p:nvPr/>
        </p:nvPicPr>
        <p:blipFill>
          <a:blip r:embed="rId3"/>
          <a:stretch>
            <a:fillRect/>
          </a:stretch>
        </p:blipFill>
        <p:spPr>
          <a:xfrm>
            <a:off x="830049" y="4393220"/>
            <a:ext cx="7465785" cy="1626145"/>
          </a:xfrm>
          <a:prstGeom prst="rect">
            <a:avLst/>
          </a:prstGeom>
        </p:spPr>
      </p:pic>
      <p:sp>
        <p:nvSpPr>
          <p:cNvPr id="9" name="CasellaDiTesto 8">
            <a:extLst>
              <a:ext uri="{FF2B5EF4-FFF2-40B4-BE49-F238E27FC236}">
                <a16:creationId xmlns:a16="http://schemas.microsoft.com/office/drawing/2014/main" id="{1180C002-0A02-01E5-598C-1923AD0E3394}"/>
              </a:ext>
            </a:extLst>
          </p:cNvPr>
          <p:cNvSpPr txBox="1"/>
          <p:nvPr/>
        </p:nvSpPr>
        <p:spPr>
          <a:xfrm>
            <a:off x="4108425" y="1278828"/>
            <a:ext cx="909031" cy="369332"/>
          </a:xfrm>
          <a:prstGeom prst="rect">
            <a:avLst/>
          </a:prstGeom>
          <a:noFill/>
        </p:spPr>
        <p:txBody>
          <a:bodyPr wrap="none" rtlCol="0">
            <a:spAutoFit/>
          </a:bodyPr>
          <a:lstStyle/>
          <a:p>
            <a:r>
              <a:rPr lang="it-IT" b="1" i="1" u="sng" dirty="0" err="1"/>
              <a:t>Recipes</a:t>
            </a:r>
            <a:endParaRPr lang="it-IT" b="1" i="1" u="sng" dirty="0"/>
          </a:p>
        </p:txBody>
      </p:sp>
      <p:sp>
        <p:nvSpPr>
          <p:cNvPr id="10" name="CasellaDiTesto 9">
            <a:extLst>
              <a:ext uri="{FF2B5EF4-FFF2-40B4-BE49-F238E27FC236}">
                <a16:creationId xmlns:a16="http://schemas.microsoft.com/office/drawing/2014/main" id="{F4524FF4-E36F-C096-21C3-D4877E5C989E}"/>
              </a:ext>
            </a:extLst>
          </p:cNvPr>
          <p:cNvSpPr txBox="1"/>
          <p:nvPr/>
        </p:nvSpPr>
        <p:spPr>
          <a:xfrm>
            <a:off x="4212653" y="3952724"/>
            <a:ext cx="700576" cy="369332"/>
          </a:xfrm>
          <a:prstGeom prst="rect">
            <a:avLst/>
          </a:prstGeom>
          <a:noFill/>
        </p:spPr>
        <p:txBody>
          <a:bodyPr wrap="none" rtlCol="0">
            <a:spAutoFit/>
          </a:bodyPr>
          <a:lstStyle/>
          <a:p>
            <a:r>
              <a:rPr lang="it-IT" b="1" i="1" u="sng" dirty="0"/>
              <a:t>Chefs</a:t>
            </a:r>
          </a:p>
        </p:txBody>
      </p:sp>
    </p:spTree>
    <p:extLst>
      <p:ext uri="{BB962C8B-B14F-4D97-AF65-F5344CB8AC3E}">
        <p14:creationId xmlns:p14="http://schemas.microsoft.com/office/powerpoint/2010/main" val="31871821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D554C-E028-FBBD-B1BD-4A2C51718A7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7D4B274-F766-1163-92D4-E497BBA777B5}"/>
              </a:ext>
            </a:extLst>
          </p:cNvPr>
          <p:cNvSpPr>
            <a:spLocks noGrp="1"/>
          </p:cNvSpPr>
          <p:nvPr>
            <p:ph type="title"/>
          </p:nvPr>
        </p:nvSpPr>
        <p:spPr>
          <a:xfrm>
            <a:off x="191101" y="0"/>
            <a:ext cx="8761797" cy="1143000"/>
          </a:xfrm>
        </p:spPr>
        <p:txBody>
          <a:bodyPr>
            <a:normAutofit/>
          </a:bodyPr>
          <a:lstStyle/>
          <a:p>
            <a:r>
              <a:rPr lang="en-US"/>
              <a:t>Actors and Mockups (xi)</a:t>
            </a:r>
          </a:p>
        </p:txBody>
      </p:sp>
      <p:sp>
        <p:nvSpPr>
          <p:cNvPr id="3" name="CasellaDiTesto 2">
            <a:extLst>
              <a:ext uri="{FF2B5EF4-FFF2-40B4-BE49-F238E27FC236}">
                <a16:creationId xmlns:a16="http://schemas.microsoft.com/office/drawing/2014/main" id="{634509BC-FE4C-5C4E-5832-9009D5FE93B0}"/>
              </a:ext>
            </a:extLst>
          </p:cNvPr>
          <p:cNvSpPr txBox="1"/>
          <p:nvPr/>
        </p:nvSpPr>
        <p:spPr>
          <a:xfrm>
            <a:off x="322945" y="1012764"/>
            <a:ext cx="8213271" cy="369332"/>
          </a:xfrm>
          <a:prstGeom prst="rect">
            <a:avLst/>
          </a:prstGeom>
          <a:noFill/>
        </p:spPr>
        <p:txBody>
          <a:bodyPr wrap="square" rtlCol="0">
            <a:spAutoFit/>
          </a:bodyPr>
          <a:lstStyle/>
          <a:p>
            <a:r>
              <a:rPr lang="en-US" b="1" i="1" u="sng"/>
              <a:t>Foodie – Smart Fridge</a:t>
            </a:r>
          </a:p>
        </p:txBody>
      </p:sp>
      <p:pic>
        <p:nvPicPr>
          <p:cNvPr id="5" name="Immagine 4" descr="Immagine che contiene testo, schermata, Pagina Web, Pubblicità online&#10;&#10;Il contenuto generato dall'IA potrebbe non essere corretto.">
            <a:extLst>
              <a:ext uri="{FF2B5EF4-FFF2-40B4-BE49-F238E27FC236}">
                <a16:creationId xmlns:a16="http://schemas.microsoft.com/office/drawing/2014/main" id="{3144AA50-9021-17CE-4075-F3A62AA974BD}"/>
              </a:ext>
            </a:extLst>
          </p:cNvPr>
          <p:cNvPicPr>
            <a:picLocks noChangeAspect="1"/>
          </p:cNvPicPr>
          <p:nvPr/>
        </p:nvPicPr>
        <p:blipFill>
          <a:blip r:embed="rId2"/>
          <a:stretch>
            <a:fillRect/>
          </a:stretch>
        </p:blipFill>
        <p:spPr>
          <a:xfrm>
            <a:off x="984249" y="1505266"/>
            <a:ext cx="7175500" cy="4339970"/>
          </a:xfrm>
          <a:prstGeom prst="rect">
            <a:avLst/>
          </a:prstGeom>
        </p:spPr>
      </p:pic>
    </p:spTree>
    <p:extLst>
      <p:ext uri="{BB962C8B-B14F-4D97-AF65-F5344CB8AC3E}">
        <p14:creationId xmlns:p14="http://schemas.microsoft.com/office/powerpoint/2010/main" val="24211740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2FCD5-975B-53F3-FE93-CDBBD05EDD0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351E207-412A-CD3C-1BE4-785E2EB25B69}"/>
              </a:ext>
            </a:extLst>
          </p:cNvPr>
          <p:cNvSpPr>
            <a:spLocks noGrp="1"/>
          </p:cNvSpPr>
          <p:nvPr>
            <p:ph type="title"/>
          </p:nvPr>
        </p:nvSpPr>
        <p:spPr>
          <a:xfrm>
            <a:off x="191101" y="0"/>
            <a:ext cx="8761797" cy="1143000"/>
          </a:xfrm>
        </p:spPr>
        <p:txBody>
          <a:bodyPr>
            <a:normAutofit/>
          </a:bodyPr>
          <a:lstStyle/>
          <a:p>
            <a:r>
              <a:rPr lang="en-US"/>
              <a:t>Actors and Mockups (xii)</a:t>
            </a:r>
          </a:p>
        </p:txBody>
      </p:sp>
      <p:sp>
        <p:nvSpPr>
          <p:cNvPr id="3" name="CasellaDiTesto 2">
            <a:extLst>
              <a:ext uri="{FF2B5EF4-FFF2-40B4-BE49-F238E27FC236}">
                <a16:creationId xmlns:a16="http://schemas.microsoft.com/office/drawing/2014/main" id="{90DC150A-377C-CBA1-7C73-41B62A6A6BF5}"/>
              </a:ext>
            </a:extLst>
          </p:cNvPr>
          <p:cNvSpPr txBox="1"/>
          <p:nvPr/>
        </p:nvSpPr>
        <p:spPr>
          <a:xfrm>
            <a:off x="367866" y="1040429"/>
            <a:ext cx="8213271" cy="369332"/>
          </a:xfrm>
          <a:prstGeom prst="rect">
            <a:avLst/>
          </a:prstGeom>
          <a:noFill/>
        </p:spPr>
        <p:txBody>
          <a:bodyPr wrap="square" rtlCol="0">
            <a:spAutoFit/>
          </a:bodyPr>
          <a:lstStyle/>
          <a:p>
            <a:r>
              <a:rPr lang="en-US" b="1" i="1" u="sng"/>
              <a:t>Foodie – Smart Fridge</a:t>
            </a:r>
          </a:p>
        </p:txBody>
      </p:sp>
      <p:pic>
        <p:nvPicPr>
          <p:cNvPr id="5" name="Immagine 4" descr="Immagine che contiene testo, schermata, Pagina Web, software&#10;&#10;Il contenuto generato dall'IA potrebbe non essere corretto.">
            <a:extLst>
              <a:ext uri="{FF2B5EF4-FFF2-40B4-BE49-F238E27FC236}">
                <a16:creationId xmlns:a16="http://schemas.microsoft.com/office/drawing/2014/main" id="{7DB51A32-4785-CCE7-A66B-233C02763B52}"/>
              </a:ext>
            </a:extLst>
          </p:cNvPr>
          <p:cNvPicPr>
            <a:picLocks noChangeAspect="1"/>
          </p:cNvPicPr>
          <p:nvPr/>
        </p:nvPicPr>
        <p:blipFill>
          <a:blip r:embed="rId2"/>
          <a:stretch>
            <a:fillRect/>
          </a:stretch>
        </p:blipFill>
        <p:spPr>
          <a:xfrm>
            <a:off x="1730723" y="1453305"/>
            <a:ext cx="5682554" cy="4454744"/>
          </a:xfrm>
          <a:prstGeom prst="rect">
            <a:avLst/>
          </a:prstGeom>
        </p:spPr>
      </p:pic>
    </p:spTree>
    <p:extLst>
      <p:ext uri="{BB962C8B-B14F-4D97-AF65-F5344CB8AC3E}">
        <p14:creationId xmlns:p14="http://schemas.microsoft.com/office/powerpoint/2010/main" val="11673707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F2D98-4918-BE5D-7526-879411FB593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01BDEF7-07CC-92FE-23B0-68AAE4AB98B5}"/>
              </a:ext>
            </a:extLst>
          </p:cNvPr>
          <p:cNvSpPr>
            <a:spLocks noGrp="1"/>
          </p:cNvSpPr>
          <p:nvPr>
            <p:ph type="title"/>
          </p:nvPr>
        </p:nvSpPr>
        <p:spPr>
          <a:xfrm>
            <a:off x="191101" y="-94573"/>
            <a:ext cx="8761797" cy="1143000"/>
          </a:xfrm>
        </p:spPr>
        <p:txBody>
          <a:bodyPr>
            <a:normAutofit/>
          </a:bodyPr>
          <a:lstStyle/>
          <a:p>
            <a:r>
              <a:rPr lang="en-US"/>
              <a:t>Actors and Mockups (xiii)</a:t>
            </a:r>
          </a:p>
        </p:txBody>
      </p:sp>
      <p:sp>
        <p:nvSpPr>
          <p:cNvPr id="3" name="CasellaDiTesto 2">
            <a:extLst>
              <a:ext uri="{FF2B5EF4-FFF2-40B4-BE49-F238E27FC236}">
                <a16:creationId xmlns:a16="http://schemas.microsoft.com/office/drawing/2014/main" id="{4E94199C-BF88-7769-F57E-1A9740C753A6}"/>
              </a:ext>
            </a:extLst>
          </p:cNvPr>
          <p:cNvSpPr txBox="1"/>
          <p:nvPr/>
        </p:nvSpPr>
        <p:spPr>
          <a:xfrm>
            <a:off x="465363" y="956094"/>
            <a:ext cx="8213271" cy="369332"/>
          </a:xfrm>
          <a:prstGeom prst="rect">
            <a:avLst/>
          </a:prstGeom>
          <a:noFill/>
        </p:spPr>
        <p:txBody>
          <a:bodyPr wrap="square" rtlCol="0">
            <a:spAutoFit/>
          </a:bodyPr>
          <a:lstStyle/>
          <a:p>
            <a:r>
              <a:rPr lang="en-US" b="1" i="1" u="sng"/>
              <a:t>Foodie – Smart Shopping List</a:t>
            </a:r>
          </a:p>
        </p:txBody>
      </p:sp>
      <p:pic>
        <p:nvPicPr>
          <p:cNvPr id="6" name="Immagine 5" descr="Immagine che contiene testo, schermata, software, numero&#10;&#10;Il contenuto generato dall'IA potrebbe non essere corretto.">
            <a:extLst>
              <a:ext uri="{FF2B5EF4-FFF2-40B4-BE49-F238E27FC236}">
                <a16:creationId xmlns:a16="http://schemas.microsoft.com/office/drawing/2014/main" id="{D48EA343-8E48-75DE-6047-63F49AD8B9BF}"/>
              </a:ext>
            </a:extLst>
          </p:cNvPr>
          <p:cNvPicPr>
            <a:picLocks noChangeAspect="1"/>
          </p:cNvPicPr>
          <p:nvPr/>
        </p:nvPicPr>
        <p:blipFill>
          <a:blip r:embed="rId2"/>
          <a:stretch>
            <a:fillRect/>
          </a:stretch>
        </p:blipFill>
        <p:spPr>
          <a:xfrm>
            <a:off x="718454" y="1438848"/>
            <a:ext cx="7960180" cy="4463058"/>
          </a:xfrm>
          <a:prstGeom prst="rect">
            <a:avLst/>
          </a:prstGeom>
        </p:spPr>
      </p:pic>
    </p:spTree>
    <p:extLst>
      <p:ext uri="{BB962C8B-B14F-4D97-AF65-F5344CB8AC3E}">
        <p14:creationId xmlns:p14="http://schemas.microsoft.com/office/powerpoint/2010/main" val="34228598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92FC2-1DE8-B4F6-4852-BF0F307AA55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5DA4F41-6757-25FA-D7B4-CA15160D1F41}"/>
              </a:ext>
            </a:extLst>
          </p:cNvPr>
          <p:cNvSpPr>
            <a:spLocks noGrp="1"/>
          </p:cNvSpPr>
          <p:nvPr>
            <p:ph type="title"/>
          </p:nvPr>
        </p:nvSpPr>
        <p:spPr>
          <a:xfrm>
            <a:off x="191100" y="0"/>
            <a:ext cx="8761797" cy="1143000"/>
          </a:xfrm>
        </p:spPr>
        <p:txBody>
          <a:bodyPr/>
          <a:lstStyle/>
          <a:p>
            <a:r>
              <a:rPr lang="en-US" dirty="0"/>
              <a:t>Dataset Description</a:t>
            </a:r>
          </a:p>
        </p:txBody>
      </p:sp>
      <p:sp>
        <p:nvSpPr>
          <p:cNvPr id="3" name="CasellaDiTesto 2">
            <a:extLst>
              <a:ext uri="{FF2B5EF4-FFF2-40B4-BE49-F238E27FC236}">
                <a16:creationId xmlns:a16="http://schemas.microsoft.com/office/drawing/2014/main" id="{11265366-FD35-B7A8-FF3C-C7DBC54F067E}"/>
              </a:ext>
            </a:extLst>
          </p:cNvPr>
          <p:cNvSpPr txBox="1"/>
          <p:nvPr/>
        </p:nvSpPr>
        <p:spPr>
          <a:xfrm>
            <a:off x="397483" y="1285504"/>
            <a:ext cx="8349029" cy="4708981"/>
          </a:xfrm>
          <a:prstGeom prst="rect">
            <a:avLst/>
          </a:prstGeom>
          <a:noFill/>
        </p:spPr>
        <p:txBody>
          <a:bodyPr wrap="square" rtlCol="0">
            <a:spAutoFit/>
          </a:bodyPr>
          <a:lstStyle/>
          <a:p>
            <a:r>
              <a:rPr lang="en-US" sz="2000" b="1" i="1" dirty="0"/>
              <a:t>Sources (via Python Web-Scraping):</a:t>
            </a:r>
          </a:p>
          <a:p>
            <a:pPr marL="800100" lvl="1" indent="-342900">
              <a:buFont typeface="Calibri" panose="020F0502020204030204" pitchFamily="34" charset="0"/>
              <a:buChar char="․"/>
            </a:pPr>
            <a:r>
              <a:rPr lang="it-IT" sz="2000" dirty="0"/>
              <a:t>BBC </a:t>
            </a:r>
            <a:r>
              <a:rPr lang="it-IT" sz="2000" dirty="0" err="1"/>
              <a:t>GoodFood</a:t>
            </a:r>
            <a:endParaRPr lang="it-IT" sz="2000" dirty="0"/>
          </a:p>
          <a:p>
            <a:pPr marL="800100" lvl="1" indent="-342900">
              <a:buFont typeface="Calibri" panose="020F0502020204030204" pitchFamily="34" charset="0"/>
              <a:buChar char="․"/>
            </a:pPr>
            <a:r>
              <a:rPr lang="it-IT" sz="2000" dirty="0" err="1"/>
              <a:t>AllRecipes</a:t>
            </a:r>
            <a:r>
              <a:rPr lang="it-IT" sz="2000" dirty="0"/>
              <a:t> </a:t>
            </a:r>
          </a:p>
          <a:p>
            <a:pPr marL="800100" lvl="1" indent="-342900">
              <a:buFont typeface="Calibri" panose="020F0502020204030204" pitchFamily="34" charset="0"/>
              <a:buChar char="․"/>
            </a:pPr>
            <a:r>
              <a:rPr lang="it-IT" sz="2000" dirty="0"/>
              <a:t>GialloZafferano </a:t>
            </a:r>
          </a:p>
          <a:p>
            <a:endParaRPr lang="en-US" sz="2000" b="1" i="1" dirty="0"/>
          </a:p>
          <a:p>
            <a:pPr algn="just"/>
            <a:r>
              <a:rPr lang="en-US" sz="2000" b="1" i="1" dirty="0"/>
              <a:t>Variety</a:t>
            </a:r>
            <a:r>
              <a:rPr lang="en-US" sz="2000" dirty="0"/>
              <a:t>: </a:t>
            </a:r>
          </a:p>
          <a:p>
            <a:pPr algn="just"/>
            <a:r>
              <a:rPr lang="en-US" sz="2000"/>
              <a:t>It is achieved by the fact that the web-service handles data retrieved from three different sources.</a:t>
            </a:r>
          </a:p>
          <a:p>
            <a:pPr algn="just"/>
            <a:endParaRPr lang="it-IT" sz="2000" b="1" i="1" dirty="0"/>
          </a:p>
          <a:p>
            <a:pPr algn="just"/>
            <a:r>
              <a:rPr lang="en-US" sz="2000" b="1" i="1" dirty="0"/>
              <a:t>Velocity/Variability</a:t>
            </a:r>
            <a:r>
              <a:rPr lang="en-US" sz="2000" dirty="0"/>
              <a:t>:</a:t>
            </a:r>
          </a:p>
          <a:p>
            <a:pPr algn="just"/>
            <a:r>
              <a:rPr lang="it-IT" sz="2000" dirty="0"/>
              <a:t>The system </a:t>
            </a:r>
            <a:r>
              <a:rPr lang="it-IT" sz="2000" err="1"/>
              <a:t>is</a:t>
            </a:r>
            <a:r>
              <a:rPr lang="it-IT" sz="2000" dirty="0"/>
              <a:t> </a:t>
            </a:r>
            <a:r>
              <a:rPr lang="it-IT" sz="2000" dirty="0" err="1"/>
              <a:t>highly</a:t>
            </a:r>
            <a:r>
              <a:rPr lang="it-IT" sz="2000" dirty="0"/>
              <a:t> </a:t>
            </a:r>
            <a:r>
              <a:rPr lang="it-IT" sz="2000" dirty="0" err="1"/>
              <a:t>dynamic</a:t>
            </a:r>
            <a:r>
              <a:rPr lang="it-IT" sz="2000" dirty="0"/>
              <a:t>, </a:t>
            </a:r>
            <a:r>
              <a:rPr lang="it-IT" sz="2000" err="1"/>
              <a:t>evolving</a:t>
            </a:r>
            <a:r>
              <a:rPr lang="it-IT" sz="2000" dirty="0"/>
              <a:t> </a:t>
            </a:r>
            <a:r>
              <a:rPr lang="it-IT" sz="2000" dirty="0" err="1"/>
              <a:t>rapidly</a:t>
            </a:r>
            <a:r>
              <a:rPr lang="it-IT" sz="2000" dirty="0"/>
              <a:t> </a:t>
            </a:r>
            <a:r>
              <a:rPr lang="it-IT" sz="2000" dirty="0" err="1"/>
              <a:t>through</a:t>
            </a:r>
            <a:r>
              <a:rPr lang="it-IT" sz="2000" dirty="0"/>
              <a:t> </a:t>
            </a:r>
            <a:r>
              <a:rPr lang="it-IT" sz="2000" dirty="0" err="1"/>
              <a:t>continuous</a:t>
            </a:r>
            <a:r>
              <a:rPr lang="it-IT" sz="2000" dirty="0"/>
              <a:t> data </a:t>
            </a:r>
            <a:r>
              <a:rPr lang="it-IT" sz="2000" dirty="0" err="1"/>
              <a:t>ingestion</a:t>
            </a:r>
            <a:r>
              <a:rPr lang="it-IT" sz="2000" dirty="0"/>
              <a:t> and user activity. </a:t>
            </a:r>
            <a:r>
              <a:rPr lang="it-IT" sz="2000" err="1"/>
              <a:t>This</a:t>
            </a:r>
            <a:r>
              <a:rPr lang="it-IT" sz="2000" dirty="0"/>
              <a:t> </a:t>
            </a:r>
            <a:r>
              <a:rPr lang="it-IT" sz="2000" dirty="0" err="1"/>
              <a:t>includes</a:t>
            </a:r>
            <a:r>
              <a:rPr lang="it-IT" sz="2000" dirty="0"/>
              <a:t> the regular </a:t>
            </a:r>
            <a:r>
              <a:rPr lang="it-IT" sz="2000" dirty="0" err="1"/>
              <a:t>insertion</a:t>
            </a:r>
            <a:r>
              <a:rPr lang="it-IT" sz="2000" dirty="0"/>
              <a:t> of new </a:t>
            </a:r>
            <a:r>
              <a:rPr lang="it-IT" sz="2000" dirty="0" err="1"/>
              <a:t>recipes</a:t>
            </a:r>
            <a:r>
              <a:rPr lang="it-IT" sz="2000" dirty="0"/>
              <a:t>, </a:t>
            </a:r>
            <a:r>
              <a:rPr lang="it-IT" sz="2000" dirty="0" err="1"/>
              <a:t>ongoing</a:t>
            </a:r>
            <a:r>
              <a:rPr lang="it-IT" sz="2000" dirty="0"/>
              <a:t> user </a:t>
            </a:r>
            <a:r>
              <a:rPr lang="it-IT" sz="2000" dirty="0" err="1"/>
              <a:t>registrations</a:t>
            </a:r>
            <a:r>
              <a:rPr lang="it-IT" sz="2000" dirty="0"/>
              <a:t>, recipe </a:t>
            </a:r>
            <a:r>
              <a:rPr lang="it-IT" sz="2000" dirty="0" err="1"/>
              <a:t>saving</a:t>
            </a:r>
            <a:r>
              <a:rPr lang="it-IT" sz="2000" dirty="0"/>
              <a:t> actions, </a:t>
            </a:r>
            <a:r>
              <a:rPr lang="it-IT" sz="2000" dirty="0" err="1"/>
              <a:t>dynamic</a:t>
            </a:r>
            <a:r>
              <a:rPr lang="it-IT" sz="2000" dirty="0"/>
              <a:t> Smart </a:t>
            </a:r>
            <a:r>
              <a:rPr lang="it-IT" sz="2000"/>
              <a:t>Fridge</a:t>
            </a:r>
            <a:r>
              <a:rPr lang="it-IT" sz="2000" dirty="0"/>
              <a:t> interactions, and real-time Shopping List updates. </a:t>
            </a:r>
          </a:p>
          <a:p>
            <a:endParaRPr lang="en-US" sz="2000" dirty="0"/>
          </a:p>
        </p:txBody>
      </p:sp>
      <p:sp>
        <p:nvSpPr>
          <p:cNvPr id="5" name="TextBox 4">
            <a:extLst>
              <a:ext uri="{FF2B5EF4-FFF2-40B4-BE49-F238E27FC236}">
                <a16:creationId xmlns:a16="http://schemas.microsoft.com/office/drawing/2014/main" id="{46335B45-5DCC-643D-B203-DF4F7A0D358D}"/>
              </a:ext>
            </a:extLst>
          </p:cNvPr>
          <p:cNvSpPr txBox="1"/>
          <p:nvPr/>
        </p:nvSpPr>
        <p:spPr>
          <a:xfrm>
            <a:off x="4713134" y="1285504"/>
            <a:ext cx="4136571" cy="1231106"/>
          </a:xfrm>
          <a:prstGeom prst="rect">
            <a:avLst/>
          </a:prstGeom>
          <a:noFill/>
        </p:spPr>
        <p:txBody>
          <a:bodyPr wrap="square">
            <a:spAutoFit/>
          </a:bodyPr>
          <a:lstStyle/>
          <a:p>
            <a:r>
              <a:rPr lang="en-US" sz="2000" b="1" i="1" dirty="0"/>
              <a:t>Volume</a:t>
            </a:r>
            <a:r>
              <a:rPr lang="en-US" sz="1800" b="1" i="1" dirty="0"/>
              <a:t>: </a:t>
            </a:r>
          </a:p>
          <a:p>
            <a:pPr marL="285750" indent="-285750">
              <a:buFont typeface="Symbol" panose="05050102010706020507" pitchFamily="18" charset="2"/>
              <a:buChar char=""/>
            </a:pPr>
            <a:r>
              <a:rPr lang="it-IT" sz="1800" dirty="0"/>
              <a:t>1</a:t>
            </a:r>
            <a:r>
              <a:rPr lang="it-IT" dirty="0"/>
              <a:t>5</a:t>
            </a:r>
            <a:r>
              <a:rPr lang="it-IT" sz="1800" dirty="0"/>
              <a:t>,832 </a:t>
            </a:r>
            <a:r>
              <a:rPr lang="it-IT" dirty="0" err="1"/>
              <a:t>R</a:t>
            </a:r>
            <a:r>
              <a:rPr lang="it-IT" sz="1800" dirty="0" err="1"/>
              <a:t>ecipes</a:t>
            </a:r>
            <a:r>
              <a:rPr lang="it-IT" sz="1800" dirty="0"/>
              <a:t> </a:t>
            </a:r>
            <a:r>
              <a:rPr lang="it-IT" dirty="0"/>
              <a:t> 		≈ 53 MB</a:t>
            </a:r>
            <a:endParaRPr lang="it-IT" sz="1800" dirty="0"/>
          </a:p>
          <a:p>
            <a:pPr marL="285750" indent="-285750">
              <a:buFont typeface="Symbol" panose="05050102010706020507" pitchFamily="18" charset="2"/>
              <a:buChar char=""/>
            </a:pPr>
            <a:r>
              <a:rPr lang="it-IT" sz="1800" dirty="0"/>
              <a:t>5,000 Foodies</a:t>
            </a:r>
          </a:p>
          <a:p>
            <a:pPr marL="285750" indent="-285750">
              <a:buFont typeface="Symbol" panose="05050102010706020507" pitchFamily="18" charset="2"/>
              <a:buChar char=""/>
            </a:pPr>
            <a:r>
              <a:rPr lang="it-IT" sz="1800" dirty="0"/>
              <a:t>93 Chefs</a:t>
            </a:r>
            <a:endParaRPr lang="en-US" sz="1800" b="1" i="1" dirty="0"/>
          </a:p>
        </p:txBody>
      </p:sp>
      <p:sp>
        <p:nvSpPr>
          <p:cNvPr id="6" name="Right Brace 5">
            <a:extLst>
              <a:ext uri="{FF2B5EF4-FFF2-40B4-BE49-F238E27FC236}">
                <a16:creationId xmlns:a16="http://schemas.microsoft.com/office/drawing/2014/main" id="{F5BD3549-8204-6C7C-D104-BBC5A3F713C1}"/>
              </a:ext>
            </a:extLst>
          </p:cNvPr>
          <p:cNvSpPr/>
          <p:nvPr/>
        </p:nvSpPr>
        <p:spPr>
          <a:xfrm>
            <a:off x="6841067" y="1941457"/>
            <a:ext cx="104018" cy="540000"/>
          </a:xfrm>
          <a:prstGeom prst="rightBrace">
            <a:avLst/>
          </a:prstGeom>
          <a:noFill/>
          <a:ln w="3175">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
        <p:nvSpPr>
          <p:cNvPr id="8" name="TextBox 7">
            <a:extLst>
              <a:ext uri="{FF2B5EF4-FFF2-40B4-BE49-F238E27FC236}">
                <a16:creationId xmlns:a16="http://schemas.microsoft.com/office/drawing/2014/main" id="{E037E508-CEB3-FE56-DE03-58287664A177}"/>
              </a:ext>
            </a:extLst>
          </p:cNvPr>
          <p:cNvSpPr txBox="1"/>
          <p:nvPr/>
        </p:nvSpPr>
        <p:spPr>
          <a:xfrm>
            <a:off x="6988629" y="2026791"/>
            <a:ext cx="1240971" cy="369332"/>
          </a:xfrm>
          <a:prstGeom prst="rect">
            <a:avLst/>
          </a:prstGeom>
          <a:noFill/>
        </p:spPr>
        <p:txBody>
          <a:bodyPr wrap="square">
            <a:spAutoFit/>
          </a:bodyPr>
          <a:lstStyle/>
          <a:p>
            <a:r>
              <a:rPr lang="it-IT" sz="1800"/>
              <a:t>≈ 2.5 MB</a:t>
            </a:r>
            <a:endParaRPr lang="it-IT"/>
          </a:p>
        </p:txBody>
      </p:sp>
    </p:spTree>
    <p:extLst>
      <p:ext uri="{BB962C8B-B14F-4D97-AF65-F5344CB8AC3E}">
        <p14:creationId xmlns:p14="http://schemas.microsoft.com/office/powerpoint/2010/main" val="34534957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1644655-4536-3B2F-CFF1-B95898C8E8B1}"/>
              </a:ext>
            </a:extLst>
          </p:cNvPr>
          <p:cNvSpPr>
            <a:spLocks noGrp="1"/>
          </p:cNvSpPr>
          <p:nvPr>
            <p:ph type="title"/>
          </p:nvPr>
        </p:nvSpPr>
        <p:spPr>
          <a:xfrm>
            <a:off x="191101" y="0"/>
            <a:ext cx="8761797" cy="1143000"/>
          </a:xfrm>
        </p:spPr>
        <p:txBody>
          <a:bodyPr/>
          <a:lstStyle/>
          <a:p>
            <a:r>
              <a:rPr lang="it-IT"/>
              <a:t>Dataset </a:t>
            </a:r>
            <a:r>
              <a:rPr lang="it-IT" err="1"/>
              <a:t>Description</a:t>
            </a:r>
            <a:endParaRPr lang="it-IT"/>
          </a:p>
        </p:txBody>
      </p:sp>
      <p:sp>
        <p:nvSpPr>
          <p:cNvPr id="5" name="Rettangolo con angoli arrotondati 4">
            <a:extLst>
              <a:ext uri="{FF2B5EF4-FFF2-40B4-BE49-F238E27FC236}">
                <a16:creationId xmlns:a16="http://schemas.microsoft.com/office/drawing/2014/main" id="{1CBEE9BA-B2B4-575B-D656-8D81EAD3DA12}"/>
              </a:ext>
            </a:extLst>
          </p:cNvPr>
          <p:cNvSpPr/>
          <p:nvPr/>
        </p:nvSpPr>
        <p:spPr>
          <a:xfrm>
            <a:off x="491613" y="1243077"/>
            <a:ext cx="3873558" cy="4611329"/>
          </a:xfrm>
          <a:prstGeom prst="round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it-IT"/>
          </a:p>
        </p:txBody>
      </p:sp>
      <p:sp>
        <p:nvSpPr>
          <p:cNvPr id="8" name="CasellaDiTesto 7">
            <a:extLst>
              <a:ext uri="{FF2B5EF4-FFF2-40B4-BE49-F238E27FC236}">
                <a16:creationId xmlns:a16="http://schemas.microsoft.com/office/drawing/2014/main" id="{49129D38-6F53-06EA-9BF8-8264266805E1}"/>
              </a:ext>
            </a:extLst>
          </p:cNvPr>
          <p:cNvSpPr txBox="1"/>
          <p:nvPr/>
        </p:nvSpPr>
        <p:spPr>
          <a:xfrm>
            <a:off x="845572" y="1362669"/>
            <a:ext cx="3087329" cy="492443"/>
          </a:xfrm>
          <a:prstGeom prst="rect">
            <a:avLst/>
          </a:prstGeom>
          <a:noFill/>
          <a:ln>
            <a:noFill/>
          </a:ln>
        </p:spPr>
        <p:txBody>
          <a:bodyPr wrap="square" rtlCol="0">
            <a:spAutoFit/>
          </a:bodyPr>
          <a:lstStyle/>
          <a:p>
            <a:pPr algn="ctr"/>
            <a:r>
              <a:rPr lang="it-IT" sz="2600" b="1" i="1" err="1"/>
              <a:t>Recipes</a:t>
            </a:r>
            <a:endParaRPr lang="it-IT" sz="2600" b="1" i="1"/>
          </a:p>
        </p:txBody>
      </p:sp>
      <p:sp>
        <p:nvSpPr>
          <p:cNvPr id="9" name="CasellaDiTesto 8">
            <a:extLst>
              <a:ext uri="{FF2B5EF4-FFF2-40B4-BE49-F238E27FC236}">
                <a16:creationId xmlns:a16="http://schemas.microsoft.com/office/drawing/2014/main" id="{E87E3A6D-EED6-8E60-23E2-DBE249D22299}"/>
              </a:ext>
            </a:extLst>
          </p:cNvPr>
          <p:cNvSpPr txBox="1"/>
          <p:nvPr/>
        </p:nvSpPr>
        <p:spPr>
          <a:xfrm>
            <a:off x="5211096" y="1401628"/>
            <a:ext cx="3087329" cy="492443"/>
          </a:xfrm>
          <a:prstGeom prst="rect">
            <a:avLst/>
          </a:prstGeom>
          <a:noFill/>
        </p:spPr>
        <p:txBody>
          <a:bodyPr wrap="square" rtlCol="0">
            <a:spAutoFit/>
          </a:bodyPr>
          <a:lstStyle/>
          <a:p>
            <a:pPr algn="ctr"/>
            <a:r>
              <a:rPr lang="it-IT" sz="2600" b="1" i="1" dirty="0"/>
              <a:t>Users</a:t>
            </a:r>
          </a:p>
        </p:txBody>
      </p:sp>
      <p:sp>
        <p:nvSpPr>
          <p:cNvPr id="10" name="CasellaDiTesto 9">
            <a:extLst>
              <a:ext uri="{FF2B5EF4-FFF2-40B4-BE49-F238E27FC236}">
                <a16:creationId xmlns:a16="http://schemas.microsoft.com/office/drawing/2014/main" id="{19155F81-AF6E-00EB-A3DD-755722D0F3E8}"/>
              </a:ext>
            </a:extLst>
          </p:cNvPr>
          <p:cNvSpPr txBox="1"/>
          <p:nvPr/>
        </p:nvSpPr>
        <p:spPr>
          <a:xfrm>
            <a:off x="577995" y="1908871"/>
            <a:ext cx="3687098" cy="3662541"/>
          </a:xfrm>
          <a:prstGeom prst="rect">
            <a:avLst/>
          </a:prstGeom>
          <a:noFill/>
        </p:spPr>
        <p:txBody>
          <a:bodyPr wrap="square" rtlCol="0">
            <a:spAutoFit/>
          </a:bodyPr>
          <a:lstStyle/>
          <a:p>
            <a:pPr marL="285750" indent="-285750">
              <a:buFont typeface="Arial" panose="020B0604020202020204" pitchFamily="34" charset="0"/>
              <a:buChar char="•"/>
            </a:pPr>
            <a:r>
              <a:rPr lang="en-US" sz="1600" b="1"/>
              <a:t>Web Scraping Sources</a:t>
            </a:r>
          </a:p>
          <a:p>
            <a:pPr marL="285750" indent="-285750">
              <a:buFont typeface="Arial" panose="020B0604020202020204" pitchFamily="34" charset="0"/>
              <a:buChar char="•"/>
            </a:pPr>
            <a:endParaRPr lang="en-US" sz="600" b="1"/>
          </a:p>
          <a:p>
            <a:pPr marL="285750" indent="-285750">
              <a:buFont typeface="Arial" panose="020B0604020202020204" pitchFamily="34" charset="0"/>
              <a:buChar char="•"/>
            </a:pPr>
            <a:r>
              <a:rPr lang="en-US" sz="1600" b="1"/>
              <a:t>Deduplication:</a:t>
            </a:r>
            <a:r>
              <a:rPr lang="en-US" sz="1600"/>
              <a:t> Removed duplicate recipes.</a:t>
            </a:r>
          </a:p>
          <a:p>
            <a:pPr marL="285750" indent="-285750">
              <a:buFont typeface="Arial" panose="020B0604020202020204" pitchFamily="34" charset="0"/>
              <a:buChar char="•"/>
            </a:pPr>
            <a:endParaRPr lang="en-US" sz="600"/>
          </a:p>
          <a:p>
            <a:pPr marL="285750" indent="-285750">
              <a:buFont typeface="Arial" panose="020B0604020202020204" pitchFamily="34" charset="0"/>
              <a:buChar char="•"/>
            </a:pPr>
            <a:r>
              <a:rPr lang="en-US" sz="1600" b="1"/>
              <a:t>Ingredient Normalization:</a:t>
            </a:r>
            <a:r>
              <a:rPr lang="en-US" sz="1600"/>
              <a:t> Normalized ingredients for consistent data within the application. </a:t>
            </a:r>
            <a:endParaRPr lang="en-US" sz="600"/>
          </a:p>
          <a:p>
            <a:r>
              <a:rPr lang="en-US" sz="600"/>
              <a:t> </a:t>
            </a:r>
          </a:p>
          <a:p>
            <a:pPr marL="285750" indent="-285750">
              <a:buFont typeface="Arial" panose="020B0604020202020204" pitchFamily="34" charset="0"/>
              <a:buChar char="•"/>
            </a:pPr>
            <a:r>
              <a:rPr lang="en-US" sz="1600" b="1"/>
              <a:t>Text Cleaning:</a:t>
            </a:r>
            <a:r>
              <a:rPr lang="en-US" sz="1600"/>
              <a:t> Eliminated artifacts and redundant formatting characters.</a:t>
            </a:r>
          </a:p>
          <a:p>
            <a:pPr marL="285750" indent="-285750">
              <a:buFont typeface="Arial" panose="020B0604020202020204" pitchFamily="34" charset="0"/>
              <a:buChar char="•"/>
            </a:pPr>
            <a:endParaRPr lang="en-US" sz="600"/>
          </a:p>
          <a:p>
            <a:pPr marL="285750" indent="-285750">
              <a:buFont typeface="Arial" panose="020B0604020202020204" pitchFamily="34" charset="0"/>
              <a:buChar char="•"/>
            </a:pPr>
            <a:r>
              <a:rPr lang="en-US" sz="1600" b="1"/>
              <a:t>Missing Data Generation:</a:t>
            </a:r>
            <a:r>
              <a:rPr lang="en-US" sz="1600"/>
              <a:t> Manually integrated or deduced missing attributes by re-consulting sources and cross-referencing web data.</a:t>
            </a:r>
          </a:p>
          <a:p>
            <a:pPr algn="just"/>
            <a:endParaRPr lang="it-IT" sz="1600"/>
          </a:p>
        </p:txBody>
      </p:sp>
      <p:sp>
        <p:nvSpPr>
          <p:cNvPr id="11" name="CasellaDiTesto 10">
            <a:extLst>
              <a:ext uri="{FF2B5EF4-FFF2-40B4-BE49-F238E27FC236}">
                <a16:creationId xmlns:a16="http://schemas.microsoft.com/office/drawing/2014/main" id="{5E93C0A6-595D-9819-D4AB-1C0714335252}"/>
              </a:ext>
            </a:extLst>
          </p:cNvPr>
          <p:cNvSpPr txBox="1"/>
          <p:nvPr/>
        </p:nvSpPr>
        <p:spPr>
          <a:xfrm>
            <a:off x="4989871" y="2093536"/>
            <a:ext cx="3460955" cy="3293209"/>
          </a:xfrm>
          <a:prstGeom prst="rect">
            <a:avLst/>
          </a:prstGeom>
          <a:noFill/>
        </p:spPr>
        <p:txBody>
          <a:bodyPr wrap="square" rtlCol="0">
            <a:spAutoFit/>
          </a:bodyPr>
          <a:lstStyle/>
          <a:p>
            <a:pPr marL="285750" indent="-285750">
              <a:buFont typeface="Arial" panose="020B0604020202020204" pitchFamily="34" charset="0"/>
              <a:buChar char="•"/>
            </a:pPr>
            <a:r>
              <a:rPr lang="en-US" sz="1600" b="1"/>
              <a:t>Foodie Profiles :</a:t>
            </a:r>
            <a:r>
              <a:rPr lang="en-US" sz="1600"/>
              <a:t> Generated using the Python </a:t>
            </a:r>
            <a:r>
              <a:rPr lang="en-US" sz="1600" i="1"/>
              <a:t>Faker</a:t>
            </a:r>
            <a:r>
              <a:rPr lang="en-US" sz="1600"/>
              <a:t> library to populate realistic personal attributes (names, emails, registration dates, birthdays).</a:t>
            </a:r>
          </a:p>
          <a:p>
            <a:pPr marL="285750" indent="-285750">
              <a:buFont typeface="Arial" panose="020B0604020202020204" pitchFamily="34" charset="0"/>
              <a:buChar char="•"/>
            </a:pPr>
            <a:endParaRPr lang="en-US" sz="1600"/>
          </a:p>
          <a:p>
            <a:pPr marL="285750" indent="-285750">
              <a:buFont typeface="Arial" panose="020B0604020202020204" pitchFamily="34" charset="0"/>
              <a:buChar char="•"/>
            </a:pPr>
            <a:r>
              <a:rPr lang="en-US" sz="1600" b="1"/>
              <a:t>Chef Profiles:</a:t>
            </a:r>
            <a:r>
              <a:rPr lang="en-US" sz="1600"/>
              <a:t> Real chefs were scraped from culinary websites to ensure authentic professional identities, while all other metadata was generated via Python </a:t>
            </a:r>
            <a:r>
              <a:rPr lang="en-US" sz="1600" i="1"/>
              <a:t>Faker </a:t>
            </a:r>
            <a:r>
              <a:rPr lang="en-US" sz="1600"/>
              <a:t>library.</a:t>
            </a:r>
          </a:p>
          <a:p>
            <a:endParaRPr lang="it-IT" sz="1600"/>
          </a:p>
        </p:txBody>
      </p:sp>
      <p:sp>
        <p:nvSpPr>
          <p:cNvPr id="4" name="Rettangolo con angoli arrotondati 4">
            <a:extLst>
              <a:ext uri="{FF2B5EF4-FFF2-40B4-BE49-F238E27FC236}">
                <a16:creationId xmlns:a16="http://schemas.microsoft.com/office/drawing/2014/main" id="{8BA96769-E8CA-D24F-EA62-4850B85BF880}"/>
              </a:ext>
            </a:extLst>
          </p:cNvPr>
          <p:cNvSpPr/>
          <p:nvPr/>
        </p:nvSpPr>
        <p:spPr>
          <a:xfrm>
            <a:off x="4783570" y="1243076"/>
            <a:ext cx="3873558" cy="4611329"/>
          </a:xfrm>
          <a:prstGeom prst="roundRect">
            <a:avLst/>
          </a:prstGeom>
          <a:no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it-IT"/>
          </a:p>
        </p:txBody>
      </p:sp>
    </p:spTree>
    <p:extLst>
      <p:ext uri="{BB962C8B-B14F-4D97-AF65-F5344CB8AC3E}">
        <p14:creationId xmlns:p14="http://schemas.microsoft.com/office/powerpoint/2010/main" val="17133242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31A7364-9B4E-DC49-AA70-BE5A302DEAAF}"/>
              </a:ext>
            </a:extLst>
          </p:cNvPr>
          <p:cNvSpPr>
            <a:spLocks noGrp="1"/>
          </p:cNvSpPr>
          <p:nvPr>
            <p:ph type="title"/>
          </p:nvPr>
        </p:nvSpPr>
        <p:spPr>
          <a:xfrm>
            <a:off x="191101" y="0"/>
            <a:ext cx="8761797" cy="1143000"/>
          </a:xfrm>
        </p:spPr>
        <p:txBody>
          <a:bodyPr/>
          <a:lstStyle/>
          <a:p>
            <a:r>
              <a:rPr lang="en-US"/>
              <a:t>UML Design Class Diagram</a:t>
            </a:r>
          </a:p>
        </p:txBody>
      </p:sp>
      <p:pic>
        <p:nvPicPr>
          <p:cNvPr id="17" name="Graphic 16">
            <a:extLst>
              <a:ext uri="{FF2B5EF4-FFF2-40B4-BE49-F238E27FC236}">
                <a16:creationId xmlns:a16="http://schemas.microsoft.com/office/drawing/2014/main" id="{B164EBEC-7942-607B-9E7A-87F837ADF65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19116" y="1110922"/>
            <a:ext cx="5905768" cy="5072163"/>
          </a:xfrm>
          <a:prstGeom prst="rect">
            <a:avLst/>
          </a:prstGeom>
        </p:spPr>
      </p:pic>
    </p:spTree>
    <p:extLst>
      <p:ext uri="{BB962C8B-B14F-4D97-AF65-F5344CB8AC3E}">
        <p14:creationId xmlns:p14="http://schemas.microsoft.com/office/powerpoint/2010/main" val="7737925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E86CC-9103-FD27-DF99-A05BB1B185B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A103D43-ADC4-3DC2-18EE-A6F94FA28132}"/>
              </a:ext>
            </a:extLst>
          </p:cNvPr>
          <p:cNvSpPr>
            <a:spLocks noGrp="1"/>
          </p:cNvSpPr>
          <p:nvPr>
            <p:ph type="title"/>
          </p:nvPr>
        </p:nvSpPr>
        <p:spPr/>
        <p:txBody>
          <a:bodyPr>
            <a:normAutofit fontScale="90000"/>
          </a:bodyPr>
          <a:lstStyle/>
          <a:p>
            <a:r>
              <a:rPr lang="en-US"/>
              <a:t>Application non-functional requirements</a:t>
            </a:r>
          </a:p>
        </p:txBody>
      </p:sp>
      <p:sp>
        <p:nvSpPr>
          <p:cNvPr id="3" name="CasellaDiTesto 2">
            <a:extLst>
              <a:ext uri="{FF2B5EF4-FFF2-40B4-BE49-F238E27FC236}">
                <a16:creationId xmlns:a16="http://schemas.microsoft.com/office/drawing/2014/main" id="{6EDB192E-69AA-8F8B-4122-3DC170C7ACAF}"/>
              </a:ext>
            </a:extLst>
          </p:cNvPr>
          <p:cNvSpPr txBox="1"/>
          <p:nvPr/>
        </p:nvSpPr>
        <p:spPr>
          <a:xfrm>
            <a:off x="400050" y="1310471"/>
            <a:ext cx="8343900" cy="4237057"/>
          </a:xfrm>
          <a:prstGeom prst="rect">
            <a:avLst/>
          </a:prstGeom>
          <a:noFill/>
        </p:spPr>
        <p:txBody>
          <a:bodyPr wrap="square" rtlCol="0">
            <a:spAutoFit/>
          </a:bodyPr>
          <a:lstStyle/>
          <a:p>
            <a:pPr>
              <a:spcAft>
                <a:spcPts val="800"/>
              </a:spcAft>
              <a:defRPr sz="1800">
                <a:solidFill>
                  <a:srgbClr val="000000"/>
                </a:solidFill>
                <a:latin typeface="Arial Narrow"/>
              </a:defRPr>
            </a:pPr>
            <a:r>
              <a:rPr lang="en-US" sz="2000">
                <a:latin typeface="Calibri" panose="020F0502020204030204" pitchFamily="34" charset="0"/>
                <a:ea typeface="Calibri" panose="020F0502020204030204" pitchFamily="34" charset="0"/>
                <a:cs typeface="Calibri" panose="020F0502020204030204" pitchFamily="34" charset="0"/>
              </a:rPr>
              <a:t>The </a:t>
            </a:r>
            <a:r>
              <a:rPr lang="en-US" sz="2000" b="1">
                <a:latin typeface="Calibri" panose="020F0502020204030204" pitchFamily="34" charset="0"/>
                <a:ea typeface="Calibri" panose="020F0502020204030204" pitchFamily="34" charset="0"/>
                <a:cs typeface="Calibri" panose="020F0502020204030204" pitchFamily="34" charset="0"/>
              </a:rPr>
              <a:t>non functional-requirements </a:t>
            </a:r>
            <a:r>
              <a:rPr lang="en-US" sz="2000">
                <a:latin typeface="Calibri" panose="020F0502020204030204" pitchFamily="34" charset="0"/>
                <a:ea typeface="Calibri" panose="020F0502020204030204" pitchFamily="34" charset="0"/>
                <a:cs typeface="Calibri" panose="020F0502020204030204" pitchFamily="34" charset="0"/>
              </a:rPr>
              <a:t>of our system are the following:</a:t>
            </a:r>
          </a:p>
          <a:p>
            <a:pPr>
              <a:spcAft>
                <a:spcPts val="800"/>
              </a:spcAft>
              <a:defRPr sz="1800">
                <a:solidFill>
                  <a:srgbClr val="000000"/>
                </a:solidFill>
                <a:latin typeface="Arial Narrow"/>
              </a:defRPr>
            </a:pPr>
            <a:endParaRPr lang="en-US">
              <a:latin typeface="Calibri" panose="020F0502020204030204" pitchFamily="34" charset="0"/>
              <a:ea typeface="Calibri" panose="020F0502020204030204" pitchFamily="34" charset="0"/>
              <a:cs typeface="Calibri" panose="020F0502020204030204" pitchFamily="34" charset="0"/>
            </a:endParaRPr>
          </a:p>
          <a:p>
            <a:pPr marL="742950" lvl="1" indent="-285750">
              <a:spcAft>
                <a:spcPts val="800"/>
              </a:spcAft>
              <a:buFont typeface="Symbol" panose="05050102010706020507" pitchFamily="18" charset="2"/>
              <a:buChar char="×"/>
              <a:defRPr sz="1800">
                <a:solidFill>
                  <a:srgbClr val="000000"/>
                </a:solidFill>
                <a:latin typeface="Arial Narrow"/>
              </a:defRPr>
            </a:pPr>
            <a:r>
              <a:rPr lang="en-US">
                <a:latin typeface="Calibri" panose="020F0502020204030204" pitchFamily="34" charset="0"/>
                <a:ea typeface="Calibri" panose="020F0502020204030204" pitchFamily="34" charset="0"/>
                <a:cs typeface="Calibri" panose="020F0502020204030204" pitchFamily="34" charset="0"/>
              </a:rPr>
              <a:t>The system must encrypt the user's password.    </a:t>
            </a:r>
          </a:p>
          <a:p>
            <a:pPr marL="742950" lvl="1" indent="-285750">
              <a:spcAft>
                <a:spcPts val="800"/>
              </a:spcAft>
              <a:buFont typeface="Symbol" panose="05050102010706020507" pitchFamily="18" charset="2"/>
              <a:buChar char="×"/>
              <a:defRPr sz="1800">
                <a:solidFill>
                  <a:srgbClr val="000000"/>
                </a:solidFill>
                <a:latin typeface="Arial Narrow"/>
              </a:defRPr>
            </a:pPr>
            <a:r>
              <a:rPr lang="en-US">
                <a:latin typeface="Calibri" panose="020F0502020204030204" pitchFamily="34" charset="0"/>
                <a:ea typeface="Calibri" panose="020F0502020204030204" pitchFamily="34" charset="0"/>
                <a:cs typeface="Calibri" panose="020F0502020204030204" pitchFamily="34" charset="0"/>
              </a:rPr>
              <a:t>The system must be developed by using an OOP language (Java).</a:t>
            </a:r>
          </a:p>
          <a:p>
            <a:pPr marL="742950" lvl="1" indent="-285750">
              <a:spcAft>
                <a:spcPts val="800"/>
              </a:spcAft>
              <a:buFont typeface="Symbol" panose="05050102010706020507" pitchFamily="18" charset="2"/>
              <a:buChar char="×"/>
              <a:defRPr sz="1800">
                <a:solidFill>
                  <a:srgbClr val="000000"/>
                </a:solidFill>
                <a:latin typeface="Arial Narrow"/>
              </a:defRPr>
            </a:pPr>
            <a:r>
              <a:rPr lang="en-US">
                <a:latin typeface="Calibri" panose="020F0502020204030204" pitchFamily="34" charset="0"/>
                <a:ea typeface="Calibri" panose="020F0502020204030204" pitchFamily="34" charset="0"/>
                <a:cs typeface="Calibri" panose="020F0502020204030204" pitchFamily="34" charset="0"/>
              </a:rPr>
              <a:t>The system must be a responsive website application.   </a:t>
            </a:r>
          </a:p>
          <a:p>
            <a:pPr marL="742950" lvl="1" indent="-285750">
              <a:spcAft>
                <a:spcPts val="800"/>
              </a:spcAft>
              <a:buFont typeface="Symbol" panose="05050102010706020507" pitchFamily="18" charset="2"/>
              <a:buChar char="×"/>
              <a:defRPr sz="1800">
                <a:solidFill>
                  <a:srgbClr val="000000"/>
                </a:solidFill>
                <a:latin typeface="Arial Narrow"/>
              </a:defRPr>
            </a:pPr>
            <a:r>
              <a:rPr lang="en-US">
                <a:latin typeface="Calibri" panose="020F0502020204030204" pitchFamily="34" charset="0"/>
                <a:ea typeface="Calibri" panose="020F0502020204030204" pitchFamily="34" charset="0"/>
                <a:cs typeface="Calibri" panose="020F0502020204030204" pitchFamily="34" charset="0"/>
              </a:rPr>
              <a:t>The system must be able to handle high traffic.     </a:t>
            </a:r>
          </a:p>
          <a:p>
            <a:pPr marL="742950" lvl="1" indent="-285750">
              <a:spcAft>
                <a:spcPts val="800"/>
              </a:spcAft>
              <a:buFont typeface="Symbol" panose="05050102010706020507" pitchFamily="18" charset="2"/>
              <a:buChar char="×"/>
              <a:defRPr sz="1800">
                <a:solidFill>
                  <a:srgbClr val="000000"/>
                </a:solidFill>
                <a:latin typeface="Arial Narrow"/>
              </a:defRPr>
            </a:pPr>
            <a:r>
              <a:rPr lang="en-US">
                <a:latin typeface="Calibri" panose="020F0502020204030204" pitchFamily="34" charset="0"/>
                <a:ea typeface="Calibri" panose="020F0502020204030204" pitchFamily="34" charset="0"/>
                <a:cs typeface="Calibri" panose="020F0502020204030204" pitchFamily="34" charset="0"/>
              </a:rPr>
              <a:t>The system must implement a multi-database architecture using </a:t>
            </a:r>
            <a:r>
              <a:rPr lang="en-US" err="1">
                <a:latin typeface="Calibri" panose="020F0502020204030204" pitchFamily="34" charset="0"/>
                <a:ea typeface="Calibri" panose="020F0502020204030204" pitchFamily="34" charset="0"/>
                <a:cs typeface="Calibri" panose="020F0502020204030204" pitchFamily="34" charset="0"/>
              </a:rPr>
              <a:t>DocumentDB</a:t>
            </a:r>
            <a:r>
              <a:rPr lang="en-US">
                <a:latin typeface="Calibri" panose="020F0502020204030204" pitchFamily="34" charset="0"/>
                <a:ea typeface="Calibri" panose="020F0502020204030204" pitchFamily="34" charset="0"/>
                <a:cs typeface="Calibri" panose="020F0502020204030204" pitchFamily="34" charset="0"/>
              </a:rPr>
              <a:t>, </a:t>
            </a:r>
            <a:r>
              <a:rPr lang="en-US" err="1">
                <a:latin typeface="Calibri" panose="020F0502020204030204" pitchFamily="34" charset="0"/>
                <a:ea typeface="Calibri" panose="020F0502020204030204" pitchFamily="34" charset="0"/>
                <a:cs typeface="Calibri" panose="020F0502020204030204" pitchFamily="34" charset="0"/>
              </a:rPr>
              <a:t>GraphDB</a:t>
            </a:r>
            <a:r>
              <a:rPr lang="en-US">
                <a:latin typeface="Calibri" panose="020F0502020204030204" pitchFamily="34" charset="0"/>
                <a:ea typeface="Calibri" panose="020F0502020204030204" pitchFamily="34" charset="0"/>
                <a:cs typeface="Calibri" panose="020F0502020204030204" pitchFamily="34" charset="0"/>
              </a:rPr>
              <a:t>, and Key-Value DB.   </a:t>
            </a:r>
          </a:p>
          <a:p>
            <a:pPr marL="742950" lvl="1" indent="-285750" algn="just">
              <a:spcAft>
                <a:spcPts val="800"/>
              </a:spcAft>
              <a:buFont typeface="Symbol" panose="05050102010706020507" pitchFamily="18" charset="2"/>
              <a:buChar char="×"/>
              <a:defRPr sz="1800">
                <a:solidFill>
                  <a:srgbClr val="000000"/>
                </a:solidFill>
                <a:latin typeface="Arial Narrow"/>
              </a:defRPr>
            </a:pPr>
            <a:r>
              <a:rPr lang="en-US">
                <a:latin typeface="Calibri" panose="020F0502020204030204" pitchFamily="34" charset="0"/>
                <a:ea typeface="Calibri" panose="020F0502020204030204" pitchFamily="34" charset="0"/>
                <a:cs typeface="Calibri" panose="020F0502020204030204" pitchFamily="34" charset="0"/>
              </a:rPr>
              <a:t>The system must expose all its functionalities by means of well-documented RESTful APIs, in accordance with the </a:t>
            </a:r>
            <a:r>
              <a:rPr lang="en-US" err="1">
                <a:latin typeface="Calibri" panose="020F0502020204030204" pitchFamily="34" charset="0"/>
                <a:ea typeface="Calibri" panose="020F0502020204030204" pitchFamily="34" charset="0"/>
                <a:cs typeface="Calibri" panose="020F0502020204030204" pitchFamily="34" charset="0"/>
              </a:rPr>
              <a:t>OpenAPI</a:t>
            </a:r>
            <a:r>
              <a:rPr lang="en-US">
                <a:latin typeface="Calibri" panose="020F0502020204030204" pitchFamily="34" charset="0"/>
                <a:ea typeface="Calibri" panose="020F0502020204030204" pitchFamily="34" charset="0"/>
                <a:cs typeface="Calibri" panose="020F0502020204030204" pitchFamily="34" charset="0"/>
              </a:rPr>
              <a:t> specification.</a:t>
            </a:r>
          </a:p>
          <a:p>
            <a:endParaRPr lang="en-US"/>
          </a:p>
          <a:p>
            <a:pPr marL="285750" indent="-285750">
              <a:buFont typeface="Arial" panose="020B0604020202020204" pitchFamily="34" charset="0"/>
              <a:buChar char="•"/>
            </a:pPr>
            <a:endParaRPr lang="en-US"/>
          </a:p>
        </p:txBody>
      </p:sp>
    </p:spTree>
    <p:extLst>
      <p:ext uri="{BB962C8B-B14F-4D97-AF65-F5344CB8AC3E}">
        <p14:creationId xmlns:p14="http://schemas.microsoft.com/office/powerpoint/2010/main" val="21873665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0D9BC-533B-8E82-2554-ECAC5272120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FBDC59E-825B-654A-8184-DD1F7985D0E5}"/>
              </a:ext>
            </a:extLst>
          </p:cNvPr>
          <p:cNvSpPr>
            <a:spLocks noGrp="1"/>
          </p:cNvSpPr>
          <p:nvPr>
            <p:ph type="title"/>
          </p:nvPr>
        </p:nvSpPr>
        <p:spPr>
          <a:xfrm>
            <a:off x="182739" y="0"/>
            <a:ext cx="8761797" cy="1143000"/>
          </a:xfrm>
        </p:spPr>
        <p:txBody>
          <a:bodyPr>
            <a:normAutofit/>
          </a:bodyPr>
          <a:lstStyle/>
          <a:p>
            <a:r>
              <a:rPr lang="en-US"/>
              <a:t>Document DB Design</a:t>
            </a:r>
          </a:p>
        </p:txBody>
      </p:sp>
      <p:sp>
        <p:nvSpPr>
          <p:cNvPr id="8" name="CasellaDiTesto 7">
            <a:extLst>
              <a:ext uri="{FF2B5EF4-FFF2-40B4-BE49-F238E27FC236}">
                <a16:creationId xmlns:a16="http://schemas.microsoft.com/office/drawing/2014/main" id="{C15F0417-F2B2-87D0-76BA-38953A7DFD63}"/>
              </a:ext>
            </a:extLst>
          </p:cNvPr>
          <p:cNvSpPr txBox="1"/>
          <p:nvPr/>
        </p:nvSpPr>
        <p:spPr>
          <a:xfrm>
            <a:off x="182741" y="984870"/>
            <a:ext cx="1273785" cy="446276"/>
          </a:xfrm>
          <a:prstGeom prst="rect">
            <a:avLst/>
          </a:prstGeom>
          <a:noFill/>
        </p:spPr>
        <p:txBody>
          <a:bodyPr wrap="square" rtlCol="0">
            <a:spAutoFit/>
          </a:bodyPr>
          <a:lstStyle/>
          <a:p>
            <a:pPr algn="ctr"/>
            <a:r>
              <a:rPr lang="it-IT" sz="2300" b="1" i="1" u="sng"/>
              <a:t>Foodie</a:t>
            </a:r>
          </a:p>
        </p:txBody>
      </p:sp>
      <p:pic>
        <p:nvPicPr>
          <p:cNvPr id="4" name="Immagine 3">
            <a:extLst>
              <a:ext uri="{FF2B5EF4-FFF2-40B4-BE49-F238E27FC236}">
                <a16:creationId xmlns:a16="http://schemas.microsoft.com/office/drawing/2014/main" id="{6F408F32-1FB4-396B-8364-DE3E760878C2}"/>
              </a:ext>
            </a:extLst>
          </p:cNvPr>
          <p:cNvPicPr>
            <a:picLocks noChangeAspect="1"/>
          </p:cNvPicPr>
          <p:nvPr/>
        </p:nvPicPr>
        <p:blipFill>
          <a:blip r:embed="rId3"/>
          <a:stretch>
            <a:fillRect/>
          </a:stretch>
        </p:blipFill>
        <p:spPr>
          <a:xfrm>
            <a:off x="1238307" y="1431146"/>
            <a:ext cx="6650663" cy="2210452"/>
          </a:xfrm>
          <a:prstGeom prst="rect">
            <a:avLst/>
          </a:prstGeom>
        </p:spPr>
      </p:pic>
      <p:pic>
        <p:nvPicPr>
          <p:cNvPr id="6" name="Immagine 5">
            <a:extLst>
              <a:ext uri="{FF2B5EF4-FFF2-40B4-BE49-F238E27FC236}">
                <a16:creationId xmlns:a16="http://schemas.microsoft.com/office/drawing/2014/main" id="{8B3F4D55-C9C1-0787-4C1B-1276C45475DC}"/>
              </a:ext>
            </a:extLst>
          </p:cNvPr>
          <p:cNvPicPr>
            <a:picLocks noChangeAspect="1"/>
          </p:cNvPicPr>
          <p:nvPr/>
        </p:nvPicPr>
        <p:blipFill>
          <a:blip r:embed="rId4"/>
          <a:srcRect t="7547" b="-1478"/>
          <a:stretch>
            <a:fillRect/>
          </a:stretch>
        </p:blipFill>
        <p:spPr>
          <a:xfrm>
            <a:off x="792867" y="3929744"/>
            <a:ext cx="7541540" cy="2076297"/>
          </a:xfrm>
          <a:prstGeom prst="rect">
            <a:avLst/>
          </a:prstGeom>
          <a:ln>
            <a:solidFill>
              <a:schemeClr val="tx2"/>
            </a:solidFill>
          </a:ln>
        </p:spPr>
      </p:pic>
      <p:sp>
        <p:nvSpPr>
          <p:cNvPr id="3" name="Rectangle 2">
            <a:extLst>
              <a:ext uri="{FF2B5EF4-FFF2-40B4-BE49-F238E27FC236}">
                <a16:creationId xmlns:a16="http://schemas.microsoft.com/office/drawing/2014/main" id="{42D5DDC7-A5A0-178B-C101-125EA0DFB3EE}"/>
              </a:ext>
            </a:extLst>
          </p:cNvPr>
          <p:cNvSpPr/>
          <p:nvPr/>
        </p:nvSpPr>
        <p:spPr>
          <a:xfrm>
            <a:off x="1238307" y="3132668"/>
            <a:ext cx="2637007" cy="216000"/>
          </a:xfrm>
          <a:prstGeom prst="rect">
            <a:avLst/>
          </a:prstGeom>
          <a:no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p>
        </p:txBody>
      </p:sp>
      <p:sp>
        <p:nvSpPr>
          <p:cNvPr id="5" name="CasellaDiTesto 4">
            <a:extLst>
              <a:ext uri="{FF2B5EF4-FFF2-40B4-BE49-F238E27FC236}">
                <a16:creationId xmlns:a16="http://schemas.microsoft.com/office/drawing/2014/main" id="{09D9A4BC-AA18-842B-A59F-F0338991BD70}"/>
              </a:ext>
            </a:extLst>
          </p:cNvPr>
          <p:cNvSpPr txBox="1"/>
          <p:nvPr/>
        </p:nvSpPr>
        <p:spPr>
          <a:xfrm rot="21102221">
            <a:off x="813187" y="3081868"/>
            <a:ext cx="502061" cy="553998"/>
          </a:xfrm>
          <a:prstGeom prst="rect">
            <a:avLst/>
          </a:prstGeom>
          <a:noFill/>
        </p:spPr>
        <p:txBody>
          <a:bodyPr wrap="square" rtlCol="0">
            <a:spAutoFit/>
          </a:bodyPr>
          <a:lstStyle/>
          <a:p>
            <a:r>
              <a:rPr lang="it-IT" sz="3000" dirty="0"/>
              <a:t>🔎</a:t>
            </a:r>
          </a:p>
        </p:txBody>
      </p:sp>
      <p:cxnSp>
        <p:nvCxnSpPr>
          <p:cNvPr id="10" name="Connettore diritto 9">
            <a:extLst>
              <a:ext uri="{FF2B5EF4-FFF2-40B4-BE49-F238E27FC236}">
                <a16:creationId xmlns:a16="http://schemas.microsoft.com/office/drawing/2014/main" id="{463E0719-96C2-6461-8284-22E885660827}"/>
              </a:ext>
            </a:extLst>
          </p:cNvPr>
          <p:cNvCxnSpPr>
            <a:cxnSpLocks/>
          </p:cNvCxnSpPr>
          <p:nvPr/>
        </p:nvCxnSpPr>
        <p:spPr>
          <a:xfrm flipH="1">
            <a:off x="792867" y="3348668"/>
            <a:ext cx="445440" cy="569282"/>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Connettore diritto 11">
            <a:extLst>
              <a:ext uri="{FF2B5EF4-FFF2-40B4-BE49-F238E27FC236}">
                <a16:creationId xmlns:a16="http://schemas.microsoft.com/office/drawing/2014/main" id="{ADCE4D7F-E23E-21D4-BD4B-6E2421B0BB3D}"/>
              </a:ext>
            </a:extLst>
          </p:cNvPr>
          <p:cNvCxnSpPr>
            <a:cxnSpLocks/>
          </p:cNvCxnSpPr>
          <p:nvPr/>
        </p:nvCxnSpPr>
        <p:spPr>
          <a:xfrm>
            <a:off x="3875314" y="3348668"/>
            <a:ext cx="4459093" cy="56928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437925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D4FD8-7025-0600-A8A2-ACA19526AE0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9FA10D1-F6A4-291E-22F9-298E20214BFA}"/>
              </a:ext>
            </a:extLst>
          </p:cNvPr>
          <p:cNvSpPr>
            <a:spLocks noGrp="1"/>
          </p:cNvSpPr>
          <p:nvPr>
            <p:ph type="title"/>
          </p:nvPr>
        </p:nvSpPr>
        <p:spPr/>
        <p:txBody>
          <a:bodyPr>
            <a:normAutofit/>
          </a:bodyPr>
          <a:lstStyle/>
          <a:p>
            <a:r>
              <a:rPr lang="en-US" dirty="0"/>
              <a:t>Document DB Design</a:t>
            </a:r>
          </a:p>
        </p:txBody>
      </p:sp>
      <p:sp>
        <p:nvSpPr>
          <p:cNvPr id="3" name="CasellaDiTesto 2">
            <a:extLst>
              <a:ext uri="{FF2B5EF4-FFF2-40B4-BE49-F238E27FC236}">
                <a16:creationId xmlns:a16="http://schemas.microsoft.com/office/drawing/2014/main" id="{5A2CE211-BDED-B785-40C1-D5CC5DF07C8C}"/>
              </a:ext>
            </a:extLst>
          </p:cNvPr>
          <p:cNvSpPr txBox="1"/>
          <p:nvPr/>
        </p:nvSpPr>
        <p:spPr>
          <a:xfrm>
            <a:off x="182741" y="1079840"/>
            <a:ext cx="1824735" cy="446276"/>
          </a:xfrm>
          <a:prstGeom prst="rect">
            <a:avLst/>
          </a:prstGeom>
          <a:noFill/>
        </p:spPr>
        <p:txBody>
          <a:bodyPr wrap="square" rtlCol="0">
            <a:spAutoFit/>
          </a:bodyPr>
          <a:lstStyle/>
          <a:p>
            <a:pPr algn="ctr"/>
            <a:r>
              <a:rPr lang="it-IT" sz="2300" b="1" i="1" u="sng"/>
              <a:t>Chef </a:t>
            </a:r>
          </a:p>
        </p:txBody>
      </p:sp>
      <p:pic>
        <p:nvPicPr>
          <p:cNvPr id="5" name="Immagine 4">
            <a:extLst>
              <a:ext uri="{FF2B5EF4-FFF2-40B4-BE49-F238E27FC236}">
                <a16:creationId xmlns:a16="http://schemas.microsoft.com/office/drawing/2014/main" id="{E8200470-43AF-7704-3FDA-01E2699647EA}"/>
              </a:ext>
            </a:extLst>
          </p:cNvPr>
          <p:cNvPicPr>
            <a:picLocks noChangeAspect="1"/>
          </p:cNvPicPr>
          <p:nvPr/>
        </p:nvPicPr>
        <p:blipFill>
          <a:blip r:embed="rId3"/>
          <a:stretch>
            <a:fillRect/>
          </a:stretch>
        </p:blipFill>
        <p:spPr>
          <a:xfrm>
            <a:off x="382202" y="1693612"/>
            <a:ext cx="6699069" cy="4045422"/>
          </a:xfrm>
          <a:prstGeom prst="rect">
            <a:avLst/>
          </a:prstGeom>
        </p:spPr>
      </p:pic>
      <p:sp>
        <p:nvSpPr>
          <p:cNvPr id="4" name="Rectangle 2">
            <a:extLst>
              <a:ext uri="{FF2B5EF4-FFF2-40B4-BE49-F238E27FC236}">
                <a16:creationId xmlns:a16="http://schemas.microsoft.com/office/drawing/2014/main" id="{EB04C2CA-08B5-D122-7A0E-480EFC8DBA1C}"/>
              </a:ext>
            </a:extLst>
          </p:cNvPr>
          <p:cNvSpPr/>
          <p:nvPr/>
        </p:nvSpPr>
        <p:spPr>
          <a:xfrm>
            <a:off x="634498" y="2115115"/>
            <a:ext cx="2496052" cy="624909"/>
          </a:xfrm>
          <a:prstGeom prst="rect">
            <a:avLst/>
          </a:prstGeom>
          <a:no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p>
        </p:txBody>
      </p:sp>
      <p:sp>
        <p:nvSpPr>
          <p:cNvPr id="15" name="CasellaDiTesto 14">
            <a:extLst>
              <a:ext uri="{FF2B5EF4-FFF2-40B4-BE49-F238E27FC236}">
                <a16:creationId xmlns:a16="http://schemas.microsoft.com/office/drawing/2014/main" id="{2D066361-C5DF-1C68-1EF9-80E97079F12A}"/>
              </a:ext>
            </a:extLst>
          </p:cNvPr>
          <p:cNvSpPr txBox="1"/>
          <p:nvPr/>
        </p:nvSpPr>
        <p:spPr>
          <a:xfrm>
            <a:off x="382202" y="1947620"/>
            <a:ext cx="4572000" cy="461665"/>
          </a:xfrm>
          <a:prstGeom prst="rect">
            <a:avLst/>
          </a:prstGeom>
          <a:noFill/>
        </p:spPr>
        <p:txBody>
          <a:bodyPr wrap="square">
            <a:spAutoFit/>
          </a:bodyPr>
          <a:lstStyle/>
          <a:p>
            <a:r>
              <a:rPr lang="it-IT" sz="2400" dirty="0"/>
              <a:t>🔎</a:t>
            </a:r>
            <a:endParaRPr lang="it-IT" sz="1800" dirty="0"/>
          </a:p>
        </p:txBody>
      </p:sp>
    </p:spTree>
    <p:extLst>
      <p:ext uri="{BB962C8B-B14F-4D97-AF65-F5344CB8AC3E}">
        <p14:creationId xmlns:p14="http://schemas.microsoft.com/office/powerpoint/2010/main" val="30400373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7F41F-C134-16F7-C5E1-5766C88312C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A8B4126-F775-9E3D-CB46-802ADBE95142}"/>
              </a:ext>
            </a:extLst>
          </p:cNvPr>
          <p:cNvSpPr>
            <a:spLocks noGrp="1"/>
          </p:cNvSpPr>
          <p:nvPr>
            <p:ph type="title"/>
          </p:nvPr>
        </p:nvSpPr>
        <p:spPr>
          <a:xfrm>
            <a:off x="191101" y="32192"/>
            <a:ext cx="8761797" cy="1143000"/>
          </a:xfrm>
        </p:spPr>
        <p:txBody>
          <a:bodyPr>
            <a:normAutofit/>
          </a:bodyPr>
          <a:lstStyle/>
          <a:p>
            <a:r>
              <a:rPr lang="en-US" dirty="0"/>
              <a:t>Document DB Design</a:t>
            </a:r>
          </a:p>
        </p:txBody>
      </p:sp>
      <p:sp>
        <p:nvSpPr>
          <p:cNvPr id="3" name="CasellaDiTesto 2">
            <a:extLst>
              <a:ext uri="{FF2B5EF4-FFF2-40B4-BE49-F238E27FC236}">
                <a16:creationId xmlns:a16="http://schemas.microsoft.com/office/drawing/2014/main" id="{6E552086-EA07-4D2A-E2E7-75D5FB18B6D4}"/>
              </a:ext>
            </a:extLst>
          </p:cNvPr>
          <p:cNvSpPr txBox="1"/>
          <p:nvPr/>
        </p:nvSpPr>
        <p:spPr>
          <a:xfrm>
            <a:off x="592055" y="1026119"/>
            <a:ext cx="865730" cy="446276"/>
          </a:xfrm>
          <a:prstGeom prst="rect">
            <a:avLst/>
          </a:prstGeom>
          <a:noFill/>
        </p:spPr>
        <p:txBody>
          <a:bodyPr wrap="square" rtlCol="0">
            <a:spAutoFit/>
          </a:bodyPr>
          <a:lstStyle/>
          <a:p>
            <a:pPr algn="ctr"/>
            <a:r>
              <a:rPr lang="it-IT" sz="2300" b="1" i="1" u="sng" dirty="0"/>
              <a:t>Chef </a:t>
            </a:r>
          </a:p>
        </p:txBody>
      </p:sp>
      <p:pic>
        <p:nvPicPr>
          <p:cNvPr id="6" name="Immagine 5">
            <a:extLst>
              <a:ext uri="{FF2B5EF4-FFF2-40B4-BE49-F238E27FC236}">
                <a16:creationId xmlns:a16="http://schemas.microsoft.com/office/drawing/2014/main" id="{9B886630-5CCC-3022-B586-865553BC677A}"/>
              </a:ext>
            </a:extLst>
          </p:cNvPr>
          <p:cNvPicPr>
            <a:picLocks noChangeAspect="1"/>
          </p:cNvPicPr>
          <p:nvPr/>
        </p:nvPicPr>
        <p:blipFill>
          <a:blip r:embed="rId3"/>
          <a:srcRect r="17982"/>
          <a:stretch>
            <a:fillRect/>
          </a:stretch>
        </p:blipFill>
        <p:spPr>
          <a:xfrm>
            <a:off x="939393" y="4010742"/>
            <a:ext cx="3117885" cy="1129537"/>
          </a:xfrm>
          <a:prstGeom prst="rect">
            <a:avLst/>
          </a:prstGeom>
        </p:spPr>
      </p:pic>
      <p:pic>
        <p:nvPicPr>
          <p:cNvPr id="9" name="Immagine 8">
            <a:extLst>
              <a:ext uri="{FF2B5EF4-FFF2-40B4-BE49-F238E27FC236}">
                <a16:creationId xmlns:a16="http://schemas.microsoft.com/office/drawing/2014/main" id="{D8803B7E-5A5A-A492-2B0C-E01CC6582DBE}"/>
              </a:ext>
            </a:extLst>
          </p:cNvPr>
          <p:cNvPicPr>
            <a:picLocks noChangeAspect="1"/>
          </p:cNvPicPr>
          <p:nvPr/>
        </p:nvPicPr>
        <p:blipFill>
          <a:blip r:embed="rId4"/>
          <a:srcRect t="7426" r="41210"/>
          <a:stretch>
            <a:fillRect/>
          </a:stretch>
        </p:blipFill>
        <p:spPr>
          <a:xfrm>
            <a:off x="4522510" y="3923089"/>
            <a:ext cx="3615480" cy="1300325"/>
          </a:xfrm>
          <a:prstGeom prst="rect">
            <a:avLst/>
          </a:prstGeom>
        </p:spPr>
      </p:pic>
      <p:sp>
        <p:nvSpPr>
          <p:cNvPr id="8" name="Rectangle 2">
            <a:extLst>
              <a:ext uri="{FF2B5EF4-FFF2-40B4-BE49-F238E27FC236}">
                <a16:creationId xmlns:a16="http://schemas.microsoft.com/office/drawing/2014/main" id="{97617263-0B4E-C099-AF8E-3CD402873D96}"/>
              </a:ext>
            </a:extLst>
          </p:cNvPr>
          <p:cNvSpPr/>
          <p:nvPr/>
        </p:nvSpPr>
        <p:spPr>
          <a:xfrm>
            <a:off x="784288" y="3863671"/>
            <a:ext cx="3428097" cy="1438289"/>
          </a:xfrm>
          <a:prstGeom prst="rect">
            <a:avLst/>
          </a:prstGeom>
          <a:no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p>
        </p:txBody>
      </p:sp>
      <p:sp>
        <p:nvSpPr>
          <p:cNvPr id="13" name="Rectangle 2">
            <a:extLst>
              <a:ext uri="{FF2B5EF4-FFF2-40B4-BE49-F238E27FC236}">
                <a16:creationId xmlns:a16="http://schemas.microsoft.com/office/drawing/2014/main" id="{A83B3775-50F3-C0EC-52AC-92DD3C42C719}"/>
              </a:ext>
            </a:extLst>
          </p:cNvPr>
          <p:cNvSpPr/>
          <p:nvPr/>
        </p:nvSpPr>
        <p:spPr>
          <a:xfrm>
            <a:off x="4413050" y="3854108"/>
            <a:ext cx="3834400" cy="1438289"/>
          </a:xfrm>
          <a:prstGeom prst="rect">
            <a:avLst/>
          </a:prstGeom>
          <a:no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p>
        </p:txBody>
      </p:sp>
      <p:pic>
        <p:nvPicPr>
          <p:cNvPr id="14" name="Immagine 7">
            <a:extLst>
              <a:ext uri="{FF2B5EF4-FFF2-40B4-BE49-F238E27FC236}">
                <a16:creationId xmlns:a16="http://schemas.microsoft.com/office/drawing/2014/main" id="{E22D3249-13A2-8795-0058-1C8B90F82786}"/>
              </a:ext>
            </a:extLst>
          </p:cNvPr>
          <p:cNvPicPr>
            <a:picLocks noChangeAspect="1"/>
          </p:cNvPicPr>
          <p:nvPr/>
        </p:nvPicPr>
        <p:blipFill>
          <a:blip r:embed="rId5"/>
          <a:stretch>
            <a:fillRect/>
          </a:stretch>
        </p:blipFill>
        <p:spPr>
          <a:xfrm>
            <a:off x="824500" y="1869968"/>
            <a:ext cx="7475747" cy="1640392"/>
          </a:xfrm>
          <a:prstGeom prst="rect">
            <a:avLst/>
          </a:prstGeom>
        </p:spPr>
      </p:pic>
      <p:sp>
        <p:nvSpPr>
          <p:cNvPr id="15" name="Rectangle 2">
            <a:extLst>
              <a:ext uri="{FF2B5EF4-FFF2-40B4-BE49-F238E27FC236}">
                <a16:creationId xmlns:a16="http://schemas.microsoft.com/office/drawing/2014/main" id="{8F761674-8CE8-EEA1-9FDD-7C2A9D367275}"/>
              </a:ext>
            </a:extLst>
          </p:cNvPr>
          <p:cNvSpPr/>
          <p:nvPr/>
        </p:nvSpPr>
        <p:spPr>
          <a:xfrm>
            <a:off x="784288" y="1754306"/>
            <a:ext cx="7463162" cy="1828700"/>
          </a:xfrm>
          <a:prstGeom prst="rect">
            <a:avLst/>
          </a:prstGeom>
          <a:no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p>
        </p:txBody>
      </p:sp>
      <p:sp>
        <p:nvSpPr>
          <p:cNvPr id="12" name="CasellaDiTesto 11">
            <a:extLst>
              <a:ext uri="{FF2B5EF4-FFF2-40B4-BE49-F238E27FC236}">
                <a16:creationId xmlns:a16="http://schemas.microsoft.com/office/drawing/2014/main" id="{5A3778F3-1EDE-3D1C-4D61-F995732C85D4}"/>
              </a:ext>
            </a:extLst>
          </p:cNvPr>
          <p:cNvSpPr txBox="1"/>
          <p:nvPr/>
        </p:nvSpPr>
        <p:spPr>
          <a:xfrm>
            <a:off x="504122" y="1616264"/>
            <a:ext cx="542358" cy="553998"/>
          </a:xfrm>
          <a:prstGeom prst="rect">
            <a:avLst/>
          </a:prstGeom>
          <a:noFill/>
        </p:spPr>
        <p:txBody>
          <a:bodyPr wrap="square">
            <a:spAutoFit/>
          </a:bodyPr>
          <a:lstStyle/>
          <a:p>
            <a:r>
              <a:rPr lang="it-IT" sz="3000" dirty="0"/>
              <a:t>🔎</a:t>
            </a:r>
          </a:p>
        </p:txBody>
      </p:sp>
      <p:sp>
        <p:nvSpPr>
          <p:cNvPr id="18" name="CasellaDiTesto 17">
            <a:extLst>
              <a:ext uri="{FF2B5EF4-FFF2-40B4-BE49-F238E27FC236}">
                <a16:creationId xmlns:a16="http://schemas.microsoft.com/office/drawing/2014/main" id="{7029505F-81B1-745A-5A2E-111B3F410727}"/>
              </a:ext>
            </a:extLst>
          </p:cNvPr>
          <p:cNvSpPr txBox="1"/>
          <p:nvPr/>
        </p:nvSpPr>
        <p:spPr>
          <a:xfrm>
            <a:off x="504122" y="3700552"/>
            <a:ext cx="542358" cy="553998"/>
          </a:xfrm>
          <a:prstGeom prst="rect">
            <a:avLst/>
          </a:prstGeom>
          <a:noFill/>
        </p:spPr>
        <p:txBody>
          <a:bodyPr wrap="square">
            <a:spAutoFit/>
          </a:bodyPr>
          <a:lstStyle/>
          <a:p>
            <a:r>
              <a:rPr lang="it-IT" sz="3000" dirty="0"/>
              <a:t>🔎</a:t>
            </a:r>
          </a:p>
        </p:txBody>
      </p:sp>
      <p:sp>
        <p:nvSpPr>
          <p:cNvPr id="19" name="CasellaDiTesto 18">
            <a:extLst>
              <a:ext uri="{FF2B5EF4-FFF2-40B4-BE49-F238E27FC236}">
                <a16:creationId xmlns:a16="http://schemas.microsoft.com/office/drawing/2014/main" id="{4DAA2451-83DB-0EB2-F25F-74C3CD197C43}"/>
              </a:ext>
            </a:extLst>
          </p:cNvPr>
          <p:cNvSpPr txBox="1"/>
          <p:nvPr/>
        </p:nvSpPr>
        <p:spPr>
          <a:xfrm>
            <a:off x="4141871" y="3717846"/>
            <a:ext cx="542358" cy="553998"/>
          </a:xfrm>
          <a:prstGeom prst="rect">
            <a:avLst/>
          </a:prstGeom>
          <a:noFill/>
        </p:spPr>
        <p:txBody>
          <a:bodyPr wrap="square">
            <a:spAutoFit/>
          </a:bodyPr>
          <a:lstStyle/>
          <a:p>
            <a:r>
              <a:rPr lang="it-IT" sz="3000" dirty="0"/>
              <a:t>🔎</a:t>
            </a:r>
          </a:p>
        </p:txBody>
      </p:sp>
    </p:spTree>
    <p:extLst>
      <p:ext uri="{BB962C8B-B14F-4D97-AF65-F5344CB8AC3E}">
        <p14:creationId xmlns:p14="http://schemas.microsoft.com/office/powerpoint/2010/main" val="42912277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20D11-BB06-A001-BC39-1CFF6E6E55F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EA113809-5C86-5547-4C19-6221DC0E1957}"/>
              </a:ext>
            </a:extLst>
          </p:cNvPr>
          <p:cNvSpPr>
            <a:spLocks noGrp="1"/>
          </p:cNvSpPr>
          <p:nvPr>
            <p:ph type="title"/>
          </p:nvPr>
        </p:nvSpPr>
        <p:spPr>
          <a:xfrm>
            <a:off x="191101" y="32192"/>
            <a:ext cx="8761797" cy="1143000"/>
          </a:xfrm>
        </p:spPr>
        <p:txBody>
          <a:bodyPr>
            <a:normAutofit/>
          </a:bodyPr>
          <a:lstStyle/>
          <a:p>
            <a:r>
              <a:rPr lang="en-US" dirty="0"/>
              <a:t>Document DB Design</a:t>
            </a:r>
          </a:p>
        </p:txBody>
      </p:sp>
      <p:sp>
        <p:nvSpPr>
          <p:cNvPr id="4" name="CasellaDiTesto 3">
            <a:extLst>
              <a:ext uri="{FF2B5EF4-FFF2-40B4-BE49-F238E27FC236}">
                <a16:creationId xmlns:a16="http://schemas.microsoft.com/office/drawing/2014/main" id="{43401AC3-5666-0AEE-321B-7163D49CF316}"/>
              </a:ext>
            </a:extLst>
          </p:cNvPr>
          <p:cNvSpPr txBox="1"/>
          <p:nvPr/>
        </p:nvSpPr>
        <p:spPr>
          <a:xfrm>
            <a:off x="439234" y="1028263"/>
            <a:ext cx="1122526" cy="446276"/>
          </a:xfrm>
          <a:prstGeom prst="rect">
            <a:avLst/>
          </a:prstGeom>
          <a:noFill/>
        </p:spPr>
        <p:txBody>
          <a:bodyPr wrap="square" rtlCol="0">
            <a:spAutoFit/>
          </a:bodyPr>
          <a:lstStyle/>
          <a:p>
            <a:pPr algn="ctr"/>
            <a:r>
              <a:rPr lang="it-IT" sz="2300" b="1" i="1" u="sng" dirty="0"/>
              <a:t>Admin </a:t>
            </a:r>
          </a:p>
        </p:txBody>
      </p:sp>
      <p:pic>
        <p:nvPicPr>
          <p:cNvPr id="7" name="Picture 6">
            <a:extLst>
              <a:ext uri="{FF2B5EF4-FFF2-40B4-BE49-F238E27FC236}">
                <a16:creationId xmlns:a16="http://schemas.microsoft.com/office/drawing/2014/main" id="{D0C40EA6-EE01-90DA-E906-021E1769E078}"/>
              </a:ext>
            </a:extLst>
          </p:cNvPr>
          <p:cNvPicPr>
            <a:picLocks noChangeAspect="1"/>
          </p:cNvPicPr>
          <p:nvPr/>
        </p:nvPicPr>
        <p:blipFill>
          <a:blip r:embed="rId3"/>
          <a:stretch>
            <a:fillRect/>
          </a:stretch>
        </p:blipFill>
        <p:spPr>
          <a:xfrm>
            <a:off x="1232637" y="1621468"/>
            <a:ext cx="6678725" cy="4240461"/>
          </a:xfrm>
          <a:prstGeom prst="rect">
            <a:avLst/>
          </a:prstGeom>
        </p:spPr>
      </p:pic>
    </p:spTree>
    <p:extLst>
      <p:ext uri="{BB962C8B-B14F-4D97-AF65-F5344CB8AC3E}">
        <p14:creationId xmlns:p14="http://schemas.microsoft.com/office/powerpoint/2010/main" val="7440754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6BF2C-FF37-D8A5-7CCE-CEADA50FAA1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9695C2E-258F-7CB9-2D86-5B0FAD414384}"/>
              </a:ext>
            </a:extLst>
          </p:cNvPr>
          <p:cNvSpPr>
            <a:spLocks noGrp="1"/>
          </p:cNvSpPr>
          <p:nvPr>
            <p:ph type="title"/>
          </p:nvPr>
        </p:nvSpPr>
        <p:spPr>
          <a:xfrm>
            <a:off x="182741" y="0"/>
            <a:ext cx="8761797" cy="1143000"/>
          </a:xfrm>
        </p:spPr>
        <p:txBody>
          <a:bodyPr>
            <a:normAutofit/>
          </a:bodyPr>
          <a:lstStyle/>
          <a:p>
            <a:r>
              <a:rPr lang="en-US"/>
              <a:t>Document DB Design</a:t>
            </a:r>
          </a:p>
        </p:txBody>
      </p:sp>
      <p:sp>
        <p:nvSpPr>
          <p:cNvPr id="3" name="CasellaDiTesto 2">
            <a:extLst>
              <a:ext uri="{FF2B5EF4-FFF2-40B4-BE49-F238E27FC236}">
                <a16:creationId xmlns:a16="http://schemas.microsoft.com/office/drawing/2014/main" id="{2CA6D416-BDFC-4A62-7C45-C05D3B358D63}"/>
              </a:ext>
            </a:extLst>
          </p:cNvPr>
          <p:cNvSpPr txBox="1"/>
          <p:nvPr/>
        </p:nvSpPr>
        <p:spPr>
          <a:xfrm>
            <a:off x="199462" y="786817"/>
            <a:ext cx="1273785" cy="446276"/>
          </a:xfrm>
          <a:prstGeom prst="rect">
            <a:avLst/>
          </a:prstGeom>
          <a:noFill/>
        </p:spPr>
        <p:txBody>
          <a:bodyPr wrap="square" rtlCol="0">
            <a:spAutoFit/>
          </a:bodyPr>
          <a:lstStyle/>
          <a:p>
            <a:pPr algn="ctr"/>
            <a:r>
              <a:rPr lang="it-IT" sz="2300" b="1" i="1" u="sng"/>
              <a:t>Recipe</a:t>
            </a:r>
          </a:p>
        </p:txBody>
      </p:sp>
      <p:pic>
        <p:nvPicPr>
          <p:cNvPr id="6" name="Immagine 5">
            <a:extLst>
              <a:ext uri="{FF2B5EF4-FFF2-40B4-BE49-F238E27FC236}">
                <a16:creationId xmlns:a16="http://schemas.microsoft.com/office/drawing/2014/main" id="{CC22CF06-4A23-04A5-FDB2-CA3BFE99AC4D}"/>
              </a:ext>
            </a:extLst>
          </p:cNvPr>
          <p:cNvPicPr>
            <a:picLocks noChangeAspect="1"/>
          </p:cNvPicPr>
          <p:nvPr/>
        </p:nvPicPr>
        <p:blipFill>
          <a:blip r:embed="rId3"/>
          <a:stretch>
            <a:fillRect/>
          </a:stretch>
        </p:blipFill>
        <p:spPr>
          <a:xfrm>
            <a:off x="1263316" y="1233093"/>
            <a:ext cx="6617368" cy="4632921"/>
          </a:xfrm>
          <a:prstGeom prst="rect">
            <a:avLst/>
          </a:prstGeom>
        </p:spPr>
      </p:pic>
    </p:spTree>
    <p:extLst>
      <p:ext uri="{BB962C8B-B14F-4D97-AF65-F5344CB8AC3E}">
        <p14:creationId xmlns:p14="http://schemas.microsoft.com/office/powerpoint/2010/main" val="26135233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522A8-D07F-1DEE-44C8-661665271AC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40691DD-1B6F-914D-733B-15AA8F8C471F}"/>
              </a:ext>
            </a:extLst>
          </p:cNvPr>
          <p:cNvSpPr>
            <a:spLocks noGrp="1"/>
          </p:cNvSpPr>
          <p:nvPr>
            <p:ph type="title"/>
          </p:nvPr>
        </p:nvSpPr>
        <p:spPr>
          <a:xfrm>
            <a:off x="191101" y="19790"/>
            <a:ext cx="8761797" cy="1143000"/>
          </a:xfrm>
        </p:spPr>
        <p:txBody>
          <a:bodyPr>
            <a:normAutofit/>
          </a:bodyPr>
          <a:lstStyle/>
          <a:p>
            <a:r>
              <a:rPr lang="en-US"/>
              <a:t>Relevant MongoDB queries</a:t>
            </a:r>
          </a:p>
        </p:txBody>
      </p:sp>
      <p:sp>
        <p:nvSpPr>
          <p:cNvPr id="3" name="Rettangolo 2">
            <a:extLst>
              <a:ext uri="{FF2B5EF4-FFF2-40B4-BE49-F238E27FC236}">
                <a16:creationId xmlns:a16="http://schemas.microsoft.com/office/drawing/2014/main" id="{AF6D6BF4-B0D6-FE84-0F2A-55978EA6672D}"/>
              </a:ext>
            </a:extLst>
          </p:cNvPr>
          <p:cNvSpPr/>
          <p:nvPr/>
        </p:nvSpPr>
        <p:spPr>
          <a:xfrm>
            <a:off x="2015067" y="1403101"/>
            <a:ext cx="1244600" cy="170009"/>
          </a:xfrm>
          <a:prstGeom prst="rect">
            <a:avLst/>
          </a:prstGeom>
          <a:solidFill>
            <a:schemeClr val="bg1"/>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it-IT"/>
          </a:p>
        </p:txBody>
      </p:sp>
      <p:pic>
        <p:nvPicPr>
          <p:cNvPr id="6" name="Immagine 5">
            <a:extLst>
              <a:ext uri="{FF2B5EF4-FFF2-40B4-BE49-F238E27FC236}">
                <a16:creationId xmlns:a16="http://schemas.microsoft.com/office/drawing/2014/main" id="{6BF6EBF6-FD73-5F2A-A8BD-BE1D05F18EA4}"/>
              </a:ext>
            </a:extLst>
          </p:cNvPr>
          <p:cNvPicPr>
            <a:picLocks noChangeAspect="1"/>
          </p:cNvPicPr>
          <p:nvPr/>
        </p:nvPicPr>
        <p:blipFill>
          <a:blip r:embed="rId3"/>
          <a:stretch>
            <a:fillRect/>
          </a:stretch>
        </p:blipFill>
        <p:spPr>
          <a:xfrm>
            <a:off x="446314" y="1403812"/>
            <a:ext cx="6237514" cy="4720664"/>
          </a:xfrm>
          <a:prstGeom prst="rect">
            <a:avLst/>
          </a:prstGeom>
        </p:spPr>
      </p:pic>
      <p:sp>
        <p:nvSpPr>
          <p:cNvPr id="4" name="CasellaDiTesto 3">
            <a:extLst>
              <a:ext uri="{FF2B5EF4-FFF2-40B4-BE49-F238E27FC236}">
                <a16:creationId xmlns:a16="http://schemas.microsoft.com/office/drawing/2014/main" id="{4BAFAFD5-D312-0240-8750-A27414BD7563}"/>
              </a:ext>
            </a:extLst>
          </p:cNvPr>
          <p:cNvSpPr txBox="1"/>
          <p:nvPr/>
        </p:nvSpPr>
        <p:spPr>
          <a:xfrm>
            <a:off x="307856" y="1002991"/>
            <a:ext cx="3858942" cy="400110"/>
          </a:xfrm>
          <a:prstGeom prst="rect">
            <a:avLst/>
          </a:prstGeom>
          <a:noFill/>
        </p:spPr>
        <p:txBody>
          <a:bodyPr wrap="none" rtlCol="0">
            <a:spAutoFit/>
          </a:bodyPr>
          <a:lstStyle/>
          <a:p>
            <a:r>
              <a:rPr lang="it-IT" sz="2000" b="1" i="1" u="sng"/>
              <a:t>Chef Ranking </a:t>
            </a:r>
            <a:r>
              <a:rPr lang="it-IT" sz="2000" b="1" i="1" u="sng" err="1"/>
              <a:t>using</a:t>
            </a:r>
            <a:r>
              <a:rPr lang="it-IT" sz="2000" b="1" i="1" u="sng"/>
              <a:t> </a:t>
            </a:r>
            <a:r>
              <a:rPr lang="it-IT" sz="2000" b="1" i="1" u="sng" err="1"/>
              <a:t>Bayesian</a:t>
            </a:r>
            <a:r>
              <a:rPr lang="it-IT" sz="2000" b="1" i="1" u="sng"/>
              <a:t> Score</a:t>
            </a:r>
          </a:p>
        </p:txBody>
      </p:sp>
      <p:sp>
        <p:nvSpPr>
          <p:cNvPr id="9" name="CasellaDiTesto 8">
            <a:extLst>
              <a:ext uri="{FF2B5EF4-FFF2-40B4-BE49-F238E27FC236}">
                <a16:creationId xmlns:a16="http://schemas.microsoft.com/office/drawing/2014/main" id="{AF3AAC7B-C9C6-EB62-BDF0-0636D9DD2AE7}"/>
              </a:ext>
            </a:extLst>
          </p:cNvPr>
          <p:cNvSpPr txBox="1"/>
          <p:nvPr/>
        </p:nvSpPr>
        <p:spPr>
          <a:xfrm>
            <a:off x="5299877" y="2182505"/>
            <a:ext cx="3546143" cy="1246495"/>
          </a:xfrm>
          <a:prstGeom prst="rect">
            <a:avLst/>
          </a:prstGeom>
          <a:noFill/>
        </p:spPr>
        <p:txBody>
          <a:bodyPr wrap="square" rtlCol="0">
            <a:spAutoFit/>
          </a:bodyPr>
          <a:lstStyle/>
          <a:p>
            <a:pPr algn="ctr"/>
            <a:r>
              <a:rPr lang="en-US" sz="1500" dirty="0"/>
              <a:t>This query ranks chefs through a Bayesian score that combines their total number of saves and the total number of recipes, highlighting the most consistently appreciated profiles.</a:t>
            </a:r>
            <a:endParaRPr lang="it-IT" sz="1500" dirty="0"/>
          </a:p>
        </p:txBody>
      </p:sp>
      <p:sp>
        <p:nvSpPr>
          <p:cNvPr id="7" name="Rettangolo 6">
            <a:extLst>
              <a:ext uri="{FF2B5EF4-FFF2-40B4-BE49-F238E27FC236}">
                <a16:creationId xmlns:a16="http://schemas.microsoft.com/office/drawing/2014/main" id="{BA117627-354A-A1F0-81F2-1D2965867D3C}"/>
              </a:ext>
            </a:extLst>
          </p:cNvPr>
          <p:cNvSpPr/>
          <p:nvPr/>
        </p:nvSpPr>
        <p:spPr>
          <a:xfrm>
            <a:off x="2015067" y="1473384"/>
            <a:ext cx="1051983" cy="117186"/>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2352358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ACD61-2907-5B7F-79DC-E274EAED2F1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887B147-64E5-5D4C-AB3A-427F0E855400}"/>
              </a:ext>
            </a:extLst>
          </p:cNvPr>
          <p:cNvSpPr>
            <a:spLocks noGrp="1"/>
          </p:cNvSpPr>
          <p:nvPr>
            <p:ph type="title"/>
          </p:nvPr>
        </p:nvSpPr>
        <p:spPr/>
        <p:txBody>
          <a:bodyPr>
            <a:normAutofit/>
          </a:bodyPr>
          <a:lstStyle/>
          <a:p>
            <a:r>
              <a:rPr lang="en-US"/>
              <a:t>Relevant MongoDB queries</a:t>
            </a:r>
          </a:p>
        </p:txBody>
      </p:sp>
      <p:sp>
        <p:nvSpPr>
          <p:cNvPr id="6" name="CasellaDiTesto 5">
            <a:extLst>
              <a:ext uri="{FF2B5EF4-FFF2-40B4-BE49-F238E27FC236}">
                <a16:creationId xmlns:a16="http://schemas.microsoft.com/office/drawing/2014/main" id="{B8D4243E-0B5B-652C-8442-067D61A84A71}"/>
              </a:ext>
            </a:extLst>
          </p:cNvPr>
          <p:cNvSpPr txBox="1"/>
          <p:nvPr/>
        </p:nvSpPr>
        <p:spPr>
          <a:xfrm>
            <a:off x="298553" y="1092144"/>
            <a:ext cx="4200317" cy="400110"/>
          </a:xfrm>
          <a:prstGeom prst="rect">
            <a:avLst/>
          </a:prstGeom>
          <a:noFill/>
        </p:spPr>
        <p:txBody>
          <a:bodyPr wrap="square" rtlCol="0">
            <a:spAutoFit/>
          </a:bodyPr>
          <a:lstStyle/>
          <a:p>
            <a:r>
              <a:rPr lang="it-IT" sz="2000" b="1" i="1" u="sng" err="1"/>
              <a:t>Monthly</a:t>
            </a:r>
            <a:r>
              <a:rPr lang="it-IT" sz="2000" b="1" i="1" u="sng"/>
              <a:t> Foodie </a:t>
            </a:r>
            <a:r>
              <a:rPr lang="it-IT" sz="2000" b="1" i="1" u="sng" err="1"/>
              <a:t>Registration</a:t>
            </a:r>
            <a:r>
              <a:rPr lang="it-IT" sz="2000" b="1" i="1" u="sng"/>
              <a:t> </a:t>
            </a:r>
            <a:r>
              <a:rPr lang="it-IT" sz="2000" b="1" i="1" u="sng" err="1"/>
              <a:t>Statistics</a:t>
            </a:r>
            <a:endParaRPr lang="it-IT" sz="2000" b="1" i="1" u="sng"/>
          </a:p>
        </p:txBody>
      </p:sp>
      <p:sp>
        <p:nvSpPr>
          <p:cNvPr id="7" name="Rettangolo 6">
            <a:extLst>
              <a:ext uri="{FF2B5EF4-FFF2-40B4-BE49-F238E27FC236}">
                <a16:creationId xmlns:a16="http://schemas.microsoft.com/office/drawing/2014/main" id="{1B248985-4D7D-E381-D651-16D742040805}"/>
              </a:ext>
            </a:extLst>
          </p:cNvPr>
          <p:cNvSpPr/>
          <p:nvPr/>
        </p:nvSpPr>
        <p:spPr>
          <a:xfrm>
            <a:off x="1881717" y="1706390"/>
            <a:ext cx="1244600" cy="170009"/>
          </a:xfrm>
          <a:prstGeom prst="rect">
            <a:avLst/>
          </a:prstGeom>
          <a:solidFill>
            <a:schemeClr val="bg1"/>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it-IT"/>
          </a:p>
        </p:txBody>
      </p:sp>
      <p:pic>
        <p:nvPicPr>
          <p:cNvPr id="8" name="Immagine 7">
            <a:extLst>
              <a:ext uri="{FF2B5EF4-FFF2-40B4-BE49-F238E27FC236}">
                <a16:creationId xmlns:a16="http://schemas.microsoft.com/office/drawing/2014/main" id="{F2EB5771-56F1-7081-DA14-521A3076F5DE}"/>
              </a:ext>
            </a:extLst>
          </p:cNvPr>
          <p:cNvPicPr>
            <a:picLocks noChangeAspect="1"/>
          </p:cNvPicPr>
          <p:nvPr/>
        </p:nvPicPr>
        <p:blipFill>
          <a:blip r:embed="rId3"/>
          <a:stretch>
            <a:fillRect/>
          </a:stretch>
        </p:blipFill>
        <p:spPr>
          <a:xfrm>
            <a:off x="265513" y="1645107"/>
            <a:ext cx="6996770" cy="4120749"/>
          </a:xfrm>
          <a:prstGeom prst="rect">
            <a:avLst/>
          </a:prstGeom>
        </p:spPr>
      </p:pic>
      <p:sp>
        <p:nvSpPr>
          <p:cNvPr id="9" name="Rettangolo 8">
            <a:extLst>
              <a:ext uri="{FF2B5EF4-FFF2-40B4-BE49-F238E27FC236}">
                <a16:creationId xmlns:a16="http://schemas.microsoft.com/office/drawing/2014/main" id="{859722FC-BE08-3641-198D-A8ADF87A2630}"/>
              </a:ext>
            </a:extLst>
          </p:cNvPr>
          <p:cNvSpPr/>
          <p:nvPr/>
        </p:nvSpPr>
        <p:spPr>
          <a:xfrm>
            <a:off x="1936750" y="1645107"/>
            <a:ext cx="923925" cy="170009"/>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p>
        </p:txBody>
      </p:sp>
      <p:sp>
        <p:nvSpPr>
          <p:cNvPr id="4" name="TextBox 3">
            <a:extLst>
              <a:ext uri="{FF2B5EF4-FFF2-40B4-BE49-F238E27FC236}">
                <a16:creationId xmlns:a16="http://schemas.microsoft.com/office/drawing/2014/main" id="{1E786480-6D45-C653-CB9F-870DBD628180}"/>
              </a:ext>
            </a:extLst>
          </p:cNvPr>
          <p:cNvSpPr txBox="1"/>
          <p:nvPr/>
        </p:nvSpPr>
        <p:spPr>
          <a:xfrm>
            <a:off x="4306487" y="4635379"/>
            <a:ext cx="4572000" cy="830997"/>
          </a:xfrm>
          <a:prstGeom prst="rect">
            <a:avLst/>
          </a:prstGeom>
          <a:noFill/>
        </p:spPr>
        <p:txBody>
          <a:bodyPr wrap="square">
            <a:spAutoFit/>
          </a:bodyPr>
          <a:lstStyle/>
          <a:p>
            <a:pPr algn="ctr"/>
            <a:r>
              <a:rPr lang="it-IT" sz="1600"/>
              <a:t>Filters Foodie </a:t>
            </a:r>
            <a:r>
              <a:rPr lang="it-IT" sz="1600" err="1"/>
              <a:t>registrations</a:t>
            </a:r>
            <a:r>
              <a:rPr lang="it-IT" sz="1600"/>
              <a:t> by a target </a:t>
            </a:r>
            <a:r>
              <a:rPr lang="it-IT" sz="1600" err="1"/>
              <a:t>year</a:t>
            </a:r>
            <a:r>
              <a:rPr lang="it-IT" sz="1600"/>
              <a:t> to compute the overall </a:t>
            </a:r>
            <a:r>
              <a:rPr lang="it-IT" sz="1600" err="1"/>
              <a:t>annual</a:t>
            </a:r>
            <a:r>
              <a:rPr lang="it-IT" sz="1600"/>
              <a:t> </a:t>
            </a:r>
            <a:r>
              <a:rPr lang="it-IT" sz="1600" err="1"/>
              <a:t>growth</a:t>
            </a:r>
            <a:r>
              <a:rPr lang="it-IT" sz="1600"/>
              <a:t> and </a:t>
            </a:r>
            <a:r>
              <a:rPr lang="it-IT" sz="1600" err="1"/>
              <a:t>detailed</a:t>
            </a:r>
            <a:r>
              <a:rPr lang="it-IT" sz="1600"/>
              <a:t> </a:t>
            </a:r>
            <a:r>
              <a:rPr lang="it-IT" sz="1600" err="1"/>
              <a:t>monthly</a:t>
            </a:r>
            <a:r>
              <a:rPr lang="it-IT" sz="1600"/>
              <a:t> </a:t>
            </a:r>
            <a:r>
              <a:rPr lang="it-IT" sz="1600" err="1"/>
              <a:t>acquisition</a:t>
            </a:r>
            <a:r>
              <a:rPr lang="it-IT" sz="1600"/>
              <a:t> </a:t>
            </a:r>
            <a:r>
              <a:rPr lang="it-IT" sz="1600" err="1"/>
              <a:t>metrics</a:t>
            </a:r>
            <a:endParaRPr lang="it-IT" sz="1600"/>
          </a:p>
        </p:txBody>
      </p:sp>
    </p:spTree>
    <p:extLst>
      <p:ext uri="{BB962C8B-B14F-4D97-AF65-F5344CB8AC3E}">
        <p14:creationId xmlns:p14="http://schemas.microsoft.com/office/powerpoint/2010/main" val="14816742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1182F-B8F7-A0CE-5FA8-9AE8FA9C396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CD3920D-FB9F-1C59-E3D1-2EB7C4D684F8}"/>
              </a:ext>
            </a:extLst>
          </p:cNvPr>
          <p:cNvSpPr>
            <a:spLocks noGrp="1"/>
          </p:cNvSpPr>
          <p:nvPr>
            <p:ph type="title"/>
          </p:nvPr>
        </p:nvSpPr>
        <p:spPr/>
        <p:txBody>
          <a:bodyPr>
            <a:normAutofit/>
          </a:bodyPr>
          <a:lstStyle/>
          <a:p>
            <a:r>
              <a:rPr lang="en-US"/>
              <a:t>Relevant MongoDB queries</a:t>
            </a:r>
          </a:p>
        </p:txBody>
      </p:sp>
      <p:sp>
        <p:nvSpPr>
          <p:cNvPr id="5" name="CasellaDiTesto 4">
            <a:extLst>
              <a:ext uri="{FF2B5EF4-FFF2-40B4-BE49-F238E27FC236}">
                <a16:creationId xmlns:a16="http://schemas.microsoft.com/office/drawing/2014/main" id="{DB1D7D9C-CF1A-6772-E2AE-73EED2C4ACC1}"/>
              </a:ext>
            </a:extLst>
          </p:cNvPr>
          <p:cNvSpPr txBox="1"/>
          <p:nvPr/>
        </p:nvSpPr>
        <p:spPr>
          <a:xfrm>
            <a:off x="303623" y="1054463"/>
            <a:ext cx="2724977" cy="400110"/>
          </a:xfrm>
          <a:prstGeom prst="rect">
            <a:avLst/>
          </a:prstGeom>
          <a:noFill/>
        </p:spPr>
        <p:txBody>
          <a:bodyPr wrap="square" rtlCol="0">
            <a:spAutoFit/>
          </a:bodyPr>
          <a:lstStyle/>
          <a:p>
            <a:r>
              <a:rPr lang="it-IT" sz="2000" b="1" i="1" u="sng" err="1"/>
              <a:t>Category</a:t>
            </a:r>
            <a:r>
              <a:rPr lang="it-IT" sz="2000" b="1" i="1" u="sng"/>
              <a:t> Trend Analysis</a:t>
            </a:r>
          </a:p>
        </p:txBody>
      </p:sp>
      <p:pic>
        <p:nvPicPr>
          <p:cNvPr id="6" name="Immagine 5">
            <a:extLst>
              <a:ext uri="{FF2B5EF4-FFF2-40B4-BE49-F238E27FC236}">
                <a16:creationId xmlns:a16="http://schemas.microsoft.com/office/drawing/2014/main" id="{D0E79E86-229B-C933-8886-2FC1287D6814}"/>
              </a:ext>
            </a:extLst>
          </p:cNvPr>
          <p:cNvPicPr>
            <a:picLocks noChangeAspect="1"/>
          </p:cNvPicPr>
          <p:nvPr/>
        </p:nvPicPr>
        <p:blipFill>
          <a:blip r:embed="rId3"/>
          <a:stretch>
            <a:fillRect/>
          </a:stretch>
        </p:blipFill>
        <p:spPr>
          <a:xfrm>
            <a:off x="307856" y="1506391"/>
            <a:ext cx="7100502" cy="4319606"/>
          </a:xfrm>
          <a:prstGeom prst="rect">
            <a:avLst/>
          </a:prstGeom>
        </p:spPr>
      </p:pic>
      <p:sp>
        <p:nvSpPr>
          <p:cNvPr id="8" name="CasellaDiTesto 7">
            <a:extLst>
              <a:ext uri="{FF2B5EF4-FFF2-40B4-BE49-F238E27FC236}">
                <a16:creationId xmlns:a16="http://schemas.microsoft.com/office/drawing/2014/main" id="{4B2F27C2-3B9C-7D2C-14C4-0E75C61B8686}"/>
              </a:ext>
            </a:extLst>
          </p:cNvPr>
          <p:cNvSpPr txBox="1"/>
          <p:nvPr/>
        </p:nvSpPr>
        <p:spPr>
          <a:xfrm>
            <a:off x="5517594" y="2342755"/>
            <a:ext cx="3426944" cy="1323439"/>
          </a:xfrm>
          <a:prstGeom prst="rect">
            <a:avLst/>
          </a:prstGeom>
          <a:noFill/>
        </p:spPr>
        <p:txBody>
          <a:bodyPr wrap="square" rtlCol="0">
            <a:spAutoFit/>
          </a:bodyPr>
          <a:lstStyle/>
          <a:p>
            <a:pPr algn="ctr"/>
            <a:r>
              <a:rPr lang="en-US" sz="1600"/>
              <a:t>Compares the</a:t>
            </a:r>
            <a:r>
              <a:rPr lang="en-US" sz="1600" dirty="0"/>
              <a:t> number of recipes created in a recent period with a previous one, identifying which categories are growing or decreasing over time.</a:t>
            </a:r>
            <a:endParaRPr lang="it-IT" sz="1600" dirty="0"/>
          </a:p>
        </p:txBody>
      </p:sp>
      <p:sp>
        <p:nvSpPr>
          <p:cNvPr id="4" name="Rettangolo 3">
            <a:extLst>
              <a:ext uri="{FF2B5EF4-FFF2-40B4-BE49-F238E27FC236}">
                <a16:creationId xmlns:a16="http://schemas.microsoft.com/office/drawing/2014/main" id="{98AFA37D-68B9-97BD-B463-7A1DC51C0144}"/>
              </a:ext>
            </a:extLst>
          </p:cNvPr>
          <p:cNvSpPr/>
          <p:nvPr/>
        </p:nvSpPr>
        <p:spPr>
          <a:xfrm>
            <a:off x="2053167" y="1506390"/>
            <a:ext cx="1244600" cy="170009"/>
          </a:xfrm>
          <a:prstGeom prst="rect">
            <a:avLst/>
          </a:prstGeom>
          <a:solidFill>
            <a:schemeClr val="bg1"/>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5815936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C9AA6-79C2-723F-25E3-62E5D0833DB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1D7BD74-B290-E099-8298-E2448099EC9C}"/>
              </a:ext>
            </a:extLst>
          </p:cNvPr>
          <p:cNvSpPr>
            <a:spLocks noGrp="1"/>
          </p:cNvSpPr>
          <p:nvPr>
            <p:ph type="title"/>
          </p:nvPr>
        </p:nvSpPr>
        <p:spPr/>
        <p:txBody>
          <a:bodyPr>
            <a:normAutofit/>
          </a:bodyPr>
          <a:lstStyle/>
          <a:p>
            <a:r>
              <a:rPr lang="en-US"/>
              <a:t>Relevant MongoDB queries</a:t>
            </a:r>
          </a:p>
        </p:txBody>
      </p:sp>
      <p:sp>
        <p:nvSpPr>
          <p:cNvPr id="7" name="CasellaDiTesto 6">
            <a:extLst>
              <a:ext uri="{FF2B5EF4-FFF2-40B4-BE49-F238E27FC236}">
                <a16:creationId xmlns:a16="http://schemas.microsoft.com/office/drawing/2014/main" id="{A34DFDF5-D1B5-D7F1-4D8C-ABB78ACB8B37}"/>
              </a:ext>
            </a:extLst>
          </p:cNvPr>
          <p:cNvSpPr txBox="1"/>
          <p:nvPr/>
        </p:nvSpPr>
        <p:spPr>
          <a:xfrm>
            <a:off x="364417" y="1033038"/>
            <a:ext cx="3714158" cy="400110"/>
          </a:xfrm>
          <a:prstGeom prst="rect">
            <a:avLst/>
          </a:prstGeom>
          <a:noFill/>
        </p:spPr>
        <p:txBody>
          <a:bodyPr wrap="square" rtlCol="0">
            <a:spAutoFit/>
          </a:bodyPr>
          <a:lstStyle/>
          <a:p>
            <a:r>
              <a:rPr lang="it-IT" sz="2000" b="1" i="1" u="sng" err="1"/>
              <a:t>Most</a:t>
            </a:r>
            <a:r>
              <a:rPr lang="it-IT" sz="2000" b="1" i="1" u="sng"/>
              <a:t> </a:t>
            </a:r>
            <a:r>
              <a:rPr lang="it-IT" sz="2000" b="1" i="1" u="sng" err="1"/>
              <a:t>Saved</a:t>
            </a:r>
            <a:r>
              <a:rPr lang="it-IT" sz="2000" b="1" i="1" u="sng"/>
              <a:t> </a:t>
            </a:r>
            <a:r>
              <a:rPr lang="it-IT" sz="2000" b="1" i="1" u="sng" err="1"/>
              <a:t>Recipes</a:t>
            </a:r>
            <a:r>
              <a:rPr lang="it-IT" sz="2000" b="1" i="1" u="sng"/>
              <a:t> per </a:t>
            </a:r>
            <a:r>
              <a:rPr lang="it-IT" sz="2000" b="1" i="1" u="sng" err="1"/>
              <a:t>Category</a:t>
            </a:r>
            <a:endParaRPr lang="it-IT" sz="2000" b="1" i="1" u="sng"/>
          </a:p>
        </p:txBody>
      </p:sp>
      <p:pic>
        <p:nvPicPr>
          <p:cNvPr id="5" name="Immagine 4">
            <a:extLst>
              <a:ext uri="{FF2B5EF4-FFF2-40B4-BE49-F238E27FC236}">
                <a16:creationId xmlns:a16="http://schemas.microsoft.com/office/drawing/2014/main" id="{90218B54-BD0C-7DF4-81C1-50F9947B5C60}"/>
              </a:ext>
            </a:extLst>
          </p:cNvPr>
          <p:cNvPicPr>
            <a:picLocks noChangeAspect="1"/>
          </p:cNvPicPr>
          <p:nvPr/>
        </p:nvPicPr>
        <p:blipFill>
          <a:blip r:embed="rId3"/>
          <a:stretch>
            <a:fillRect/>
          </a:stretch>
        </p:blipFill>
        <p:spPr>
          <a:xfrm>
            <a:off x="578432" y="1433148"/>
            <a:ext cx="4990518" cy="4700488"/>
          </a:xfrm>
          <a:prstGeom prst="rect">
            <a:avLst/>
          </a:prstGeom>
        </p:spPr>
      </p:pic>
      <p:sp>
        <p:nvSpPr>
          <p:cNvPr id="4" name="Rettangolo 3">
            <a:extLst>
              <a:ext uri="{FF2B5EF4-FFF2-40B4-BE49-F238E27FC236}">
                <a16:creationId xmlns:a16="http://schemas.microsoft.com/office/drawing/2014/main" id="{B15FE8FD-777E-FFF8-0867-01AFDA17F231}"/>
              </a:ext>
            </a:extLst>
          </p:cNvPr>
          <p:cNvSpPr/>
          <p:nvPr/>
        </p:nvSpPr>
        <p:spPr>
          <a:xfrm>
            <a:off x="2833975" y="1470737"/>
            <a:ext cx="1244600" cy="170009"/>
          </a:xfrm>
          <a:prstGeom prst="rect">
            <a:avLst/>
          </a:prstGeom>
          <a:solidFill>
            <a:schemeClr val="bg1"/>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it-IT"/>
          </a:p>
        </p:txBody>
      </p:sp>
      <p:sp>
        <p:nvSpPr>
          <p:cNvPr id="8" name="CasellaDiTesto 7">
            <a:extLst>
              <a:ext uri="{FF2B5EF4-FFF2-40B4-BE49-F238E27FC236}">
                <a16:creationId xmlns:a16="http://schemas.microsoft.com/office/drawing/2014/main" id="{E03D0163-F403-86D3-B7E7-EDB8188B272F}"/>
              </a:ext>
            </a:extLst>
          </p:cNvPr>
          <p:cNvSpPr txBox="1"/>
          <p:nvPr/>
        </p:nvSpPr>
        <p:spPr>
          <a:xfrm>
            <a:off x="4870378" y="4101413"/>
            <a:ext cx="3756804" cy="1323439"/>
          </a:xfrm>
          <a:prstGeom prst="rect">
            <a:avLst/>
          </a:prstGeom>
          <a:noFill/>
        </p:spPr>
        <p:txBody>
          <a:bodyPr wrap="square" rtlCol="0">
            <a:spAutoFit/>
          </a:bodyPr>
          <a:lstStyle/>
          <a:p>
            <a:pPr algn="ctr"/>
            <a:r>
              <a:rPr lang="en-US" sz="1600" dirty="0"/>
              <a:t>This query identifies the most saved approved recipe for each category, highlighting the recipes that users appreciate the most within every food category.</a:t>
            </a:r>
            <a:endParaRPr lang="it-IT" sz="1600" dirty="0"/>
          </a:p>
        </p:txBody>
      </p:sp>
    </p:spTree>
    <p:extLst>
      <p:ext uri="{BB962C8B-B14F-4D97-AF65-F5344CB8AC3E}">
        <p14:creationId xmlns:p14="http://schemas.microsoft.com/office/powerpoint/2010/main" val="4125507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4509B-E1C2-F9B5-B3A5-3D1BFDF9D83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42B07DE-25D9-F3C6-B627-29B05F04A55A}"/>
              </a:ext>
            </a:extLst>
          </p:cNvPr>
          <p:cNvSpPr>
            <a:spLocks noGrp="1"/>
          </p:cNvSpPr>
          <p:nvPr>
            <p:ph type="title"/>
          </p:nvPr>
        </p:nvSpPr>
        <p:spPr>
          <a:xfrm>
            <a:off x="182740" y="0"/>
            <a:ext cx="8761797" cy="1143000"/>
          </a:xfrm>
        </p:spPr>
        <p:txBody>
          <a:bodyPr>
            <a:normAutofit/>
          </a:bodyPr>
          <a:lstStyle/>
          <a:p>
            <a:r>
              <a:rPr lang="en-US"/>
              <a:t>MongoDB Replica Set Configuration</a:t>
            </a:r>
          </a:p>
        </p:txBody>
      </p:sp>
      <p:sp>
        <p:nvSpPr>
          <p:cNvPr id="7" name="CasellaDiTesto 6">
            <a:extLst>
              <a:ext uri="{FF2B5EF4-FFF2-40B4-BE49-F238E27FC236}">
                <a16:creationId xmlns:a16="http://schemas.microsoft.com/office/drawing/2014/main" id="{0FA40CAC-42E4-2708-1E55-E685388BE891}"/>
              </a:ext>
            </a:extLst>
          </p:cNvPr>
          <p:cNvSpPr txBox="1"/>
          <p:nvPr/>
        </p:nvSpPr>
        <p:spPr>
          <a:xfrm>
            <a:off x="317343" y="1053962"/>
            <a:ext cx="8492592" cy="4924425"/>
          </a:xfrm>
          <a:prstGeom prst="rect">
            <a:avLst/>
          </a:prstGeom>
          <a:noFill/>
        </p:spPr>
        <p:txBody>
          <a:bodyPr wrap="square">
            <a:spAutoFit/>
          </a:bodyPr>
          <a:lstStyle/>
          <a:p>
            <a:pPr rtl="0">
              <a:buNone/>
            </a:pPr>
            <a:r>
              <a:rPr lang="en-US" b="1" u="sng"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Three</a:t>
            </a:r>
            <a:r>
              <a:rPr lang="en-US"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replicas were implemented with the following configuration:</a:t>
            </a:r>
          </a:p>
          <a:p>
            <a:pPr rtl="0">
              <a:buNone/>
            </a:pPr>
            <a:endParaRPr lang="en-US" dirty="0">
              <a:solidFill>
                <a:srgbClr val="1F1F1F"/>
              </a:solidFill>
              <a:effectLst/>
              <a:latin typeface="Google Sans Text"/>
            </a:endParaRPr>
          </a:p>
          <a:p>
            <a:pPr algn="ctr" rtl="0">
              <a:buNone/>
            </a:pPr>
            <a:r>
              <a:rPr lang="en-US" dirty="0">
                <a:solidFill>
                  <a:srgbClr val="1F1F1F"/>
                </a:solidFill>
                <a:effectLst/>
                <a:latin typeface="Courier New" panose="02070309020205020404" pitchFamily="49" charset="0"/>
                <a:cs typeface="Courier New" panose="02070309020205020404" pitchFamily="49" charset="0"/>
              </a:rPr>
              <a:t>{ _id: 0, host: 'mongo_machine1:10.1.1.92', priority: 5 }</a:t>
            </a:r>
          </a:p>
          <a:p>
            <a:pPr algn="ctr" rtl="0">
              <a:buNone/>
            </a:pPr>
            <a:r>
              <a:rPr lang="en-US" dirty="0">
                <a:solidFill>
                  <a:srgbClr val="1F1F1F"/>
                </a:solidFill>
                <a:effectLst/>
                <a:latin typeface="Courier New" panose="02070309020205020404" pitchFamily="49" charset="0"/>
                <a:cs typeface="Courier New" panose="02070309020205020404" pitchFamily="49" charset="0"/>
              </a:rPr>
              <a:t>{ _id: 1, host: 'mongo_machine2:10.1.1.91', priority: 2 }</a:t>
            </a:r>
          </a:p>
          <a:p>
            <a:pPr algn="ctr" rtl="0">
              <a:buNone/>
            </a:pPr>
            <a:r>
              <a:rPr lang="en-US" dirty="0">
                <a:solidFill>
                  <a:srgbClr val="1F1F1F"/>
                </a:solidFill>
                <a:effectLst/>
                <a:latin typeface="Courier New" panose="02070309020205020404" pitchFamily="49" charset="0"/>
                <a:cs typeface="Courier New" panose="02070309020205020404" pitchFamily="49" charset="0"/>
              </a:rPr>
              <a:t>{ _id: 2, host: 'mongo_machine3:10.1.1.90', priority: 1 }</a:t>
            </a:r>
          </a:p>
          <a:p>
            <a:pPr rtl="0">
              <a:buNone/>
            </a:pPr>
            <a:endParaRPr lang="en-US" dirty="0">
              <a:solidFill>
                <a:srgbClr val="1F1F1F"/>
              </a:solidFill>
              <a:effectLst/>
              <a:latin typeface="Calibri" panose="020F0502020204030204" pitchFamily="34" charset="0"/>
              <a:ea typeface="Calibri" panose="020F0502020204030204" pitchFamily="34" charset="0"/>
              <a:cs typeface="Calibri" panose="020F0502020204030204" pitchFamily="34" charset="0"/>
            </a:endParaRPr>
          </a:p>
          <a:p>
            <a:pPr rtl="0">
              <a:buNone/>
            </a:pPr>
            <a:r>
              <a:rPr lang="en-US"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The priority parameters are chosen to handle the election process in the event of a primary node failure.</a:t>
            </a:r>
          </a:p>
          <a:p>
            <a:pPr rtl="0">
              <a:buNone/>
            </a:pPr>
            <a:endParaRPr lang="en-US" dirty="0">
              <a:solidFill>
                <a:srgbClr val="1F1F1F"/>
              </a:solidFill>
              <a:effectLst/>
              <a:latin typeface="Calibri" panose="020F0502020204030204" pitchFamily="34" charset="0"/>
              <a:ea typeface="Calibri" panose="020F0502020204030204" pitchFamily="34" charset="0"/>
              <a:cs typeface="Calibri" panose="020F0502020204030204" pitchFamily="34" charset="0"/>
            </a:endParaRPr>
          </a:p>
          <a:p>
            <a:pPr rtl="0">
              <a:buNone/>
            </a:pPr>
            <a:endParaRPr lang="en-US" dirty="0">
              <a:solidFill>
                <a:srgbClr val="1F1F1F"/>
              </a:solidFill>
              <a:effectLst/>
              <a:latin typeface="Calibri" panose="020F0502020204030204" pitchFamily="34" charset="0"/>
              <a:ea typeface="Calibri" panose="020F0502020204030204" pitchFamily="34" charset="0"/>
              <a:cs typeface="Calibri" panose="020F0502020204030204" pitchFamily="34" charset="0"/>
            </a:endParaRPr>
          </a:p>
          <a:p>
            <a:pPr rtl="0">
              <a:buNone/>
            </a:pPr>
            <a:r>
              <a:rPr lang="en-US" b="1" u="sng"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Write Concern and Read Preference</a:t>
            </a:r>
          </a:p>
          <a:p>
            <a:pPr rtl="0">
              <a:buNone/>
            </a:pPr>
            <a:endParaRPr lang="en-US" dirty="0">
              <a:solidFill>
                <a:srgbClr val="1F1F1F"/>
              </a:solidFill>
              <a:effectLst/>
              <a:latin typeface="Calibri" panose="020F0502020204030204" pitchFamily="34" charset="0"/>
              <a:ea typeface="Calibri" panose="020F0502020204030204" pitchFamily="34" charset="0"/>
              <a:cs typeface="Calibri" panose="020F0502020204030204" pitchFamily="34" charset="0"/>
            </a:endParaRPr>
          </a:p>
          <a:p>
            <a:pPr marL="285750" indent="-285750" rtl="0">
              <a:buFont typeface="Arial" panose="020B0604020202020204" pitchFamily="34" charset="0"/>
              <a:buChar char="•"/>
            </a:pPr>
            <a:r>
              <a:rPr lang="en-US" b="1"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Write Concern: Write concern 1 (W1). </a:t>
            </a:r>
            <a:r>
              <a:rPr lang="en-US"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T</a:t>
            </a:r>
            <a:r>
              <a:rPr lang="en-US" dirty="0">
                <a:solidFill>
                  <a:srgbClr val="1F1F1F"/>
                </a:solidFill>
                <a:latin typeface="Calibri" panose="020F0502020204030204" pitchFamily="34" charset="0"/>
                <a:ea typeface="Calibri" panose="020F0502020204030204" pitchFamily="34" charset="0"/>
                <a:cs typeface="Calibri" panose="020F0502020204030204" pitchFamily="34" charset="0"/>
              </a:rPr>
              <a:t>his</a:t>
            </a:r>
            <a:r>
              <a:rPr lang="en-US" b="1"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ensures fast write operations and low latency, accepting a minimal risk of data loss in the rare event of a Primary failure immediately before the asynchronous replication to Secondaries occurs.</a:t>
            </a:r>
          </a:p>
          <a:p>
            <a:pPr marL="285750" indent="-285750" rtl="0">
              <a:buFont typeface="Arial" panose="020B0604020202020204" pitchFamily="34" charset="0"/>
              <a:buChar char="•"/>
            </a:pPr>
            <a:endParaRPr lang="en-US" sz="800" dirty="0">
              <a:solidFill>
                <a:srgbClr val="1F1F1F"/>
              </a:solidFill>
              <a:effectLst/>
              <a:latin typeface="Calibri" panose="020F0502020204030204" pitchFamily="34" charset="0"/>
              <a:ea typeface="Calibri" panose="020F0502020204030204" pitchFamily="34" charset="0"/>
              <a:cs typeface="Calibri" panose="020F0502020204030204" pitchFamily="34" charset="0"/>
            </a:endParaRPr>
          </a:p>
          <a:p>
            <a:pPr marL="285750" indent="-285750" rtl="0">
              <a:buFont typeface="Arial" panose="020B0604020202020204" pitchFamily="34" charset="0"/>
              <a:buChar char="•"/>
            </a:pPr>
            <a:r>
              <a:rPr lang="en-US" b="1"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Read Preference: Nearest</a:t>
            </a:r>
            <a:r>
              <a:rPr lang="en-US"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This effectively distributes the read load across the available infrastructure and minimizes query response times.</a:t>
            </a:r>
          </a:p>
        </p:txBody>
      </p:sp>
    </p:spTree>
    <p:extLst>
      <p:ext uri="{BB962C8B-B14F-4D97-AF65-F5344CB8AC3E}">
        <p14:creationId xmlns:p14="http://schemas.microsoft.com/office/powerpoint/2010/main" val="26731683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D2706-44C8-F488-DDB5-DFBA5A644D3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856A37F-D865-DC02-7708-6249D4EB7D41}"/>
              </a:ext>
            </a:extLst>
          </p:cNvPr>
          <p:cNvSpPr>
            <a:spLocks noGrp="1"/>
          </p:cNvSpPr>
          <p:nvPr>
            <p:ph type="title"/>
          </p:nvPr>
        </p:nvSpPr>
        <p:spPr>
          <a:xfrm>
            <a:off x="182741" y="16043"/>
            <a:ext cx="8761797" cy="1143000"/>
          </a:xfrm>
        </p:spPr>
        <p:txBody>
          <a:bodyPr>
            <a:normAutofit/>
          </a:bodyPr>
          <a:lstStyle/>
          <a:p>
            <a:r>
              <a:rPr lang="en-US" dirty="0"/>
              <a:t>MongoDB Indexes</a:t>
            </a:r>
          </a:p>
        </p:txBody>
      </p:sp>
      <p:sp>
        <p:nvSpPr>
          <p:cNvPr id="3" name="Text 0">
            <a:extLst>
              <a:ext uri="{FF2B5EF4-FFF2-40B4-BE49-F238E27FC236}">
                <a16:creationId xmlns:a16="http://schemas.microsoft.com/office/drawing/2014/main" id="{CEC31958-7649-AE87-360B-9DB879869352}"/>
              </a:ext>
            </a:extLst>
          </p:cNvPr>
          <p:cNvSpPr/>
          <p:nvPr/>
        </p:nvSpPr>
        <p:spPr>
          <a:xfrm>
            <a:off x="389051" y="946720"/>
            <a:ext cx="8503920" cy="685800"/>
          </a:xfrm>
          <a:prstGeom prst="rect">
            <a:avLst/>
          </a:prstGeom>
          <a:noFill/>
          <a:ln/>
        </p:spPr>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 2">
            <a:extLst>
              <a:ext uri="{FF2B5EF4-FFF2-40B4-BE49-F238E27FC236}">
                <a16:creationId xmlns:a16="http://schemas.microsoft.com/office/drawing/2014/main" id="{59661B60-72EE-EDC9-A8F2-0634F934331E}"/>
              </a:ext>
            </a:extLst>
          </p:cNvPr>
          <p:cNvSpPr/>
          <p:nvPr/>
        </p:nvSpPr>
        <p:spPr>
          <a:xfrm>
            <a:off x="251029" y="1303336"/>
            <a:ext cx="8503920" cy="347472"/>
          </a:xfrm>
          <a:prstGeom prst="rect">
            <a:avLst/>
          </a:prstGeom>
          <a:noFill/>
          <a:ln/>
        </p:spPr>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a:ea typeface="+mn-ea"/>
              <a:cs typeface="+mn-cs"/>
            </a:endParaRPr>
          </a:p>
        </p:txBody>
      </p:sp>
      <p:sp>
        <p:nvSpPr>
          <p:cNvPr id="5" name="CasellaDiTesto 4">
            <a:extLst>
              <a:ext uri="{FF2B5EF4-FFF2-40B4-BE49-F238E27FC236}">
                <a16:creationId xmlns:a16="http://schemas.microsoft.com/office/drawing/2014/main" id="{D8988CAB-E0AF-1B71-4E08-3EB767C2FD18}"/>
              </a:ext>
            </a:extLst>
          </p:cNvPr>
          <p:cNvSpPr txBox="1"/>
          <p:nvPr/>
        </p:nvSpPr>
        <p:spPr>
          <a:xfrm>
            <a:off x="2259531" y="903226"/>
            <a:ext cx="4572000" cy="400110"/>
          </a:xfrm>
          <a:prstGeom prst="rect">
            <a:avLst/>
          </a:prstGeom>
          <a:noFill/>
        </p:spPr>
        <p:txBody>
          <a:bodyPr wrap="square">
            <a:spAutoFit/>
          </a:bodyPr>
          <a:lstStyle/>
          <a:p>
            <a:pPr algn="ctr"/>
            <a:r>
              <a:rPr lang="it-IT" sz="2000" b="1" i="1" u="sng" err="1"/>
              <a:t>Recipes</a:t>
            </a:r>
            <a:r>
              <a:rPr lang="it-IT" sz="2000" b="1" i="1" u="sng"/>
              <a:t> Collection</a:t>
            </a:r>
          </a:p>
        </p:txBody>
      </p:sp>
      <p:sp>
        <p:nvSpPr>
          <p:cNvPr id="8" name="CasellaDiTesto 7">
            <a:extLst>
              <a:ext uri="{FF2B5EF4-FFF2-40B4-BE49-F238E27FC236}">
                <a16:creationId xmlns:a16="http://schemas.microsoft.com/office/drawing/2014/main" id="{1C644A7A-E10D-FFBB-192D-DECF3A8B11EF}"/>
              </a:ext>
            </a:extLst>
          </p:cNvPr>
          <p:cNvSpPr txBox="1"/>
          <p:nvPr/>
        </p:nvSpPr>
        <p:spPr>
          <a:xfrm>
            <a:off x="296245" y="1673917"/>
            <a:ext cx="4572000" cy="369332"/>
          </a:xfrm>
          <a:prstGeom prst="rect">
            <a:avLst/>
          </a:prstGeom>
          <a:noFill/>
        </p:spPr>
        <p:txBody>
          <a:bodyPr wrap="square">
            <a:spAutoFit/>
          </a:bodyPr>
          <a:lstStyle/>
          <a:p>
            <a:pPr marL="0" indent="0">
              <a:buNone/>
            </a:pPr>
            <a:r>
              <a:rPr lang="en-US" b="1" err="1">
                <a:solidFill>
                  <a:srgbClr val="22537C"/>
                </a:solidFill>
                <a:latin typeface="Courier New" pitchFamily="34" charset="0"/>
                <a:ea typeface="Courier New" pitchFamily="34" charset="-122"/>
                <a:cs typeface="Courier New" pitchFamily="34" charset="-120"/>
              </a:rPr>
              <a:t>creation_date</a:t>
            </a:r>
            <a:r>
              <a:rPr lang="en-US" b="1">
                <a:solidFill>
                  <a:srgbClr val="22537C"/>
                </a:solidFill>
                <a:latin typeface="Calibri" pitchFamily="34" charset="0"/>
                <a:ea typeface="Calibri" pitchFamily="34" charset="-122"/>
                <a:cs typeface="Calibri" pitchFamily="34" charset="-120"/>
              </a:rPr>
              <a:t> (Descending Index)</a:t>
            </a:r>
            <a:endParaRPr lang="en-US">
              <a:solidFill>
                <a:srgbClr val="22537C"/>
              </a:solidFill>
            </a:endParaRPr>
          </a:p>
        </p:txBody>
      </p:sp>
      <p:sp>
        <p:nvSpPr>
          <p:cNvPr id="96" name="CasellaDiTesto 95">
            <a:extLst>
              <a:ext uri="{FF2B5EF4-FFF2-40B4-BE49-F238E27FC236}">
                <a16:creationId xmlns:a16="http://schemas.microsoft.com/office/drawing/2014/main" id="{0B421E0B-4D95-10D8-B5C2-87F844EA2891}"/>
              </a:ext>
            </a:extLst>
          </p:cNvPr>
          <p:cNvSpPr txBox="1"/>
          <p:nvPr/>
        </p:nvSpPr>
        <p:spPr>
          <a:xfrm>
            <a:off x="251029" y="3300395"/>
            <a:ext cx="4572000" cy="369332"/>
          </a:xfrm>
          <a:prstGeom prst="rect">
            <a:avLst/>
          </a:prstGeom>
          <a:noFill/>
        </p:spPr>
        <p:txBody>
          <a:bodyPr wrap="square">
            <a:spAutoFit/>
          </a:bodyPr>
          <a:lstStyle/>
          <a:p>
            <a:pPr marL="0" indent="0">
              <a:buNone/>
            </a:pPr>
            <a:r>
              <a:rPr lang="en-US" b="1">
                <a:solidFill>
                  <a:srgbClr val="22537C"/>
                </a:solidFill>
                <a:latin typeface="Courier New" pitchFamily="34" charset="0"/>
                <a:ea typeface="Courier New" pitchFamily="34" charset="-122"/>
                <a:cs typeface="Courier New" pitchFamily="34" charset="-120"/>
              </a:rPr>
              <a:t>title</a:t>
            </a:r>
            <a:r>
              <a:rPr lang="en-US" b="1">
                <a:solidFill>
                  <a:srgbClr val="22537C"/>
                </a:solidFill>
                <a:latin typeface="Calibri" pitchFamily="34" charset="0"/>
                <a:ea typeface="Calibri" pitchFamily="34" charset="-122"/>
                <a:cs typeface="Calibri" pitchFamily="34" charset="-120"/>
              </a:rPr>
              <a:t> (Text Index) </a:t>
            </a:r>
            <a:endParaRPr lang="en-US">
              <a:solidFill>
                <a:srgbClr val="22537C"/>
              </a:solidFill>
            </a:endParaRPr>
          </a:p>
        </p:txBody>
      </p:sp>
      <p:sp>
        <p:nvSpPr>
          <p:cNvPr id="98" name="CasellaDiTesto 97">
            <a:extLst>
              <a:ext uri="{FF2B5EF4-FFF2-40B4-BE49-F238E27FC236}">
                <a16:creationId xmlns:a16="http://schemas.microsoft.com/office/drawing/2014/main" id="{71B52335-8203-FEB8-9158-09CE62065FD0}"/>
              </a:ext>
            </a:extLst>
          </p:cNvPr>
          <p:cNvSpPr txBox="1"/>
          <p:nvPr/>
        </p:nvSpPr>
        <p:spPr>
          <a:xfrm>
            <a:off x="267750" y="3597224"/>
            <a:ext cx="4192614" cy="584775"/>
          </a:xfrm>
          <a:prstGeom prst="rect">
            <a:avLst/>
          </a:prstGeom>
          <a:noFill/>
        </p:spPr>
        <p:txBody>
          <a:bodyPr wrap="square">
            <a:spAutoFit/>
          </a:bodyPr>
          <a:lstStyle/>
          <a:p>
            <a:pPr marL="0" indent="0">
              <a:buNone/>
            </a:pPr>
            <a:r>
              <a:rPr lang="en-US" sz="1600" dirty="0">
                <a:latin typeface="Calibri" pitchFamily="34" charset="0"/>
                <a:ea typeface="Calibri" pitchFamily="34" charset="-122"/>
                <a:cs typeface="Calibri" pitchFamily="34" charset="-120"/>
              </a:rPr>
              <a:t>Users search via partial keywords or multi-word phrases (</a:t>
            </a:r>
            <a:r>
              <a:rPr lang="en-US" sz="1600" dirty="0" err="1">
                <a:latin typeface="Calibri" pitchFamily="34" charset="0"/>
                <a:ea typeface="Calibri" pitchFamily="34" charset="-122"/>
                <a:cs typeface="Calibri" pitchFamily="34" charset="-120"/>
              </a:rPr>
              <a:t>findByTitleContainingIgnoreCase</a:t>
            </a:r>
            <a:r>
              <a:rPr lang="en-US" sz="1600" dirty="0">
                <a:latin typeface="Calibri" pitchFamily="34" charset="0"/>
                <a:ea typeface="Calibri" pitchFamily="34" charset="-122"/>
                <a:cs typeface="Calibri" pitchFamily="34" charset="-120"/>
              </a:rPr>
              <a:t>). </a:t>
            </a:r>
            <a:endParaRPr lang="en-US" sz="1600" dirty="0"/>
          </a:p>
        </p:txBody>
      </p:sp>
      <p:sp>
        <p:nvSpPr>
          <p:cNvPr id="100" name="CasellaDiTesto 99">
            <a:extLst>
              <a:ext uri="{FF2B5EF4-FFF2-40B4-BE49-F238E27FC236}">
                <a16:creationId xmlns:a16="http://schemas.microsoft.com/office/drawing/2014/main" id="{81746FB6-B709-5E6E-21C7-25A003928928}"/>
              </a:ext>
            </a:extLst>
          </p:cNvPr>
          <p:cNvSpPr txBox="1"/>
          <p:nvPr/>
        </p:nvSpPr>
        <p:spPr>
          <a:xfrm>
            <a:off x="219317" y="4677499"/>
            <a:ext cx="4572000" cy="369332"/>
          </a:xfrm>
          <a:prstGeom prst="rect">
            <a:avLst/>
          </a:prstGeom>
          <a:noFill/>
        </p:spPr>
        <p:txBody>
          <a:bodyPr wrap="square">
            <a:spAutoFit/>
          </a:bodyPr>
          <a:lstStyle/>
          <a:p>
            <a:pPr marL="0" indent="0">
              <a:buNone/>
            </a:pPr>
            <a:r>
              <a:rPr lang="en-US" b="1">
                <a:solidFill>
                  <a:srgbClr val="22537C"/>
                </a:solidFill>
                <a:latin typeface="Courier New" pitchFamily="34" charset="0"/>
                <a:ea typeface="Courier New" pitchFamily="34" charset="-122"/>
                <a:cs typeface="Courier New" pitchFamily="34" charset="-120"/>
              </a:rPr>
              <a:t>category</a:t>
            </a:r>
            <a:r>
              <a:rPr lang="en-US" b="1">
                <a:solidFill>
                  <a:srgbClr val="22537C"/>
                </a:solidFill>
                <a:latin typeface="Calibri" pitchFamily="34" charset="0"/>
                <a:ea typeface="Calibri" pitchFamily="34" charset="-122"/>
                <a:cs typeface="Calibri" pitchFamily="34" charset="-120"/>
              </a:rPr>
              <a:t> (Standard Index)</a:t>
            </a:r>
            <a:endParaRPr lang="en-US">
              <a:solidFill>
                <a:srgbClr val="22537C"/>
              </a:solidFill>
            </a:endParaRPr>
          </a:p>
        </p:txBody>
      </p:sp>
      <p:sp>
        <p:nvSpPr>
          <p:cNvPr id="102" name="CasellaDiTesto 101">
            <a:extLst>
              <a:ext uri="{FF2B5EF4-FFF2-40B4-BE49-F238E27FC236}">
                <a16:creationId xmlns:a16="http://schemas.microsoft.com/office/drawing/2014/main" id="{F0542E69-BA33-5AC1-6964-4E75A31C2E1F}"/>
              </a:ext>
            </a:extLst>
          </p:cNvPr>
          <p:cNvSpPr txBox="1"/>
          <p:nvPr/>
        </p:nvSpPr>
        <p:spPr>
          <a:xfrm>
            <a:off x="219317" y="4963250"/>
            <a:ext cx="4271272" cy="830997"/>
          </a:xfrm>
          <a:prstGeom prst="rect">
            <a:avLst/>
          </a:prstGeom>
          <a:noFill/>
        </p:spPr>
        <p:txBody>
          <a:bodyPr wrap="square">
            <a:spAutoFit/>
          </a:bodyPr>
          <a:lstStyle/>
          <a:p>
            <a:pPr marL="0" indent="0">
              <a:buNone/>
            </a:pPr>
            <a:r>
              <a:rPr lang="en-US" sz="1600">
                <a:latin typeface="Calibri" pitchFamily="34" charset="0"/>
                <a:ea typeface="Calibri" pitchFamily="34" charset="-122"/>
                <a:cs typeface="Calibri" pitchFamily="34" charset="-120"/>
              </a:rPr>
              <a:t>Added to optimize category-based recipe browsing, one of the most frequent operation in the application. </a:t>
            </a:r>
            <a:endParaRPr lang="en-US" sz="1600"/>
          </a:p>
        </p:txBody>
      </p:sp>
      <p:sp>
        <p:nvSpPr>
          <p:cNvPr id="164" name="Text 8">
            <a:extLst>
              <a:ext uri="{FF2B5EF4-FFF2-40B4-BE49-F238E27FC236}">
                <a16:creationId xmlns:a16="http://schemas.microsoft.com/office/drawing/2014/main" id="{D828F1B4-4CC9-B455-CB20-E0E2123FFA7A}"/>
              </a:ext>
            </a:extLst>
          </p:cNvPr>
          <p:cNvSpPr/>
          <p:nvPr/>
        </p:nvSpPr>
        <p:spPr>
          <a:xfrm>
            <a:off x="5271947" y="2846293"/>
            <a:ext cx="1609344" cy="292608"/>
          </a:xfrm>
          <a:prstGeom prst="rect">
            <a:avLst/>
          </a:prstGeom>
          <a:noFill/>
          <a:ln/>
        </p:spPr>
        <p:txBody>
          <a:bodyPr wrap="square" rtlCol="0" anchor="ctr"/>
          <a:lstStyle/>
          <a:p>
            <a:pPr marL="0" indent="0">
              <a:buNone/>
            </a:pPr>
            <a:r>
              <a:rPr lang="en-US" sz="900" b="1">
                <a:solidFill>
                  <a:srgbClr val="FFFFFF"/>
                </a:solidFill>
                <a:latin typeface="Calibri" pitchFamily="34" charset="0"/>
                <a:ea typeface="Calibri" pitchFamily="34" charset="-122"/>
                <a:cs typeface="Calibri" pitchFamily="34" charset="-120"/>
              </a:rPr>
              <a:t>Metric</a:t>
            </a:r>
            <a:endParaRPr lang="en-US" sz="900"/>
          </a:p>
        </p:txBody>
      </p:sp>
      <p:sp>
        <p:nvSpPr>
          <p:cNvPr id="166" name="Text 10">
            <a:extLst>
              <a:ext uri="{FF2B5EF4-FFF2-40B4-BE49-F238E27FC236}">
                <a16:creationId xmlns:a16="http://schemas.microsoft.com/office/drawing/2014/main" id="{6600A392-A52B-FCD1-4507-B177684F6615}"/>
              </a:ext>
            </a:extLst>
          </p:cNvPr>
          <p:cNvSpPr/>
          <p:nvPr/>
        </p:nvSpPr>
        <p:spPr>
          <a:xfrm>
            <a:off x="6917867" y="2846293"/>
            <a:ext cx="1060704" cy="292608"/>
          </a:xfrm>
          <a:prstGeom prst="rect">
            <a:avLst/>
          </a:prstGeom>
          <a:noFill/>
          <a:ln/>
        </p:spPr>
        <p:txBody>
          <a:bodyPr wrap="square" rtlCol="0" anchor="ctr"/>
          <a:lstStyle/>
          <a:p>
            <a:pPr marL="0" indent="0">
              <a:buNone/>
            </a:pPr>
            <a:r>
              <a:rPr lang="en-US" sz="900" b="1">
                <a:solidFill>
                  <a:srgbClr val="FFFFFF"/>
                </a:solidFill>
                <a:latin typeface="Calibri" pitchFamily="34" charset="0"/>
                <a:ea typeface="Calibri" pitchFamily="34" charset="-122"/>
                <a:cs typeface="Calibri" pitchFamily="34" charset="-120"/>
              </a:rPr>
              <a:t>w/ Index (regex)</a:t>
            </a:r>
            <a:endParaRPr lang="en-US" sz="900"/>
          </a:p>
        </p:txBody>
      </p:sp>
      <p:sp>
        <p:nvSpPr>
          <p:cNvPr id="168" name="Text 12">
            <a:extLst>
              <a:ext uri="{FF2B5EF4-FFF2-40B4-BE49-F238E27FC236}">
                <a16:creationId xmlns:a16="http://schemas.microsoft.com/office/drawing/2014/main" id="{D63060D1-A914-2CB2-DAEE-7E8057AC202F}"/>
              </a:ext>
            </a:extLst>
          </p:cNvPr>
          <p:cNvSpPr/>
          <p:nvPr/>
        </p:nvSpPr>
        <p:spPr>
          <a:xfrm>
            <a:off x="8015147" y="2846293"/>
            <a:ext cx="1060704" cy="292608"/>
          </a:xfrm>
          <a:prstGeom prst="rect">
            <a:avLst/>
          </a:prstGeom>
          <a:noFill/>
          <a:ln/>
        </p:spPr>
        <p:txBody>
          <a:bodyPr wrap="square" rtlCol="0" anchor="ctr"/>
          <a:lstStyle/>
          <a:p>
            <a:pPr marL="0" indent="0">
              <a:buNone/>
            </a:pPr>
            <a:endParaRPr lang="en-US" sz="900"/>
          </a:p>
        </p:txBody>
      </p:sp>
      <p:graphicFrame>
        <p:nvGraphicFramePr>
          <p:cNvPr id="11" name="Tabella 10">
            <a:extLst>
              <a:ext uri="{FF2B5EF4-FFF2-40B4-BE49-F238E27FC236}">
                <a16:creationId xmlns:a16="http://schemas.microsoft.com/office/drawing/2014/main" id="{91DFC98B-ECC4-45FA-0540-F2D370A7A48C}"/>
              </a:ext>
            </a:extLst>
          </p:cNvPr>
          <p:cNvGraphicFramePr>
            <a:graphicFrameLocks noGrp="1"/>
          </p:cNvGraphicFramePr>
          <p:nvPr>
            <p:extLst>
              <p:ext uri="{D42A27DB-BD31-4B8C-83A1-F6EECF244321}">
                <p14:modId xmlns:p14="http://schemas.microsoft.com/office/powerpoint/2010/main" val="2203078996"/>
              </p:ext>
            </p:extLst>
          </p:nvPr>
        </p:nvGraphicFramePr>
        <p:xfrm>
          <a:off x="4791317" y="3054270"/>
          <a:ext cx="3882504" cy="1326400"/>
        </p:xfrm>
        <a:graphic>
          <a:graphicData uri="http://schemas.openxmlformats.org/drawingml/2006/table">
            <a:tbl>
              <a:tblPr firstRow="1" bandRow="1">
                <a:tableStyleId>{5C22544A-7EE6-4342-B048-85BDC9FD1C3A}</a:tableStyleId>
              </a:tblPr>
              <a:tblGrid>
                <a:gridCol w="1294168">
                  <a:extLst>
                    <a:ext uri="{9D8B030D-6E8A-4147-A177-3AD203B41FA5}">
                      <a16:colId xmlns:a16="http://schemas.microsoft.com/office/drawing/2014/main" val="163053178"/>
                    </a:ext>
                  </a:extLst>
                </a:gridCol>
                <a:gridCol w="1294168">
                  <a:extLst>
                    <a:ext uri="{9D8B030D-6E8A-4147-A177-3AD203B41FA5}">
                      <a16:colId xmlns:a16="http://schemas.microsoft.com/office/drawing/2014/main" val="1770871105"/>
                    </a:ext>
                  </a:extLst>
                </a:gridCol>
                <a:gridCol w="1294168">
                  <a:extLst>
                    <a:ext uri="{9D8B030D-6E8A-4147-A177-3AD203B41FA5}">
                      <a16:colId xmlns:a16="http://schemas.microsoft.com/office/drawing/2014/main" val="1626729557"/>
                    </a:ext>
                  </a:extLst>
                </a:gridCol>
              </a:tblGrid>
              <a:tr h="26528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100" b="1">
                          <a:solidFill>
                            <a:srgbClr val="FFFFFF"/>
                          </a:solidFill>
                          <a:latin typeface="Calibri" pitchFamily="34" charset="0"/>
                          <a:ea typeface="Calibri" pitchFamily="34" charset="-122"/>
                          <a:cs typeface="Calibri" pitchFamily="34" charset="-120"/>
                        </a:rPr>
                        <a:t>Metric</a:t>
                      </a:r>
                      <a:endParaRPr lang="en-US" sz="1100"/>
                    </a:p>
                  </a:txBody>
                  <a:tcPr>
                    <a:solidFill>
                      <a:schemeClr val="tx2"/>
                    </a:solidFill>
                  </a:tcPr>
                </a:tc>
                <a:tc>
                  <a:txBody>
                    <a:bodyPr/>
                    <a:lstStyle/>
                    <a:p>
                      <a:pPr marL="0" indent="0">
                        <a:buNone/>
                      </a:pPr>
                      <a:r>
                        <a:rPr lang="en-US" sz="1100" b="1">
                          <a:solidFill>
                            <a:srgbClr val="FFFFFF"/>
                          </a:solidFill>
                          <a:latin typeface="Calibri" pitchFamily="34" charset="0"/>
                          <a:ea typeface="Calibri" pitchFamily="34" charset="-122"/>
                          <a:cs typeface="Calibri" pitchFamily="34" charset="-120"/>
                        </a:rPr>
                        <a:t>Without index </a:t>
                      </a:r>
                      <a:endParaRPr lang="en-US" sz="1100"/>
                    </a:p>
                  </a:txBody>
                  <a:tcPr>
                    <a:solidFill>
                      <a:schemeClr val="tx2"/>
                    </a:solidFill>
                  </a:tcPr>
                </a:tc>
                <a:tc>
                  <a:txBody>
                    <a:bodyPr/>
                    <a:lstStyle/>
                    <a:p>
                      <a:r>
                        <a:rPr lang="it-IT" sz="1100" b="1">
                          <a:solidFill>
                            <a:schemeClr val="bg1"/>
                          </a:solidFill>
                        </a:rPr>
                        <a:t>With Text index</a:t>
                      </a:r>
                    </a:p>
                  </a:txBody>
                  <a:tcPr>
                    <a:solidFill>
                      <a:schemeClr val="tx2"/>
                    </a:solidFill>
                  </a:tcPr>
                </a:tc>
                <a:extLst>
                  <a:ext uri="{0D108BD9-81ED-4DB2-BD59-A6C34878D82A}">
                    <a16:rowId xmlns:a16="http://schemas.microsoft.com/office/drawing/2014/main" val="3822015512"/>
                  </a:ext>
                </a:extLst>
              </a:tr>
              <a:tr h="26528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a:solidFill>
                            <a:srgbClr val="374151"/>
                          </a:solidFill>
                          <a:latin typeface="Calibri "/>
                          <a:ea typeface="Calibri" pitchFamily="34" charset="-122"/>
                          <a:cs typeface="Calibri" pitchFamily="34" charset="-120"/>
                        </a:rPr>
                        <a:t>Documents returned</a:t>
                      </a:r>
                      <a:endParaRPr lang="en-US" sz="900">
                        <a:latin typeface="Calibri "/>
                      </a:endParaRPr>
                    </a:p>
                  </a:txBody>
                  <a:tcPr anchor="ctr">
                    <a:solidFill>
                      <a:schemeClr val="tx2">
                        <a:lumMod val="40000"/>
                        <a:lumOff val="60000"/>
                      </a:schemeClr>
                    </a:solidFill>
                  </a:tcPr>
                </a:tc>
                <a:tc>
                  <a:txBody>
                    <a:bodyPr/>
                    <a:lstStyle/>
                    <a:p>
                      <a:r>
                        <a:rPr lang="it-IT" sz="1000">
                          <a:latin typeface="Calibri "/>
                        </a:rPr>
                        <a:t>28</a:t>
                      </a:r>
                    </a:p>
                  </a:txBody>
                  <a:tcPr anchor="ctr">
                    <a:solidFill>
                      <a:schemeClr val="tx2">
                        <a:lumMod val="40000"/>
                        <a:lumOff val="60000"/>
                      </a:schemeClr>
                    </a:solidFill>
                  </a:tcPr>
                </a:tc>
                <a:tc>
                  <a:txBody>
                    <a:bodyPr/>
                    <a:lstStyle/>
                    <a:p>
                      <a:r>
                        <a:rPr lang="it-IT" sz="1000">
                          <a:latin typeface="Calibri "/>
                        </a:rPr>
                        <a:t>28</a:t>
                      </a:r>
                    </a:p>
                  </a:txBody>
                  <a:tcPr anchor="ctr">
                    <a:solidFill>
                      <a:schemeClr val="tx2">
                        <a:lumMod val="40000"/>
                        <a:lumOff val="60000"/>
                      </a:schemeClr>
                    </a:solidFill>
                  </a:tcPr>
                </a:tc>
                <a:extLst>
                  <a:ext uri="{0D108BD9-81ED-4DB2-BD59-A6C34878D82A}">
                    <a16:rowId xmlns:a16="http://schemas.microsoft.com/office/drawing/2014/main" val="2933510440"/>
                  </a:ext>
                </a:extLst>
              </a:tr>
              <a:tr h="26528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a:solidFill>
                            <a:srgbClr val="374151"/>
                          </a:solidFill>
                          <a:latin typeface="Calibri "/>
                          <a:ea typeface="Calibri" pitchFamily="34" charset="-122"/>
                          <a:cs typeface="Calibri" pitchFamily="34" charset="-120"/>
                        </a:rPr>
                        <a:t>Execution time</a:t>
                      </a:r>
                      <a:endParaRPr lang="en-US" sz="900">
                        <a:latin typeface="Calibri "/>
                      </a:endParaRPr>
                    </a:p>
                  </a:txBody>
                  <a:tcPr anchor="ctr">
                    <a:solidFill>
                      <a:schemeClr val="tx2">
                        <a:lumMod val="20000"/>
                        <a:lumOff val="80000"/>
                      </a:schemeClr>
                    </a:solidFill>
                  </a:tcPr>
                </a:tc>
                <a:tc>
                  <a:txBody>
                    <a:bodyPr/>
                    <a:lstStyle/>
                    <a:p>
                      <a:r>
                        <a:rPr lang="it-IT" sz="1000">
                          <a:latin typeface="Calibri "/>
                        </a:rPr>
                        <a:t>58 ms</a:t>
                      </a:r>
                    </a:p>
                  </a:txBody>
                  <a:tcPr anchor="ctr">
                    <a:solidFill>
                      <a:schemeClr val="tx2">
                        <a:lumMod val="20000"/>
                        <a:lumOff val="80000"/>
                      </a:schemeClr>
                    </a:solidFill>
                  </a:tcPr>
                </a:tc>
                <a:tc>
                  <a:txBody>
                    <a:bodyPr/>
                    <a:lstStyle/>
                    <a:p>
                      <a:r>
                        <a:rPr lang="it-IT" sz="1000">
                          <a:latin typeface="Calibri "/>
                        </a:rPr>
                        <a:t>22 ms</a:t>
                      </a:r>
                    </a:p>
                  </a:txBody>
                  <a:tcPr anchor="ctr">
                    <a:solidFill>
                      <a:schemeClr val="tx2">
                        <a:lumMod val="20000"/>
                        <a:lumOff val="80000"/>
                      </a:schemeClr>
                    </a:solidFill>
                  </a:tcPr>
                </a:tc>
                <a:extLst>
                  <a:ext uri="{0D108BD9-81ED-4DB2-BD59-A6C34878D82A}">
                    <a16:rowId xmlns:a16="http://schemas.microsoft.com/office/drawing/2014/main" val="2927508766"/>
                  </a:ext>
                </a:extLst>
              </a:tr>
              <a:tr h="26528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a:solidFill>
                            <a:srgbClr val="374151"/>
                          </a:solidFill>
                          <a:latin typeface="Calibri "/>
                          <a:ea typeface="Calibri" pitchFamily="34" charset="-122"/>
                          <a:cs typeface="Calibri" pitchFamily="34" charset="-120"/>
                        </a:rPr>
                        <a:t>Index keys examined</a:t>
                      </a:r>
                      <a:endParaRPr lang="en-US" sz="900">
                        <a:latin typeface="Calibri "/>
                      </a:endParaRPr>
                    </a:p>
                  </a:txBody>
                  <a:tcPr anchor="ctr">
                    <a:solidFill>
                      <a:schemeClr val="tx2">
                        <a:lumMod val="40000"/>
                        <a:lumOff val="60000"/>
                      </a:schemeClr>
                    </a:solidFill>
                  </a:tcPr>
                </a:tc>
                <a:tc>
                  <a:txBody>
                    <a:bodyPr/>
                    <a:lstStyle/>
                    <a:p>
                      <a:r>
                        <a:rPr lang="it-IT" sz="1000">
                          <a:latin typeface="Calibri "/>
                        </a:rPr>
                        <a:t>0</a:t>
                      </a:r>
                    </a:p>
                  </a:txBody>
                  <a:tcPr anchor="ctr">
                    <a:solidFill>
                      <a:schemeClr val="tx2">
                        <a:lumMod val="40000"/>
                        <a:lumOff val="60000"/>
                      </a:schemeClr>
                    </a:solidFill>
                  </a:tcPr>
                </a:tc>
                <a:tc>
                  <a:txBody>
                    <a:bodyPr/>
                    <a:lstStyle/>
                    <a:p>
                      <a:r>
                        <a:rPr lang="it-IT" sz="1000">
                          <a:latin typeface="Calibri "/>
                        </a:rPr>
                        <a:t>1010</a:t>
                      </a:r>
                    </a:p>
                  </a:txBody>
                  <a:tcPr anchor="ctr">
                    <a:solidFill>
                      <a:schemeClr val="tx2">
                        <a:lumMod val="40000"/>
                        <a:lumOff val="60000"/>
                      </a:schemeClr>
                    </a:solidFill>
                  </a:tcPr>
                </a:tc>
                <a:extLst>
                  <a:ext uri="{0D108BD9-81ED-4DB2-BD59-A6C34878D82A}">
                    <a16:rowId xmlns:a16="http://schemas.microsoft.com/office/drawing/2014/main" val="577423305"/>
                  </a:ext>
                </a:extLst>
              </a:tr>
              <a:tr h="26528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a:solidFill>
                            <a:srgbClr val="374151"/>
                          </a:solidFill>
                          <a:latin typeface="Calibri "/>
                          <a:ea typeface="Calibri" pitchFamily="34" charset="-122"/>
                          <a:cs typeface="Calibri" pitchFamily="34" charset="-120"/>
                        </a:rPr>
                        <a:t>Documents examined</a:t>
                      </a:r>
                      <a:endParaRPr lang="en-US" sz="900">
                        <a:latin typeface="Calibri "/>
                      </a:endParaRPr>
                    </a:p>
                  </a:txBody>
                  <a:tcPr anchor="ctr">
                    <a:solidFill>
                      <a:schemeClr val="tx2">
                        <a:lumMod val="20000"/>
                        <a:lumOff val="80000"/>
                      </a:schemeClr>
                    </a:solidFill>
                  </a:tcPr>
                </a:tc>
                <a:tc>
                  <a:txBody>
                    <a:bodyPr/>
                    <a:lstStyle/>
                    <a:p>
                      <a:r>
                        <a:rPr lang="it-IT" sz="1000">
                          <a:latin typeface="Calibri "/>
                        </a:rPr>
                        <a:t>15,832</a:t>
                      </a:r>
                    </a:p>
                  </a:txBody>
                  <a:tcPr anchor="ctr">
                    <a:solidFill>
                      <a:schemeClr val="tx2">
                        <a:lumMod val="20000"/>
                        <a:lumOff val="80000"/>
                      </a:schemeClr>
                    </a:solidFill>
                  </a:tcPr>
                </a:tc>
                <a:tc>
                  <a:txBody>
                    <a:bodyPr/>
                    <a:lstStyle/>
                    <a:p>
                      <a:r>
                        <a:rPr lang="it-IT" sz="1000">
                          <a:latin typeface="Calibri "/>
                        </a:rPr>
                        <a:t>1060</a:t>
                      </a:r>
                    </a:p>
                  </a:txBody>
                  <a:tcPr anchor="ctr">
                    <a:solidFill>
                      <a:schemeClr val="tx2">
                        <a:lumMod val="20000"/>
                        <a:lumOff val="80000"/>
                      </a:schemeClr>
                    </a:solidFill>
                  </a:tcPr>
                </a:tc>
                <a:extLst>
                  <a:ext uri="{0D108BD9-81ED-4DB2-BD59-A6C34878D82A}">
                    <a16:rowId xmlns:a16="http://schemas.microsoft.com/office/drawing/2014/main" val="3732514528"/>
                  </a:ext>
                </a:extLst>
              </a:tr>
            </a:tbl>
          </a:graphicData>
        </a:graphic>
      </p:graphicFrame>
      <p:graphicFrame>
        <p:nvGraphicFramePr>
          <p:cNvPr id="13" name="Tabella 12">
            <a:extLst>
              <a:ext uri="{FF2B5EF4-FFF2-40B4-BE49-F238E27FC236}">
                <a16:creationId xmlns:a16="http://schemas.microsoft.com/office/drawing/2014/main" id="{C63E3BD5-BE59-40AF-8D6B-257B9DD5D261}"/>
              </a:ext>
            </a:extLst>
          </p:cNvPr>
          <p:cNvGraphicFramePr>
            <a:graphicFrameLocks noGrp="1"/>
          </p:cNvGraphicFramePr>
          <p:nvPr>
            <p:extLst>
              <p:ext uri="{D42A27DB-BD31-4B8C-83A1-F6EECF244321}">
                <p14:modId xmlns:p14="http://schemas.microsoft.com/office/powerpoint/2010/main" val="2919832255"/>
              </p:ext>
            </p:extLst>
          </p:nvPr>
        </p:nvGraphicFramePr>
        <p:xfrm>
          <a:off x="4791317" y="4585836"/>
          <a:ext cx="3882504" cy="1320795"/>
        </p:xfrm>
        <a:graphic>
          <a:graphicData uri="http://schemas.openxmlformats.org/drawingml/2006/table">
            <a:tbl>
              <a:tblPr firstRow="1" bandRow="1">
                <a:tableStyleId>{5C22544A-7EE6-4342-B048-85BDC9FD1C3A}</a:tableStyleId>
              </a:tblPr>
              <a:tblGrid>
                <a:gridCol w="1294168">
                  <a:extLst>
                    <a:ext uri="{9D8B030D-6E8A-4147-A177-3AD203B41FA5}">
                      <a16:colId xmlns:a16="http://schemas.microsoft.com/office/drawing/2014/main" val="163053178"/>
                    </a:ext>
                  </a:extLst>
                </a:gridCol>
                <a:gridCol w="1294168">
                  <a:extLst>
                    <a:ext uri="{9D8B030D-6E8A-4147-A177-3AD203B41FA5}">
                      <a16:colId xmlns:a16="http://schemas.microsoft.com/office/drawing/2014/main" val="1770871105"/>
                    </a:ext>
                  </a:extLst>
                </a:gridCol>
                <a:gridCol w="1294168">
                  <a:extLst>
                    <a:ext uri="{9D8B030D-6E8A-4147-A177-3AD203B41FA5}">
                      <a16:colId xmlns:a16="http://schemas.microsoft.com/office/drawing/2014/main" val="1626729557"/>
                    </a:ext>
                  </a:extLst>
                </a:gridCol>
              </a:tblGrid>
              <a:tr h="264159">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100" b="1">
                          <a:solidFill>
                            <a:schemeClr val="bg1"/>
                          </a:solidFill>
                          <a:latin typeface="Calibri" pitchFamily="34" charset="0"/>
                          <a:ea typeface="Calibri" pitchFamily="34" charset="-122"/>
                          <a:cs typeface="Calibri" pitchFamily="34" charset="-120"/>
                        </a:rPr>
                        <a:t>Metric</a:t>
                      </a:r>
                      <a:endParaRPr lang="en-US" sz="1100">
                        <a:solidFill>
                          <a:schemeClr val="bg1"/>
                        </a:solidFill>
                      </a:endParaRPr>
                    </a:p>
                  </a:txBody>
                  <a:tcPr>
                    <a:solidFill>
                      <a:schemeClr val="tx2"/>
                    </a:solidFill>
                  </a:tcPr>
                </a:tc>
                <a:tc>
                  <a:txBody>
                    <a:bodyPr/>
                    <a:lstStyle/>
                    <a:p>
                      <a:r>
                        <a:rPr lang="it-IT" sz="1100">
                          <a:solidFill>
                            <a:schemeClr val="bg1"/>
                          </a:solidFill>
                          <a:latin typeface="Calibri "/>
                        </a:rPr>
                        <a:t>Without index</a:t>
                      </a:r>
                    </a:p>
                  </a:txBody>
                  <a:tcPr>
                    <a:solidFill>
                      <a:schemeClr val="tx2"/>
                    </a:solidFill>
                  </a:tcPr>
                </a:tc>
                <a:tc>
                  <a:txBody>
                    <a:bodyPr/>
                    <a:lstStyle/>
                    <a:p>
                      <a:r>
                        <a:rPr lang="it-IT" sz="1100">
                          <a:solidFill>
                            <a:schemeClr val="bg1"/>
                          </a:solidFill>
                          <a:latin typeface="Calibri "/>
                        </a:rPr>
                        <a:t>With index</a:t>
                      </a:r>
                    </a:p>
                  </a:txBody>
                  <a:tcPr>
                    <a:solidFill>
                      <a:schemeClr val="tx2"/>
                    </a:solidFill>
                  </a:tcPr>
                </a:tc>
                <a:extLst>
                  <a:ext uri="{0D108BD9-81ED-4DB2-BD59-A6C34878D82A}">
                    <a16:rowId xmlns:a16="http://schemas.microsoft.com/office/drawing/2014/main" val="3822015512"/>
                  </a:ext>
                </a:extLst>
              </a:tr>
              <a:tr h="264159">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a:solidFill>
                            <a:srgbClr val="374151"/>
                          </a:solidFill>
                          <a:latin typeface="Calibri "/>
                          <a:ea typeface="Calibri" pitchFamily="34" charset="-122"/>
                          <a:cs typeface="Calibri" pitchFamily="34" charset="-120"/>
                        </a:rPr>
                        <a:t>Documents returned</a:t>
                      </a:r>
                      <a:endParaRPr lang="en-US" sz="900">
                        <a:latin typeface="Calibri "/>
                      </a:endParaRPr>
                    </a:p>
                  </a:txBody>
                  <a:tcPr anchor="ctr">
                    <a:solidFill>
                      <a:schemeClr val="tx2">
                        <a:lumMod val="40000"/>
                        <a:lumOff val="60000"/>
                      </a:schemeClr>
                    </a:solidFill>
                  </a:tcPr>
                </a:tc>
                <a:tc>
                  <a:txBody>
                    <a:bodyPr/>
                    <a:lstStyle/>
                    <a:p>
                      <a:r>
                        <a:rPr lang="it-IT" sz="1000">
                          <a:latin typeface="Calibri "/>
                        </a:rPr>
                        <a:t>3011</a:t>
                      </a:r>
                    </a:p>
                  </a:txBody>
                  <a:tcPr anchor="ctr">
                    <a:solidFill>
                      <a:schemeClr val="tx2">
                        <a:lumMod val="40000"/>
                        <a:lumOff val="60000"/>
                      </a:schemeClr>
                    </a:solidFill>
                  </a:tcPr>
                </a:tc>
                <a:tc>
                  <a:txBody>
                    <a:bodyPr/>
                    <a:lstStyle/>
                    <a:p>
                      <a:r>
                        <a:rPr lang="it-IT" sz="1000">
                          <a:latin typeface="Calibri "/>
                        </a:rPr>
                        <a:t>3011</a:t>
                      </a:r>
                    </a:p>
                  </a:txBody>
                  <a:tcPr anchor="ctr">
                    <a:solidFill>
                      <a:schemeClr val="tx2">
                        <a:lumMod val="40000"/>
                        <a:lumOff val="60000"/>
                      </a:schemeClr>
                    </a:solidFill>
                  </a:tcPr>
                </a:tc>
                <a:extLst>
                  <a:ext uri="{0D108BD9-81ED-4DB2-BD59-A6C34878D82A}">
                    <a16:rowId xmlns:a16="http://schemas.microsoft.com/office/drawing/2014/main" val="2933510440"/>
                  </a:ext>
                </a:extLst>
              </a:tr>
              <a:tr h="264159">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a:solidFill>
                            <a:srgbClr val="374151"/>
                          </a:solidFill>
                          <a:latin typeface="Calibri "/>
                          <a:ea typeface="Calibri" pitchFamily="34" charset="-122"/>
                          <a:cs typeface="Calibri" pitchFamily="34" charset="-120"/>
                        </a:rPr>
                        <a:t>Execution time</a:t>
                      </a:r>
                      <a:endParaRPr lang="en-US" sz="900">
                        <a:latin typeface="Calibri "/>
                      </a:endParaRPr>
                    </a:p>
                  </a:txBody>
                  <a:tcPr anchor="ctr">
                    <a:solidFill>
                      <a:schemeClr val="tx2">
                        <a:lumMod val="20000"/>
                        <a:lumOff val="80000"/>
                      </a:schemeClr>
                    </a:solidFill>
                  </a:tcPr>
                </a:tc>
                <a:tc>
                  <a:txBody>
                    <a:bodyPr/>
                    <a:lstStyle/>
                    <a:p>
                      <a:r>
                        <a:rPr lang="it-IT" sz="1000">
                          <a:latin typeface="Calibri "/>
                        </a:rPr>
                        <a:t>96 ms</a:t>
                      </a:r>
                    </a:p>
                  </a:txBody>
                  <a:tcPr anchor="ctr">
                    <a:solidFill>
                      <a:schemeClr val="tx2">
                        <a:lumMod val="20000"/>
                        <a:lumOff val="80000"/>
                      </a:schemeClr>
                    </a:solidFill>
                  </a:tcPr>
                </a:tc>
                <a:tc>
                  <a:txBody>
                    <a:bodyPr/>
                    <a:lstStyle/>
                    <a:p>
                      <a:r>
                        <a:rPr lang="it-IT" sz="1000">
                          <a:latin typeface="Calibri "/>
                        </a:rPr>
                        <a:t>19 ms</a:t>
                      </a:r>
                    </a:p>
                  </a:txBody>
                  <a:tcPr anchor="ctr">
                    <a:solidFill>
                      <a:schemeClr val="tx2">
                        <a:lumMod val="20000"/>
                        <a:lumOff val="80000"/>
                      </a:schemeClr>
                    </a:solidFill>
                  </a:tcPr>
                </a:tc>
                <a:extLst>
                  <a:ext uri="{0D108BD9-81ED-4DB2-BD59-A6C34878D82A}">
                    <a16:rowId xmlns:a16="http://schemas.microsoft.com/office/drawing/2014/main" val="2927508766"/>
                  </a:ext>
                </a:extLst>
              </a:tr>
              <a:tr h="264159">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a:solidFill>
                            <a:srgbClr val="374151"/>
                          </a:solidFill>
                          <a:latin typeface="Calibri "/>
                          <a:ea typeface="Calibri" pitchFamily="34" charset="-122"/>
                          <a:cs typeface="Calibri" pitchFamily="34" charset="-120"/>
                        </a:rPr>
                        <a:t>Index keys examined</a:t>
                      </a:r>
                      <a:endParaRPr lang="en-US" sz="900">
                        <a:latin typeface="Calibri "/>
                      </a:endParaRPr>
                    </a:p>
                  </a:txBody>
                  <a:tcPr anchor="ctr">
                    <a:solidFill>
                      <a:schemeClr val="tx2">
                        <a:lumMod val="40000"/>
                        <a:lumOff val="60000"/>
                      </a:schemeClr>
                    </a:solidFill>
                  </a:tcPr>
                </a:tc>
                <a:tc>
                  <a:txBody>
                    <a:bodyPr/>
                    <a:lstStyle/>
                    <a:p>
                      <a:r>
                        <a:rPr lang="it-IT" sz="1000">
                          <a:latin typeface="Calibri "/>
                        </a:rPr>
                        <a:t>0</a:t>
                      </a:r>
                    </a:p>
                  </a:txBody>
                  <a:tcPr anchor="ctr">
                    <a:solidFill>
                      <a:schemeClr val="tx2">
                        <a:lumMod val="40000"/>
                        <a:lumOff val="60000"/>
                      </a:schemeClr>
                    </a:solidFill>
                  </a:tcPr>
                </a:tc>
                <a:tc>
                  <a:txBody>
                    <a:bodyPr/>
                    <a:lstStyle/>
                    <a:p>
                      <a:r>
                        <a:rPr lang="it-IT" sz="1000">
                          <a:latin typeface="Calibri "/>
                        </a:rPr>
                        <a:t>3011</a:t>
                      </a:r>
                    </a:p>
                  </a:txBody>
                  <a:tcPr anchor="ctr">
                    <a:solidFill>
                      <a:schemeClr val="tx2">
                        <a:lumMod val="40000"/>
                        <a:lumOff val="60000"/>
                      </a:schemeClr>
                    </a:solidFill>
                  </a:tcPr>
                </a:tc>
                <a:extLst>
                  <a:ext uri="{0D108BD9-81ED-4DB2-BD59-A6C34878D82A}">
                    <a16:rowId xmlns:a16="http://schemas.microsoft.com/office/drawing/2014/main" val="577423305"/>
                  </a:ext>
                </a:extLst>
              </a:tr>
              <a:tr h="264159">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a:solidFill>
                            <a:srgbClr val="374151"/>
                          </a:solidFill>
                          <a:latin typeface="Calibri "/>
                          <a:ea typeface="Calibri" pitchFamily="34" charset="-122"/>
                          <a:cs typeface="Calibri" pitchFamily="34" charset="-120"/>
                        </a:rPr>
                        <a:t>Documents examined</a:t>
                      </a:r>
                      <a:endParaRPr lang="en-US" sz="900">
                        <a:latin typeface="Calibri "/>
                      </a:endParaRPr>
                    </a:p>
                  </a:txBody>
                  <a:tcPr anchor="ctr">
                    <a:solidFill>
                      <a:schemeClr val="tx2">
                        <a:lumMod val="20000"/>
                        <a:lumOff val="80000"/>
                      </a:schemeClr>
                    </a:solidFill>
                  </a:tcPr>
                </a:tc>
                <a:tc>
                  <a:txBody>
                    <a:bodyPr/>
                    <a:lstStyle/>
                    <a:p>
                      <a:r>
                        <a:rPr lang="it-IT" sz="1000">
                          <a:latin typeface="Calibri "/>
                        </a:rPr>
                        <a:t>15,832</a:t>
                      </a:r>
                    </a:p>
                  </a:txBody>
                  <a:tcPr anchor="ctr">
                    <a:solidFill>
                      <a:schemeClr val="tx2">
                        <a:lumMod val="20000"/>
                        <a:lumOff val="80000"/>
                      </a:schemeClr>
                    </a:solidFill>
                  </a:tcPr>
                </a:tc>
                <a:tc>
                  <a:txBody>
                    <a:bodyPr/>
                    <a:lstStyle/>
                    <a:p>
                      <a:r>
                        <a:rPr lang="it-IT" sz="1000">
                          <a:latin typeface="Calibri "/>
                        </a:rPr>
                        <a:t>3011</a:t>
                      </a:r>
                    </a:p>
                  </a:txBody>
                  <a:tcPr anchor="ctr">
                    <a:solidFill>
                      <a:schemeClr val="tx2">
                        <a:lumMod val="20000"/>
                        <a:lumOff val="80000"/>
                      </a:schemeClr>
                    </a:solidFill>
                  </a:tcPr>
                </a:tc>
                <a:extLst>
                  <a:ext uri="{0D108BD9-81ED-4DB2-BD59-A6C34878D82A}">
                    <a16:rowId xmlns:a16="http://schemas.microsoft.com/office/drawing/2014/main" val="3732514528"/>
                  </a:ext>
                </a:extLst>
              </a:tr>
            </a:tbl>
          </a:graphicData>
        </a:graphic>
      </p:graphicFrame>
      <p:graphicFrame>
        <p:nvGraphicFramePr>
          <p:cNvPr id="6" name="Tabella 5">
            <a:extLst>
              <a:ext uri="{FF2B5EF4-FFF2-40B4-BE49-F238E27FC236}">
                <a16:creationId xmlns:a16="http://schemas.microsoft.com/office/drawing/2014/main" id="{911D79B5-154D-1F7C-1B61-2FD8B739FAE9}"/>
              </a:ext>
            </a:extLst>
          </p:cNvPr>
          <p:cNvGraphicFramePr>
            <a:graphicFrameLocks noGrp="1"/>
          </p:cNvGraphicFramePr>
          <p:nvPr>
            <p:extLst>
              <p:ext uri="{D42A27DB-BD31-4B8C-83A1-F6EECF244321}">
                <p14:modId xmlns:p14="http://schemas.microsoft.com/office/powerpoint/2010/main" val="3877100309"/>
              </p:ext>
            </p:extLst>
          </p:nvPr>
        </p:nvGraphicFramePr>
        <p:xfrm>
          <a:off x="4791317" y="1494560"/>
          <a:ext cx="3882504" cy="1396495"/>
        </p:xfrm>
        <a:graphic>
          <a:graphicData uri="http://schemas.openxmlformats.org/drawingml/2006/table">
            <a:tbl>
              <a:tblPr firstRow="1" bandRow="1">
                <a:tableStyleId>{5C22544A-7EE6-4342-B048-85BDC9FD1C3A}</a:tableStyleId>
              </a:tblPr>
              <a:tblGrid>
                <a:gridCol w="1294168">
                  <a:extLst>
                    <a:ext uri="{9D8B030D-6E8A-4147-A177-3AD203B41FA5}">
                      <a16:colId xmlns:a16="http://schemas.microsoft.com/office/drawing/2014/main" val="163053178"/>
                    </a:ext>
                  </a:extLst>
                </a:gridCol>
                <a:gridCol w="1294168">
                  <a:extLst>
                    <a:ext uri="{9D8B030D-6E8A-4147-A177-3AD203B41FA5}">
                      <a16:colId xmlns:a16="http://schemas.microsoft.com/office/drawing/2014/main" val="1770871105"/>
                    </a:ext>
                  </a:extLst>
                </a:gridCol>
                <a:gridCol w="1294168">
                  <a:extLst>
                    <a:ext uri="{9D8B030D-6E8A-4147-A177-3AD203B41FA5}">
                      <a16:colId xmlns:a16="http://schemas.microsoft.com/office/drawing/2014/main" val="1626729557"/>
                    </a:ext>
                  </a:extLst>
                </a:gridCol>
              </a:tblGrid>
              <a:tr h="279299">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100" b="1">
                          <a:solidFill>
                            <a:srgbClr val="FFFFFF"/>
                          </a:solidFill>
                          <a:latin typeface="Calibri" pitchFamily="34" charset="0"/>
                          <a:ea typeface="Calibri" pitchFamily="34" charset="-122"/>
                          <a:cs typeface="Calibri" pitchFamily="34" charset="-120"/>
                        </a:rPr>
                        <a:t>Metric</a:t>
                      </a:r>
                      <a:endParaRPr lang="en-US" sz="1100"/>
                    </a:p>
                  </a:txBody>
                  <a:tcPr>
                    <a:solidFill>
                      <a:schemeClr val="tx2"/>
                    </a:solidFill>
                  </a:tcPr>
                </a:tc>
                <a:tc>
                  <a:txBody>
                    <a:bodyPr/>
                    <a:lstStyle/>
                    <a:p>
                      <a:r>
                        <a:rPr lang="it-IT" sz="1100">
                          <a:latin typeface="Calibri "/>
                        </a:rPr>
                        <a:t>Without index</a:t>
                      </a:r>
                    </a:p>
                  </a:txBody>
                  <a:tcPr>
                    <a:solidFill>
                      <a:schemeClr val="tx2"/>
                    </a:solidFill>
                  </a:tcPr>
                </a:tc>
                <a:tc>
                  <a:txBody>
                    <a:bodyPr/>
                    <a:lstStyle/>
                    <a:p>
                      <a:r>
                        <a:rPr lang="it-IT" sz="1100">
                          <a:latin typeface="Calibri "/>
                        </a:rPr>
                        <a:t>With index</a:t>
                      </a:r>
                    </a:p>
                  </a:txBody>
                  <a:tcPr>
                    <a:solidFill>
                      <a:schemeClr val="tx2"/>
                    </a:solidFill>
                  </a:tcPr>
                </a:tc>
                <a:extLst>
                  <a:ext uri="{0D108BD9-81ED-4DB2-BD59-A6C34878D82A}">
                    <a16:rowId xmlns:a16="http://schemas.microsoft.com/office/drawing/2014/main" val="3822015512"/>
                  </a:ext>
                </a:extLst>
              </a:tr>
              <a:tr h="279299">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a:solidFill>
                            <a:srgbClr val="374151"/>
                          </a:solidFill>
                          <a:latin typeface="Calibri "/>
                          <a:ea typeface="Calibri" pitchFamily="34" charset="-122"/>
                          <a:cs typeface="Calibri" pitchFamily="34" charset="-120"/>
                        </a:rPr>
                        <a:t>Documents returned</a:t>
                      </a:r>
                      <a:endParaRPr lang="en-US" sz="900">
                        <a:latin typeface="Calibri "/>
                      </a:endParaRPr>
                    </a:p>
                  </a:txBody>
                  <a:tcPr anchor="ctr">
                    <a:solidFill>
                      <a:schemeClr val="tx2">
                        <a:lumMod val="40000"/>
                        <a:lumOff val="60000"/>
                      </a:schemeClr>
                    </a:solidFill>
                  </a:tcPr>
                </a:tc>
                <a:tc>
                  <a:txBody>
                    <a:bodyPr/>
                    <a:lstStyle/>
                    <a:p>
                      <a:r>
                        <a:rPr lang="it-IT" sz="1000">
                          <a:latin typeface="Calibri "/>
                        </a:rPr>
                        <a:t>5</a:t>
                      </a:r>
                    </a:p>
                  </a:txBody>
                  <a:tcPr anchor="ctr">
                    <a:solidFill>
                      <a:schemeClr val="tx2">
                        <a:lumMod val="40000"/>
                        <a:lumOff val="60000"/>
                      </a:schemeClr>
                    </a:solidFill>
                  </a:tcPr>
                </a:tc>
                <a:tc>
                  <a:txBody>
                    <a:bodyPr/>
                    <a:lstStyle/>
                    <a:p>
                      <a:r>
                        <a:rPr lang="it-IT" sz="1000">
                          <a:latin typeface="Calibri "/>
                        </a:rPr>
                        <a:t>5</a:t>
                      </a:r>
                    </a:p>
                  </a:txBody>
                  <a:tcPr anchor="ctr">
                    <a:solidFill>
                      <a:schemeClr val="tx2">
                        <a:lumMod val="40000"/>
                        <a:lumOff val="60000"/>
                      </a:schemeClr>
                    </a:solidFill>
                  </a:tcPr>
                </a:tc>
                <a:extLst>
                  <a:ext uri="{0D108BD9-81ED-4DB2-BD59-A6C34878D82A}">
                    <a16:rowId xmlns:a16="http://schemas.microsoft.com/office/drawing/2014/main" val="2933510440"/>
                  </a:ext>
                </a:extLst>
              </a:tr>
              <a:tr h="279299">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a:solidFill>
                            <a:srgbClr val="374151"/>
                          </a:solidFill>
                          <a:latin typeface="Calibri "/>
                          <a:ea typeface="Calibri" pitchFamily="34" charset="-122"/>
                          <a:cs typeface="Calibri" pitchFamily="34" charset="-120"/>
                        </a:rPr>
                        <a:t>Execution time</a:t>
                      </a:r>
                      <a:endParaRPr lang="en-US" sz="900">
                        <a:latin typeface="Calibri "/>
                      </a:endParaRPr>
                    </a:p>
                  </a:txBody>
                  <a:tcPr anchor="ctr">
                    <a:solidFill>
                      <a:schemeClr val="tx2">
                        <a:lumMod val="20000"/>
                        <a:lumOff val="80000"/>
                      </a:schemeClr>
                    </a:solidFill>
                  </a:tcPr>
                </a:tc>
                <a:tc>
                  <a:txBody>
                    <a:bodyPr/>
                    <a:lstStyle/>
                    <a:p>
                      <a:r>
                        <a:rPr lang="it-IT" sz="1000">
                          <a:latin typeface="Calibri "/>
                        </a:rPr>
                        <a:t>73 ms</a:t>
                      </a:r>
                    </a:p>
                  </a:txBody>
                  <a:tcPr anchor="ctr">
                    <a:solidFill>
                      <a:schemeClr val="tx2">
                        <a:lumMod val="20000"/>
                        <a:lumOff val="80000"/>
                      </a:schemeClr>
                    </a:solidFill>
                  </a:tcPr>
                </a:tc>
                <a:tc>
                  <a:txBody>
                    <a:bodyPr/>
                    <a:lstStyle/>
                    <a:p>
                      <a:r>
                        <a:rPr lang="it-IT" sz="1000">
                          <a:latin typeface="Calibri "/>
                        </a:rPr>
                        <a:t>2 ms</a:t>
                      </a:r>
                    </a:p>
                  </a:txBody>
                  <a:tcPr anchor="ctr">
                    <a:solidFill>
                      <a:schemeClr val="tx2">
                        <a:lumMod val="20000"/>
                        <a:lumOff val="80000"/>
                      </a:schemeClr>
                    </a:solidFill>
                  </a:tcPr>
                </a:tc>
                <a:extLst>
                  <a:ext uri="{0D108BD9-81ED-4DB2-BD59-A6C34878D82A}">
                    <a16:rowId xmlns:a16="http://schemas.microsoft.com/office/drawing/2014/main" val="2927508766"/>
                  </a:ext>
                </a:extLst>
              </a:tr>
              <a:tr h="279299">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a:solidFill>
                            <a:srgbClr val="374151"/>
                          </a:solidFill>
                          <a:latin typeface="Calibri "/>
                          <a:ea typeface="Calibri" pitchFamily="34" charset="-122"/>
                          <a:cs typeface="Calibri" pitchFamily="34" charset="-120"/>
                        </a:rPr>
                        <a:t>Index keys examined</a:t>
                      </a:r>
                      <a:endParaRPr lang="en-US" sz="900">
                        <a:latin typeface="Calibri "/>
                      </a:endParaRPr>
                    </a:p>
                  </a:txBody>
                  <a:tcPr anchor="ctr">
                    <a:solidFill>
                      <a:schemeClr val="tx2">
                        <a:lumMod val="40000"/>
                        <a:lumOff val="60000"/>
                      </a:schemeClr>
                    </a:solidFill>
                  </a:tcPr>
                </a:tc>
                <a:tc>
                  <a:txBody>
                    <a:bodyPr/>
                    <a:lstStyle/>
                    <a:p>
                      <a:r>
                        <a:rPr lang="it-IT" sz="1000">
                          <a:latin typeface="Calibri "/>
                        </a:rPr>
                        <a:t>0</a:t>
                      </a:r>
                    </a:p>
                  </a:txBody>
                  <a:tcPr anchor="ctr">
                    <a:solidFill>
                      <a:schemeClr val="tx2">
                        <a:lumMod val="40000"/>
                        <a:lumOff val="60000"/>
                      </a:schemeClr>
                    </a:solidFill>
                  </a:tcPr>
                </a:tc>
                <a:tc>
                  <a:txBody>
                    <a:bodyPr/>
                    <a:lstStyle/>
                    <a:p>
                      <a:r>
                        <a:rPr lang="it-IT" sz="1000">
                          <a:latin typeface="Calibri "/>
                        </a:rPr>
                        <a:t>5</a:t>
                      </a:r>
                    </a:p>
                  </a:txBody>
                  <a:tcPr anchor="ctr">
                    <a:solidFill>
                      <a:schemeClr val="tx2">
                        <a:lumMod val="40000"/>
                        <a:lumOff val="60000"/>
                      </a:schemeClr>
                    </a:solidFill>
                  </a:tcPr>
                </a:tc>
                <a:extLst>
                  <a:ext uri="{0D108BD9-81ED-4DB2-BD59-A6C34878D82A}">
                    <a16:rowId xmlns:a16="http://schemas.microsoft.com/office/drawing/2014/main" val="577423305"/>
                  </a:ext>
                </a:extLst>
              </a:tr>
              <a:tr h="279299">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a:solidFill>
                            <a:srgbClr val="374151"/>
                          </a:solidFill>
                          <a:latin typeface="Calibri "/>
                          <a:ea typeface="Calibri" pitchFamily="34" charset="-122"/>
                          <a:cs typeface="Calibri" pitchFamily="34" charset="-120"/>
                        </a:rPr>
                        <a:t>Documents examined</a:t>
                      </a:r>
                      <a:endParaRPr lang="en-US" sz="900">
                        <a:latin typeface="Calibri "/>
                      </a:endParaRPr>
                    </a:p>
                  </a:txBody>
                  <a:tcPr anchor="ctr">
                    <a:solidFill>
                      <a:schemeClr val="tx2">
                        <a:lumMod val="20000"/>
                        <a:lumOff val="80000"/>
                      </a:schemeClr>
                    </a:solidFill>
                  </a:tcPr>
                </a:tc>
                <a:tc>
                  <a:txBody>
                    <a:bodyPr/>
                    <a:lstStyle/>
                    <a:p>
                      <a:r>
                        <a:rPr lang="it-IT" sz="1000">
                          <a:latin typeface="Calibri "/>
                        </a:rPr>
                        <a:t>15,832</a:t>
                      </a:r>
                    </a:p>
                  </a:txBody>
                  <a:tcPr anchor="ctr">
                    <a:solidFill>
                      <a:schemeClr val="tx2">
                        <a:lumMod val="20000"/>
                        <a:lumOff val="80000"/>
                      </a:schemeClr>
                    </a:solidFill>
                  </a:tcPr>
                </a:tc>
                <a:tc>
                  <a:txBody>
                    <a:bodyPr/>
                    <a:lstStyle/>
                    <a:p>
                      <a:r>
                        <a:rPr lang="it-IT" sz="1000">
                          <a:latin typeface="Calibri "/>
                        </a:rPr>
                        <a:t>5</a:t>
                      </a:r>
                    </a:p>
                  </a:txBody>
                  <a:tcPr anchor="ctr">
                    <a:solidFill>
                      <a:schemeClr val="tx2">
                        <a:lumMod val="20000"/>
                        <a:lumOff val="80000"/>
                      </a:schemeClr>
                    </a:solidFill>
                  </a:tcPr>
                </a:tc>
                <a:extLst>
                  <a:ext uri="{0D108BD9-81ED-4DB2-BD59-A6C34878D82A}">
                    <a16:rowId xmlns:a16="http://schemas.microsoft.com/office/drawing/2014/main" val="3732514528"/>
                  </a:ext>
                </a:extLst>
              </a:tr>
            </a:tbl>
          </a:graphicData>
        </a:graphic>
      </p:graphicFrame>
      <p:sp>
        <p:nvSpPr>
          <p:cNvPr id="4" name="CasellaDiTesto 3">
            <a:extLst>
              <a:ext uri="{FF2B5EF4-FFF2-40B4-BE49-F238E27FC236}">
                <a16:creationId xmlns:a16="http://schemas.microsoft.com/office/drawing/2014/main" id="{3BC8046D-8AD9-9F1B-3807-99361B9E0290}"/>
              </a:ext>
            </a:extLst>
          </p:cNvPr>
          <p:cNvSpPr txBox="1"/>
          <p:nvPr/>
        </p:nvSpPr>
        <p:spPr>
          <a:xfrm>
            <a:off x="312966" y="1973899"/>
            <a:ext cx="4322839" cy="830997"/>
          </a:xfrm>
          <a:prstGeom prst="rect">
            <a:avLst/>
          </a:prstGeom>
          <a:noFill/>
        </p:spPr>
        <p:txBody>
          <a:bodyPr wrap="square" rtlCol="0">
            <a:spAutoFit/>
          </a:bodyPr>
          <a:lstStyle/>
          <a:p>
            <a:pPr algn="just"/>
            <a:r>
              <a:rPr lang="en-GB" sz="1600" dirty="0"/>
              <a:t>Descending index on the </a:t>
            </a:r>
            <a:r>
              <a:rPr lang="en-GB" sz="1600" dirty="0" err="1"/>
              <a:t>creation_date</a:t>
            </a:r>
            <a:r>
              <a:rPr lang="en-GB" sz="1600" dirty="0"/>
              <a:t> field was added to drastically optimize</a:t>
            </a:r>
            <a:r>
              <a:rPr lang="en-GB" sz="1600"/>
              <a:t> </a:t>
            </a:r>
            <a:r>
              <a:rPr lang="en-GB" sz="1600" dirty="0"/>
              <a:t>the retrieval of the newest recipes</a:t>
            </a:r>
            <a:endParaRPr lang="en-GB" sz="1600"/>
          </a:p>
        </p:txBody>
      </p:sp>
    </p:spTree>
    <p:extLst>
      <p:ext uri="{BB962C8B-B14F-4D97-AF65-F5344CB8AC3E}">
        <p14:creationId xmlns:p14="http://schemas.microsoft.com/office/powerpoint/2010/main" val="12578573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052C8-7546-2CD3-35B2-0D9E1D8F631A}"/>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F0F7CF3-C373-6CD2-DF09-99E2485CEB11}"/>
              </a:ext>
            </a:extLst>
          </p:cNvPr>
          <p:cNvSpPr>
            <a:spLocks noGrp="1"/>
          </p:cNvSpPr>
          <p:nvPr>
            <p:ph type="title"/>
          </p:nvPr>
        </p:nvSpPr>
        <p:spPr>
          <a:xfrm>
            <a:off x="181440" y="41572"/>
            <a:ext cx="8761797" cy="1143000"/>
          </a:xfrm>
        </p:spPr>
        <p:txBody>
          <a:bodyPr>
            <a:normAutofit/>
          </a:bodyPr>
          <a:lstStyle/>
          <a:p>
            <a:r>
              <a:rPr lang="en-US"/>
              <a:t>MongoDB Indexes</a:t>
            </a:r>
          </a:p>
        </p:txBody>
      </p:sp>
      <p:sp>
        <p:nvSpPr>
          <p:cNvPr id="6" name="CasellaDiTesto 5">
            <a:extLst>
              <a:ext uri="{FF2B5EF4-FFF2-40B4-BE49-F238E27FC236}">
                <a16:creationId xmlns:a16="http://schemas.microsoft.com/office/drawing/2014/main" id="{88EBDFD0-8B4E-848A-E320-93CA15FDF408}"/>
              </a:ext>
            </a:extLst>
          </p:cNvPr>
          <p:cNvSpPr txBox="1"/>
          <p:nvPr/>
        </p:nvSpPr>
        <p:spPr>
          <a:xfrm>
            <a:off x="2286000" y="1011103"/>
            <a:ext cx="4572000" cy="400110"/>
          </a:xfrm>
          <a:prstGeom prst="rect">
            <a:avLst/>
          </a:prstGeom>
          <a:noFill/>
        </p:spPr>
        <p:txBody>
          <a:bodyPr wrap="square">
            <a:spAutoFit/>
          </a:bodyPr>
          <a:lstStyle/>
          <a:p>
            <a:pPr algn="ctr"/>
            <a:r>
              <a:rPr lang="it-IT" sz="2000" b="1" i="1" u="sng"/>
              <a:t>Chefs Collection</a:t>
            </a:r>
          </a:p>
        </p:txBody>
      </p:sp>
      <p:sp>
        <p:nvSpPr>
          <p:cNvPr id="8" name="CasellaDiTesto 7">
            <a:extLst>
              <a:ext uri="{FF2B5EF4-FFF2-40B4-BE49-F238E27FC236}">
                <a16:creationId xmlns:a16="http://schemas.microsoft.com/office/drawing/2014/main" id="{D9D3BB6C-3590-581F-E21F-12AA411C67E2}"/>
              </a:ext>
            </a:extLst>
          </p:cNvPr>
          <p:cNvSpPr txBox="1"/>
          <p:nvPr/>
        </p:nvSpPr>
        <p:spPr>
          <a:xfrm>
            <a:off x="2286000" y="4356589"/>
            <a:ext cx="4572000" cy="400110"/>
          </a:xfrm>
          <a:prstGeom prst="rect">
            <a:avLst/>
          </a:prstGeom>
          <a:noFill/>
        </p:spPr>
        <p:txBody>
          <a:bodyPr wrap="square">
            <a:spAutoFit/>
          </a:bodyPr>
          <a:lstStyle/>
          <a:p>
            <a:pPr algn="ctr"/>
            <a:r>
              <a:rPr lang="it-IT" sz="2000" b="1" i="1" u="sng"/>
              <a:t>Foodies Collection</a:t>
            </a:r>
          </a:p>
        </p:txBody>
      </p:sp>
      <p:sp>
        <p:nvSpPr>
          <p:cNvPr id="10" name="CasellaDiTesto 9">
            <a:extLst>
              <a:ext uri="{FF2B5EF4-FFF2-40B4-BE49-F238E27FC236}">
                <a16:creationId xmlns:a16="http://schemas.microsoft.com/office/drawing/2014/main" id="{A4E45684-80F0-DC66-C69E-C55F030C472D}"/>
              </a:ext>
            </a:extLst>
          </p:cNvPr>
          <p:cNvSpPr txBox="1"/>
          <p:nvPr/>
        </p:nvSpPr>
        <p:spPr>
          <a:xfrm>
            <a:off x="312391" y="1726347"/>
            <a:ext cx="4193431" cy="369332"/>
          </a:xfrm>
          <a:prstGeom prst="rect">
            <a:avLst/>
          </a:prstGeom>
          <a:noFill/>
        </p:spPr>
        <p:txBody>
          <a:bodyPr wrap="square">
            <a:spAutoFit/>
          </a:bodyPr>
          <a:lstStyle/>
          <a:p>
            <a:pPr marL="0" indent="0">
              <a:buNone/>
            </a:pPr>
            <a:r>
              <a:rPr lang="en-US" b="1" dirty="0">
                <a:solidFill>
                  <a:schemeClr val="tx2"/>
                </a:solidFill>
                <a:latin typeface="Courier New" pitchFamily="34" charset="0"/>
                <a:ea typeface="Courier New" pitchFamily="34" charset="-122"/>
                <a:cs typeface="Courier New" pitchFamily="34" charset="-120"/>
              </a:rPr>
              <a:t>username</a:t>
            </a:r>
            <a:r>
              <a:rPr lang="en-US" b="1">
                <a:solidFill>
                  <a:schemeClr val="tx2"/>
                </a:solidFill>
                <a:latin typeface="Calibri" pitchFamily="34" charset="0"/>
                <a:ea typeface="Calibri" pitchFamily="34" charset="-122"/>
                <a:cs typeface="Calibri" pitchFamily="34" charset="-120"/>
              </a:rPr>
              <a:t> (Unique Index)</a:t>
            </a:r>
            <a:endParaRPr lang="en-US">
              <a:solidFill>
                <a:schemeClr val="tx2"/>
              </a:solidFill>
            </a:endParaRPr>
          </a:p>
        </p:txBody>
      </p:sp>
      <p:sp>
        <p:nvSpPr>
          <p:cNvPr id="12" name="CasellaDiTesto 11">
            <a:extLst>
              <a:ext uri="{FF2B5EF4-FFF2-40B4-BE49-F238E27FC236}">
                <a16:creationId xmlns:a16="http://schemas.microsoft.com/office/drawing/2014/main" id="{B6984C30-D8B3-B087-051C-E2751E404E1E}"/>
              </a:ext>
            </a:extLst>
          </p:cNvPr>
          <p:cNvSpPr txBox="1"/>
          <p:nvPr/>
        </p:nvSpPr>
        <p:spPr>
          <a:xfrm>
            <a:off x="279511" y="2072064"/>
            <a:ext cx="4358669" cy="584775"/>
          </a:xfrm>
          <a:prstGeom prst="rect">
            <a:avLst/>
          </a:prstGeom>
          <a:noFill/>
        </p:spPr>
        <p:txBody>
          <a:bodyPr wrap="square">
            <a:spAutoFit/>
          </a:bodyPr>
          <a:lstStyle/>
          <a:p>
            <a:pPr marL="0" indent="0">
              <a:buNone/>
            </a:pPr>
            <a:r>
              <a:rPr lang="en-US" sz="1600">
                <a:latin typeface="Calibri" pitchFamily="34" charset="0"/>
                <a:ea typeface="Calibri" pitchFamily="34" charset="-122"/>
                <a:cs typeface="Calibri" pitchFamily="34" charset="-120"/>
              </a:rPr>
              <a:t>Optimizes login, registration and profile retrieval and </a:t>
            </a:r>
            <a:r>
              <a:rPr lang="en-US" sz="1600" err="1">
                <a:latin typeface="Calibri" pitchFamily="34" charset="0"/>
                <a:ea typeface="Calibri" pitchFamily="34" charset="-122"/>
                <a:cs typeface="Calibri" pitchFamily="34" charset="-120"/>
              </a:rPr>
              <a:t>garantees</a:t>
            </a:r>
            <a:r>
              <a:rPr lang="en-US" sz="1600">
                <a:latin typeface="Calibri" pitchFamily="34" charset="0"/>
                <a:ea typeface="Calibri" pitchFamily="34" charset="-122"/>
                <a:cs typeface="Calibri" pitchFamily="34" charset="-120"/>
              </a:rPr>
              <a:t> the uniqueness of the usernames.</a:t>
            </a:r>
            <a:endParaRPr lang="en-US" sz="1600"/>
          </a:p>
        </p:txBody>
      </p:sp>
      <p:sp>
        <p:nvSpPr>
          <p:cNvPr id="38" name="CasellaDiTesto 37">
            <a:extLst>
              <a:ext uri="{FF2B5EF4-FFF2-40B4-BE49-F238E27FC236}">
                <a16:creationId xmlns:a16="http://schemas.microsoft.com/office/drawing/2014/main" id="{F820619E-C870-F070-967A-8BE56DB6BD17}"/>
              </a:ext>
            </a:extLst>
          </p:cNvPr>
          <p:cNvSpPr txBox="1"/>
          <p:nvPr/>
        </p:nvSpPr>
        <p:spPr>
          <a:xfrm>
            <a:off x="210425" y="2828770"/>
            <a:ext cx="4572000" cy="369332"/>
          </a:xfrm>
          <a:prstGeom prst="rect">
            <a:avLst/>
          </a:prstGeom>
          <a:noFill/>
        </p:spPr>
        <p:txBody>
          <a:bodyPr wrap="square">
            <a:spAutoFit/>
          </a:bodyPr>
          <a:lstStyle/>
          <a:p>
            <a:pPr marL="0" indent="0">
              <a:buNone/>
            </a:pPr>
            <a:r>
              <a:rPr lang="en-US" b="1" dirty="0">
                <a:solidFill>
                  <a:srgbClr val="FF0000"/>
                </a:solidFill>
                <a:latin typeface="Courier New" pitchFamily="34" charset="0"/>
                <a:ea typeface="Courier New" pitchFamily="34" charset="-122"/>
                <a:cs typeface="Courier New" pitchFamily="34" charset="-120"/>
              </a:rPr>
              <a:t>surname</a:t>
            </a:r>
            <a:r>
              <a:rPr lang="en-US" b="1">
                <a:solidFill>
                  <a:srgbClr val="FF0000"/>
                </a:solidFill>
                <a:latin typeface="Calibri" pitchFamily="34" charset="0"/>
                <a:ea typeface="Calibri" pitchFamily="34" charset="-122"/>
                <a:cs typeface="Calibri" pitchFamily="34" charset="-120"/>
              </a:rPr>
              <a:t> (Standard Index)  </a:t>
            </a:r>
            <a:r>
              <a:rPr lang="en-US" b="1" dirty="0">
                <a:solidFill>
                  <a:srgbClr val="1F2937"/>
                </a:solidFill>
                <a:latin typeface="Calibri" pitchFamily="34" charset="0"/>
                <a:ea typeface="Calibri" pitchFamily="34" charset="-122"/>
                <a:cs typeface="Calibri" pitchFamily="34" charset="-120"/>
              </a:rPr>
              <a:t>✗ Not retained</a:t>
            </a:r>
            <a:endParaRPr lang="en-US" dirty="0"/>
          </a:p>
        </p:txBody>
      </p:sp>
      <p:sp>
        <p:nvSpPr>
          <p:cNvPr id="40" name="CasellaDiTesto 39">
            <a:extLst>
              <a:ext uri="{FF2B5EF4-FFF2-40B4-BE49-F238E27FC236}">
                <a16:creationId xmlns:a16="http://schemas.microsoft.com/office/drawing/2014/main" id="{E792816D-F40A-9442-F6C8-2C47F65165A0}"/>
              </a:ext>
            </a:extLst>
          </p:cNvPr>
          <p:cNvSpPr txBox="1"/>
          <p:nvPr/>
        </p:nvSpPr>
        <p:spPr>
          <a:xfrm>
            <a:off x="200764" y="3159681"/>
            <a:ext cx="4371236" cy="1077218"/>
          </a:xfrm>
          <a:prstGeom prst="rect">
            <a:avLst/>
          </a:prstGeom>
          <a:noFill/>
        </p:spPr>
        <p:txBody>
          <a:bodyPr wrap="square">
            <a:spAutoFit/>
          </a:bodyPr>
          <a:lstStyle/>
          <a:p>
            <a:pPr marL="0" indent="0" algn="just">
              <a:buNone/>
            </a:pPr>
            <a:r>
              <a:rPr lang="en-US" sz="1600" dirty="0">
                <a:latin typeface="Calibri" pitchFamily="34" charset="0"/>
                <a:ea typeface="Calibri" pitchFamily="34" charset="-122"/>
                <a:cs typeface="Calibri" pitchFamily="34" charset="-120"/>
              </a:rPr>
              <a:t>Evaluated for improving surname-based chef search. Considered not strictly necessary in the current version, it could become relevant as the collection grows.</a:t>
            </a:r>
            <a:endParaRPr lang="en-US" sz="1600" dirty="0"/>
          </a:p>
        </p:txBody>
      </p:sp>
      <p:sp>
        <p:nvSpPr>
          <p:cNvPr id="42" name="CasellaDiTesto 41">
            <a:extLst>
              <a:ext uri="{FF2B5EF4-FFF2-40B4-BE49-F238E27FC236}">
                <a16:creationId xmlns:a16="http://schemas.microsoft.com/office/drawing/2014/main" id="{3E1BD5B7-D443-76DE-37E2-0A82E1DA322F}"/>
              </a:ext>
            </a:extLst>
          </p:cNvPr>
          <p:cNvSpPr txBox="1"/>
          <p:nvPr/>
        </p:nvSpPr>
        <p:spPr>
          <a:xfrm>
            <a:off x="338271" y="4798059"/>
            <a:ext cx="4572000" cy="369332"/>
          </a:xfrm>
          <a:prstGeom prst="rect">
            <a:avLst/>
          </a:prstGeom>
          <a:noFill/>
        </p:spPr>
        <p:txBody>
          <a:bodyPr wrap="square">
            <a:spAutoFit/>
          </a:bodyPr>
          <a:lstStyle/>
          <a:p>
            <a:pPr marL="0" indent="0">
              <a:buNone/>
            </a:pPr>
            <a:r>
              <a:rPr lang="en-US" b="1" dirty="0">
                <a:solidFill>
                  <a:schemeClr val="tx2"/>
                </a:solidFill>
                <a:latin typeface="Courier New" pitchFamily="34" charset="0"/>
                <a:ea typeface="Courier New" pitchFamily="34" charset="-122"/>
                <a:cs typeface="Courier New" pitchFamily="34" charset="-120"/>
              </a:rPr>
              <a:t>username</a:t>
            </a:r>
            <a:r>
              <a:rPr lang="en-US" b="1" dirty="0">
                <a:solidFill>
                  <a:schemeClr val="tx2"/>
                </a:solidFill>
                <a:latin typeface="Calibri" pitchFamily="34" charset="0"/>
                <a:ea typeface="Calibri" pitchFamily="34" charset="-122"/>
                <a:cs typeface="Calibri" pitchFamily="34" charset="-120"/>
              </a:rPr>
              <a:t> (Unique Index)</a:t>
            </a:r>
            <a:endParaRPr lang="en-US" dirty="0">
              <a:solidFill>
                <a:schemeClr val="tx2"/>
              </a:solidFill>
            </a:endParaRPr>
          </a:p>
        </p:txBody>
      </p:sp>
      <p:sp>
        <p:nvSpPr>
          <p:cNvPr id="44" name="CasellaDiTesto 43">
            <a:extLst>
              <a:ext uri="{FF2B5EF4-FFF2-40B4-BE49-F238E27FC236}">
                <a16:creationId xmlns:a16="http://schemas.microsoft.com/office/drawing/2014/main" id="{F8427D83-705F-2FC3-F096-FB88EA28DE0D}"/>
              </a:ext>
            </a:extLst>
          </p:cNvPr>
          <p:cNvSpPr txBox="1"/>
          <p:nvPr/>
        </p:nvSpPr>
        <p:spPr>
          <a:xfrm>
            <a:off x="338271" y="5089552"/>
            <a:ext cx="8448136" cy="830997"/>
          </a:xfrm>
          <a:prstGeom prst="rect">
            <a:avLst/>
          </a:prstGeom>
          <a:noFill/>
        </p:spPr>
        <p:txBody>
          <a:bodyPr wrap="square">
            <a:spAutoFit/>
          </a:bodyPr>
          <a:lstStyle/>
          <a:p>
            <a:pPr marL="0" indent="0">
              <a:buNone/>
            </a:pPr>
            <a:r>
              <a:rPr lang="en-US" sz="1600">
                <a:latin typeface="Calibri" pitchFamily="34" charset="0"/>
                <a:ea typeface="Calibri" pitchFamily="34" charset="-122"/>
                <a:cs typeface="Calibri" pitchFamily="34" charset="-120"/>
              </a:rPr>
              <a:t>Introduced for data integrity during registration. </a:t>
            </a:r>
          </a:p>
          <a:p>
            <a:pPr marL="285750" indent="-285750">
              <a:buFont typeface="Arial" panose="020B0604020202020204" pitchFamily="34" charset="0"/>
              <a:buChar char="•"/>
            </a:pPr>
            <a:r>
              <a:rPr lang="en-US" sz="1600">
                <a:latin typeface="Calibri" pitchFamily="34" charset="0"/>
                <a:ea typeface="Calibri" pitchFamily="34" charset="-122"/>
                <a:cs typeface="Calibri" pitchFamily="34" charset="-120"/>
              </a:rPr>
              <a:t>Ensures no two foodies can register with the same username. </a:t>
            </a:r>
          </a:p>
          <a:p>
            <a:pPr marL="285750" indent="-285750">
              <a:buFont typeface="Arial" panose="020B0604020202020204" pitchFamily="34" charset="0"/>
              <a:buChar char="•"/>
            </a:pPr>
            <a:r>
              <a:rPr lang="en-US" sz="1600">
                <a:latin typeface="Calibri" pitchFamily="34" charset="0"/>
                <a:ea typeface="Calibri" pitchFamily="34" charset="-122"/>
                <a:cs typeface="Calibri" pitchFamily="34" charset="-120"/>
              </a:rPr>
              <a:t>Useful for the most frequent operations such as login</a:t>
            </a:r>
            <a:endParaRPr lang="en-US" sz="1600"/>
          </a:p>
        </p:txBody>
      </p:sp>
      <p:graphicFrame>
        <p:nvGraphicFramePr>
          <p:cNvPr id="4" name="Tabella 3">
            <a:extLst>
              <a:ext uri="{FF2B5EF4-FFF2-40B4-BE49-F238E27FC236}">
                <a16:creationId xmlns:a16="http://schemas.microsoft.com/office/drawing/2014/main" id="{45980CA8-F306-C145-EE6E-478F8D581062}"/>
              </a:ext>
            </a:extLst>
          </p:cNvPr>
          <p:cNvGraphicFramePr>
            <a:graphicFrameLocks noGrp="1"/>
          </p:cNvGraphicFramePr>
          <p:nvPr>
            <p:extLst>
              <p:ext uri="{D42A27DB-BD31-4B8C-83A1-F6EECF244321}">
                <p14:modId xmlns:p14="http://schemas.microsoft.com/office/powerpoint/2010/main" val="2875389614"/>
              </p:ext>
            </p:extLst>
          </p:nvPr>
        </p:nvGraphicFramePr>
        <p:xfrm>
          <a:off x="4792086" y="2154103"/>
          <a:ext cx="4115364" cy="1564690"/>
        </p:xfrm>
        <a:graphic>
          <a:graphicData uri="http://schemas.openxmlformats.org/drawingml/2006/table">
            <a:tbl>
              <a:tblPr firstRow="1" bandRow="1">
                <a:tableStyleId>{5C22544A-7EE6-4342-B048-85BDC9FD1C3A}</a:tableStyleId>
              </a:tblPr>
              <a:tblGrid>
                <a:gridCol w="1371788">
                  <a:extLst>
                    <a:ext uri="{9D8B030D-6E8A-4147-A177-3AD203B41FA5}">
                      <a16:colId xmlns:a16="http://schemas.microsoft.com/office/drawing/2014/main" val="163053178"/>
                    </a:ext>
                  </a:extLst>
                </a:gridCol>
                <a:gridCol w="1371788">
                  <a:extLst>
                    <a:ext uri="{9D8B030D-6E8A-4147-A177-3AD203B41FA5}">
                      <a16:colId xmlns:a16="http://schemas.microsoft.com/office/drawing/2014/main" val="1770871105"/>
                    </a:ext>
                  </a:extLst>
                </a:gridCol>
                <a:gridCol w="1371788">
                  <a:extLst>
                    <a:ext uri="{9D8B030D-6E8A-4147-A177-3AD203B41FA5}">
                      <a16:colId xmlns:a16="http://schemas.microsoft.com/office/drawing/2014/main" val="1626729557"/>
                    </a:ext>
                  </a:extLst>
                </a:gridCol>
              </a:tblGrid>
              <a:tr h="31293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100" b="1">
                          <a:solidFill>
                            <a:srgbClr val="FFFFFF"/>
                          </a:solidFill>
                          <a:latin typeface="Calibri" pitchFamily="34" charset="0"/>
                          <a:ea typeface="Calibri" pitchFamily="34" charset="-122"/>
                          <a:cs typeface="Calibri" pitchFamily="34" charset="-120"/>
                        </a:rPr>
                        <a:t>Metric</a:t>
                      </a:r>
                      <a:endParaRPr lang="en-US" sz="1100"/>
                    </a:p>
                  </a:txBody>
                  <a:tcPr anchor="ctr">
                    <a:solidFill>
                      <a:schemeClr val="tx2"/>
                    </a:solidFill>
                  </a:tcPr>
                </a:tc>
                <a:tc>
                  <a:txBody>
                    <a:bodyPr/>
                    <a:lstStyle/>
                    <a:p>
                      <a:r>
                        <a:rPr lang="it-IT" sz="1100">
                          <a:latin typeface="Calibri "/>
                        </a:rPr>
                        <a:t>Without index</a:t>
                      </a:r>
                    </a:p>
                  </a:txBody>
                  <a:tcPr anchor="ctr">
                    <a:solidFill>
                      <a:schemeClr val="tx2"/>
                    </a:solidFill>
                  </a:tcPr>
                </a:tc>
                <a:tc>
                  <a:txBody>
                    <a:bodyPr/>
                    <a:lstStyle/>
                    <a:p>
                      <a:r>
                        <a:rPr lang="it-IT" sz="1100">
                          <a:latin typeface="Calibri "/>
                        </a:rPr>
                        <a:t>With index</a:t>
                      </a:r>
                    </a:p>
                  </a:txBody>
                  <a:tcPr anchor="ctr">
                    <a:solidFill>
                      <a:schemeClr val="tx2"/>
                    </a:solidFill>
                  </a:tcPr>
                </a:tc>
                <a:extLst>
                  <a:ext uri="{0D108BD9-81ED-4DB2-BD59-A6C34878D82A}">
                    <a16:rowId xmlns:a16="http://schemas.microsoft.com/office/drawing/2014/main" val="3822015512"/>
                  </a:ext>
                </a:extLst>
              </a:tr>
              <a:tr h="31293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a:solidFill>
                            <a:srgbClr val="374151"/>
                          </a:solidFill>
                          <a:latin typeface="Calibri "/>
                          <a:ea typeface="Calibri" pitchFamily="34" charset="-122"/>
                          <a:cs typeface="Calibri" pitchFamily="34" charset="-120"/>
                        </a:rPr>
                        <a:t>Documents returned</a:t>
                      </a:r>
                      <a:endParaRPr lang="en-US" sz="900">
                        <a:latin typeface="Calibri "/>
                      </a:endParaRPr>
                    </a:p>
                  </a:txBody>
                  <a:tcPr anchor="ctr">
                    <a:solidFill>
                      <a:schemeClr val="tx2">
                        <a:lumMod val="40000"/>
                        <a:lumOff val="60000"/>
                      </a:schemeClr>
                    </a:solidFill>
                  </a:tcPr>
                </a:tc>
                <a:tc>
                  <a:txBody>
                    <a:bodyPr/>
                    <a:lstStyle/>
                    <a:p>
                      <a:r>
                        <a:rPr lang="it-IT" sz="1000">
                          <a:latin typeface="Calibri "/>
                        </a:rPr>
                        <a:t>1</a:t>
                      </a:r>
                    </a:p>
                  </a:txBody>
                  <a:tcPr anchor="ctr">
                    <a:solidFill>
                      <a:schemeClr val="tx2">
                        <a:lumMod val="40000"/>
                        <a:lumOff val="60000"/>
                      </a:schemeClr>
                    </a:solidFill>
                  </a:tcPr>
                </a:tc>
                <a:tc>
                  <a:txBody>
                    <a:bodyPr/>
                    <a:lstStyle/>
                    <a:p>
                      <a:r>
                        <a:rPr lang="it-IT" sz="1000">
                          <a:latin typeface="Calibri "/>
                        </a:rPr>
                        <a:t>1</a:t>
                      </a:r>
                    </a:p>
                  </a:txBody>
                  <a:tcPr anchor="ctr">
                    <a:solidFill>
                      <a:schemeClr val="tx2">
                        <a:lumMod val="40000"/>
                        <a:lumOff val="60000"/>
                      </a:schemeClr>
                    </a:solidFill>
                  </a:tcPr>
                </a:tc>
                <a:extLst>
                  <a:ext uri="{0D108BD9-81ED-4DB2-BD59-A6C34878D82A}">
                    <a16:rowId xmlns:a16="http://schemas.microsoft.com/office/drawing/2014/main" val="2933510440"/>
                  </a:ext>
                </a:extLst>
              </a:tr>
              <a:tr h="31293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a:solidFill>
                            <a:srgbClr val="374151"/>
                          </a:solidFill>
                          <a:latin typeface="Calibri "/>
                          <a:ea typeface="Calibri" pitchFamily="34" charset="-122"/>
                          <a:cs typeface="Calibri" pitchFamily="34" charset="-120"/>
                        </a:rPr>
                        <a:t>Execution time</a:t>
                      </a:r>
                      <a:endParaRPr lang="en-US" sz="900">
                        <a:latin typeface="Calibri "/>
                      </a:endParaRPr>
                    </a:p>
                  </a:txBody>
                  <a:tcPr anchor="ctr">
                    <a:solidFill>
                      <a:schemeClr val="tx2">
                        <a:lumMod val="20000"/>
                        <a:lumOff val="80000"/>
                      </a:schemeClr>
                    </a:solidFill>
                  </a:tcPr>
                </a:tc>
                <a:tc>
                  <a:txBody>
                    <a:bodyPr/>
                    <a:lstStyle/>
                    <a:p>
                      <a:r>
                        <a:rPr lang="it-IT" sz="1000">
                          <a:latin typeface="Calibri "/>
                        </a:rPr>
                        <a:t>0 ms</a:t>
                      </a:r>
                    </a:p>
                  </a:txBody>
                  <a:tcPr anchor="ctr">
                    <a:solidFill>
                      <a:schemeClr val="tx2">
                        <a:lumMod val="20000"/>
                        <a:lumOff val="80000"/>
                      </a:schemeClr>
                    </a:solidFill>
                  </a:tcPr>
                </a:tc>
                <a:tc>
                  <a:txBody>
                    <a:bodyPr/>
                    <a:lstStyle/>
                    <a:p>
                      <a:r>
                        <a:rPr lang="it-IT" sz="1000">
                          <a:latin typeface="Calibri "/>
                        </a:rPr>
                        <a:t>0 ms</a:t>
                      </a:r>
                    </a:p>
                  </a:txBody>
                  <a:tcPr anchor="ctr">
                    <a:solidFill>
                      <a:schemeClr val="tx2">
                        <a:lumMod val="20000"/>
                        <a:lumOff val="80000"/>
                      </a:schemeClr>
                    </a:solidFill>
                  </a:tcPr>
                </a:tc>
                <a:extLst>
                  <a:ext uri="{0D108BD9-81ED-4DB2-BD59-A6C34878D82A}">
                    <a16:rowId xmlns:a16="http://schemas.microsoft.com/office/drawing/2014/main" val="2927508766"/>
                  </a:ext>
                </a:extLst>
              </a:tr>
              <a:tr h="31293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a:solidFill>
                            <a:srgbClr val="374151"/>
                          </a:solidFill>
                          <a:latin typeface="Calibri "/>
                          <a:ea typeface="Calibri" pitchFamily="34" charset="-122"/>
                          <a:cs typeface="Calibri" pitchFamily="34" charset="-120"/>
                        </a:rPr>
                        <a:t>Index keys examined</a:t>
                      </a:r>
                      <a:endParaRPr lang="en-US" sz="900">
                        <a:latin typeface="Calibri "/>
                      </a:endParaRPr>
                    </a:p>
                  </a:txBody>
                  <a:tcPr anchor="ctr">
                    <a:solidFill>
                      <a:schemeClr val="tx2">
                        <a:lumMod val="40000"/>
                        <a:lumOff val="60000"/>
                      </a:schemeClr>
                    </a:solidFill>
                  </a:tcPr>
                </a:tc>
                <a:tc>
                  <a:txBody>
                    <a:bodyPr/>
                    <a:lstStyle/>
                    <a:p>
                      <a:r>
                        <a:rPr lang="it-IT" sz="1000">
                          <a:latin typeface="Calibri "/>
                        </a:rPr>
                        <a:t>0</a:t>
                      </a:r>
                    </a:p>
                  </a:txBody>
                  <a:tcPr anchor="ctr">
                    <a:solidFill>
                      <a:schemeClr val="tx2">
                        <a:lumMod val="40000"/>
                        <a:lumOff val="60000"/>
                      </a:schemeClr>
                    </a:solidFill>
                  </a:tcPr>
                </a:tc>
                <a:tc>
                  <a:txBody>
                    <a:bodyPr/>
                    <a:lstStyle/>
                    <a:p>
                      <a:r>
                        <a:rPr lang="it-IT" sz="1000">
                          <a:latin typeface="Calibri "/>
                        </a:rPr>
                        <a:t>1</a:t>
                      </a:r>
                    </a:p>
                  </a:txBody>
                  <a:tcPr anchor="ctr">
                    <a:solidFill>
                      <a:schemeClr val="tx2">
                        <a:lumMod val="40000"/>
                        <a:lumOff val="60000"/>
                      </a:schemeClr>
                    </a:solidFill>
                  </a:tcPr>
                </a:tc>
                <a:extLst>
                  <a:ext uri="{0D108BD9-81ED-4DB2-BD59-A6C34878D82A}">
                    <a16:rowId xmlns:a16="http://schemas.microsoft.com/office/drawing/2014/main" val="577423305"/>
                  </a:ext>
                </a:extLst>
              </a:tr>
              <a:tr h="31293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a:solidFill>
                            <a:srgbClr val="374151"/>
                          </a:solidFill>
                          <a:latin typeface="Calibri "/>
                          <a:ea typeface="Calibri" pitchFamily="34" charset="-122"/>
                          <a:cs typeface="Calibri" pitchFamily="34" charset="-120"/>
                        </a:rPr>
                        <a:t>Documents examined</a:t>
                      </a:r>
                      <a:endParaRPr lang="en-US" sz="900">
                        <a:latin typeface="Calibri "/>
                      </a:endParaRPr>
                    </a:p>
                  </a:txBody>
                  <a:tcPr anchor="ctr">
                    <a:solidFill>
                      <a:schemeClr val="tx2">
                        <a:lumMod val="20000"/>
                        <a:lumOff val="80000"/>
                      </a:schemeClr>
                    </a:solidFill>
                  </a:tcPr>
                </a:tc>
                <a:tc>
                  <a:txBody>
                    <a:bodyPr/>
                    <a:lstStyle/>
                    <a:p>
                      <a:r>
                        <a:rPr lang="it-IT" sz="1000">
                          <a:latin typeface="Calibri "/>
                        </a:rPr>
                        <a:t>94</a:t>
                      </a:r>
                    </a:p>
                  </a:txBody>
                  <a:tcPr anchor="ctr">
                    <a:solidFill>
                      <a:schemeClr val="tx2">
                        <a:lumMod val="20000"/>
                        <a:lumOff val="80000"/>
                      </a:schemeClr>
                    </a:solidFill>
                  </a:tcPr>
                </a:tc>
                <a:tc>
                  <a:txBody>
                    <a:bodyPr/>
                    <a:lstStyle/>
                    <a:p>
                      <a:r>
                        <a:rPr lang="it-IT" sz="1000">
                          <a:latin typeface="Calibri "/>
                        </a:rPr>
                        <a:t>1</a:t>
                      </a:r>
                    </a:p>
                  </a:txBody>
                  <a:tcPr anchor="ctr">
                    <a:solidFill>
                      <a:schemeClr val="tx2">
                        <a:lumMod val="20000"/>
                        <a:lumOff val="80000"/>
                      </a:schemeClr>
                    </a:solidFill>
                  </a:tcPr>
                </a:tc>
                <a:extLst>
                  <a:ext uri="{0D108BD9-81ED-4DB2-BD59-A6C34878D82A}">
                    <a16:rowId xmlns:a16="http://schemas.microsoft.com/office/drawing/2014/main" val="3732514528"/>
                  </a:ext>
                </a:extLst>
              </a:tr>
            </a:tbl>
          </a:graphicData>
        </a:graphic>
      </p:graphicFrame>
    </p:spTree>
    <p:extLst>
      <p:ext uri="{BB962C8B-B14F-4D97-AF65-F5344CB8AC3E}">
        <p14:creationId xmlns:p14="http://schemas.microsoft.com/office/powerpoint/2010/main" val="42697979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0FD46-E23E-8965-6215-16E2573CD78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B289B94-C15E-C92A-C508-2FC25C3C9767}"/>
              </a:ext>
            </a:extLst>
          </p:cNvPr>
          <p:cNvSpPr>
            <a:spLocks noGrp="1"/>
          </p:cNvSpPr>
          <p:nvPr>
            <p:ph type="title"/>
          </p:nvPr>
        </p:nvSpPr>
        <p:spPr/>
        <p:txBody>
          <a:bodyPr>
            <a:normAutofit fontScale="90000"/>
          </a:bodyPr>
          <a:lstStyle/>
          <a:p>
            <a:r>
              <a:rPr lang="en-AU" noProof="0"/>
              <a:t>Discussion on MongoDB Data Sharding</a:t>
            </a:r>
          </a:p>
        </p:txBody>
      </p:sp>
      <p:sp>
        <p:nvSpPr>
          <p:cNvPr id="5" name="CasellaDiTesto 4">
            <a:extLst>
              <a:ext uri="{FF2B5EF4-FFF2-40B4-BE49-F238E27FC236}">
                <a16:creationId xmlns:a16="http://schemas.microsoft.com/office/drawing/2014/main" id="{9679349C-2A43-3DF5-99B6-87605DA69A06}"/>
              </a:ext>
            </a:extLst>
          </p:cNvPr>
          <p:cNvSpPr txBox="1"/>
          <p:nvPr/>
        </p:nvSpPr>
        <p:spPr>
          <a:xfrm>
            <a:off x="415417" y="1082203"/>
            <a:ext cx="8313166" cy="4693593"/>
          </a:xfrm>
          <a:prstGeom prst="rect">
            <a:avLst/>
          </a:prstGeom>
          <a:noFill/>
        </p:spPr>
        <p:txBody>
          <a:bodyPr wrap="square">
            <a:spAutoFit/>
          </a:bodyPr>
          <a:lstStyle/>
          <a:p>
            <a:pPr rtl="0">
              <a:buNone/>
            </a:pPr>
            <a:r>
              <a:rPr lang="en-AU" sz="2000" b="1" i="1" u="sng" noProof="0" dirty="0">
                <a:effectLst/>
                <a:latin typeface="Google Sans Text"/>
              </a:rPr>
              <a:t>MongoDB</a:t>
            </a:r>
            <a:r>
              <a:rPr lang="en-AU" sz="2000" b="1" u="sng" noProof="0" dirty="0">
                <a:solidFill>
                  <a:schemeClr val="tx2"/>
                </a:solidFill>
                <a:effectLst/>
                <a:latin typeface="Google Sans Text"/>
              </a:rPr>
              <a:t> </a:t>
            </a:r>
          </a:p>
          <a:p>
            <a:pPr rtl="0">
              <a:buNone/>
            </a:pPr>
            <a:endParaRPr lang="en-AU" sz="500" b="1" u="sng" noProof="0" dirty="0">
              <a:solidFill>
                <a:schemeClr val="tx2"/>
              </a:solidFill>
              <a:effectLst/>
              <a:latin typeface="Google Sans Text"/>
            </a:endParaRPr>
          </a:p>
          <a:p>
            <a:pPr marL="285750" indent="-285750" rtl="0">
              <a:buFont typeface="Arial" panose="020B0604020202020204" pitchFamily="34" charset="0"/>
              <a:buChar char="•"/>
            </a:pPr>
            <a:r>
              <a:rPr lang="en-AU" b="1" noProof="0" dirty="0">
                <a:solidFill>
                  <a:srgbClr val="1F1F1F"/>
                </a:solidFill>
                <a:effectLst/>
                <a:latin typeface="Google Sans Text"/>
              </a:rPr>
              <a:t>Foodies (Hashed on </a:t>
            </a:r>
            <a:r>
              <a:rPr lang="en-AU" b="0" i="0" noProof="0" dirty="0">
                <a:solidFill>
                  <a:srgbClr val="1F1F1F"/>
                </a:solidFill>
                <a:effectLst/>
                <a:latin typeface="Google Sans Text"/>
              </a:rPr>
              <a:t>username</a:t>
            </a:r>
            <a:r>
              <a:rPr lang="en-AU" b="1" noProof="0" dirty="0">
                <a:solidFill>
                  <a:srgbClr val="1F1F1F"/>
                </a:solidFill>
                <a:effectLst/>
                <a:latin typeface="Google Sans Text"/>
              </a:rPr>
              <a:t>):</a:t>
            </a:r>
            <a:r>
              <a:rPr lang="en-AU" noProof="0" dirty="0">
                <a:solidFill>
                  <a:srgbClr val="1F1F1F"/>
                </a:solidFill>
                <a:effectLst/>
                <a:latin typeface="Google Sans Text"/>
              </a:rPr>
              <a:t> Uniform data distribution. Optimizes the authentication process by enabling highly efficient, direct lookups without broadcast queries.</a:t>
            </a:r>
          </a:p>
          <a:p>
            <a:pPr marL="285750" indent="-285750" rtl="0">
              <a:buFont typeface="Arial" panose="020B0604020202020204" pitchFamily="34" charset="0"/>
              <a:buChar char="•"/>
            </a:pPr>
            <a:endParaRPr lang="en-AU" sz="500" noProof="0" dirty="0">
              <a:solidFill>
                <a:srgbClr val="1F1F1F"/>
              </a:solidFill>
              <a:effectLst/>
              <a:latin typeface="Google Sans Text"/>
            </a:endParaRPr>
          </a:p>
          <a:p>
            <a:pPr marL="285750" indent="-285750" rtl="0">
              <a:buFont typeface="Arial" panose="020B0604020202020204" pitchFamily="34" charset="0"/>
              <a:buChar char="•"/>
            </a:pPr>
            <a:r>
              <a:rPr lang="en-AU" b="1" noProof="0" dirty="0">
                <a:solidFill>
                  <a:srgbClr val="1F1F1F"/>
                </a:solidFill>
                <a:effectLst/>
                <a:latin typeface="Google Sans Text"/>
              </a:rPr>
              <a:t>Chefs (Future: Hashed on </a:t>
            </a:r>
            <a:r>
              <a:rPr lang="en-AU" b="0" i="0" noProof="0" dirty="0">
                <a:solidFill>
                  <a:srgbClr val="1F1F1F"/>
                </a:solidFill>
                <a:effectLst/>
                <a:latin typeface="Google Sans Text"/>
              </a:rPr>
              <a:t>_id</a:t>
            </a:r>
            <a:r>
              <a:rPr lang="en-AU" b="1" noProof="0" dirty="0">
                <a:solidFill>
                  <a:srgbClr val="1F1F1F"/>
                </a:solidFill>
                <a:effectLst/>
                <a:latin typeface="Google Sans Text"/>
              </a:rPr>
              <a:t>):</a:t>
            </a:r>
            <a:r>
              <a:rPr lang="en-AU" noProof="0" dirty="0">
                <a:solidFill>
                  <a:srgbClr val="1F1F1F"/>
                </a:solidFill>
                <a:effectLst/>
                <a:latin typeface="Google Sans Text"/>
              </a:rPr>
              <a:t> Currently </a:t>
            </a:r>
            <a:r>
              <a:rPr lang="en-AU" noProof="0" dirty="0" err="1">
                <a:solidFill>
                  <a:srgbClr val="1F1F1F"/>
                </a:solidFill>
                <a:effectLst/>
                <a:latin typeface="Google Sans Text"/>
              </a:rPr>
              <a:t>unsharded</a:t>
            </a:r>
            <a:r>
              <a:rPr lang="en-AU" noProof="0" dirty="0">
                <a:solidFill>
                  <a:srgbClr val="1F1F1F"/>
                </a:solidFill>
                <a:effectLst/>
                <a:latin typeface="Google Sans Text"/>
              </a:rPr>
              <a:t> due to low volume. The future strategy prioritizes high-frequency profile reads over a slight overhead during login.</a:t>
            </a:r>
          </a:p>
          <a:p>
            <a:pPr marL="285750" indent="-285750" rtl="0">
              <a:buFont typeface="Arial" panose="020B0604020202020204" pitchFamily="34" charset="0"/>
              <a:buChar char="•"/>
            </a:pPr>
            <a:endParaRPr lang="en-AU" sz="500" noProof="0" dirty="0">
              <a:solidFill>
                <a:srgbClr val="1F1F1F"/>
              </a:solidFill>
              <a:effectLst/>
              <a:latin typeface="Google Sans Text"/>
            </a:endParaRPr>
          </a:p>
          <a:p>
            <a:pPr marL="285750" indent="-285750" rtl="0">
              <a:buFont typeface="Arial" panose="020B0604020202020204" pitchFamily="34" charset="0"/>
              <a:buChar char="•"/>
            </a:pPr>
            <a:r>
              <a:rPr lang="en-AU" b="1" noProof="0" dirty="0">
                <a:solidFill>
                  <a:srgbClr val="1F1F1F"/>
                </a:solidFill>
                <a:effectLst/>
                <a:latin typeface="Google Sans Text"/>
              </a:rPr>
              <a:t>Recipes (Hashed on </a:t>
            </a:r>
            <a:r>
              <a:rPr lang="en-AU" b="0" i="0" noProof="0" dirty="0">
                <a:solidFill>
                  <a:srgbClr val="1F1F1F"/>
                </a:solidFill>
                <a:effectLst/>
                <a:latin typeface="Google Sans Text"/>
              </a:rPr>
              <a:t>_id</a:t>
            </a:r>
            <a:r>
              <a:rPr lang="en-AU" b="1" noProof="0" dirty="0">
                <a:solidFill>
                  <a:srgbClr val="1F1F1F"/>
                </a:solidFill>
                <a:effectLst/>
                <a:latin typeface="Google Sans Text"/>
              </a:rPr>
              <a:t>):</a:t>
            </a:r>
            <a:r>
              <a:rPr lang="en-AU" noProof="0" dirty="0">
                <a:solidFill>
                  <a:srgbClr val="1F1F1F"/>
                </a:solidFill>
                <a:effectLst/>
                <a:latin typeface="Google Sans Text"/>
              </a:rPr>
              <a:t> Optimizes the retrieval of recipe details (dominant operation). </a:t>
            </a:r>
          </a:p>
          <a:p>
            <a:pPr rtl="0"/>
            <a:endParaRPr lang="en-AU" b="1" u="sng" noProof="0" dirty="0">
              <a:solidFill>
                <a:schemeClr val="tx2"/>
              </a:solidFill>
              <a:effectLst/>
              <a:latin typeface="Google Sans Text"/>
            </a:endParaRPr>
          </a:p>
          <a:p>
            <a:pPr rtl="0">
              <a:buNone/>
            </a:pPr>
            <a:r>
              <a:rPr lang="en-AU" sz="2000" b="1" i="1" u="sng" noProof="0" dirty="0">
                <a:effectLst/>
                <a:latin typeface="Google Sans Text"/>
              </a:rPr>
              <a:t>Redis (Smart Fridge &amp; Shopping List)</a:t>
            </a:r>
          </a:p>
          <a:p>
            <a:pPr rtl="0">
              <a:buNone/>
            </a:pPr>
            <a:endParaRPr lang="en-AU" sz="500" b="1" i="1" u="sng" noProof="0" dirty="0">
              <a:effectLst/>
              <a:latin typeface="Google Sans Text"/>
            </a:endParaRPr>
          </a:p>
          <a:p>
            <a:pPr marL="285750" indent="-285750" rtl="0">
              <a:buFont typeface="Arial" panose="020B0604020202020204" pitchFamily="34" charset="0"/>
              <a:buChar char="•"/>
            </a:pPr>
            <a:r>
              <a:rPr lang="en-AU" b="1" noProof="0" dirty="0">
                <a:solidFill>
                  <a:srgbClr val="1F1F1F"/>
                </a:solidFill>
                <a:effectLst/>
                <a:latin typeface="Google Sans Text"/>
              </a:rPr>
              <a:t>Current Architecture:</a:t>
            </a:r>
            <a:r>
              <a:rPr lang="en-AU" noProof="0" dirty="0">
                <a:solidFill>
                  <a:srgbClr val="1F1F1F"/>
                </a:solidFill>
                <a:effectLst/>
                <a:latin typeface="Google Sans Text"/>
              </a:rPr>
              <a:t> Sentinel Master-Slave. The workload is heavily read-bound, making a Cluster/Sharding approach unnecessary at this stage.</a:t>
            </a:r>
          </a:p>
          <a:p>
            <a:pPr marL="285750" indent="-285750" rtl="0">
              <a:buFont typeface="Arial" panose="020B0604020202020204" pitchFamily="34" charset="0"/>
              <a:buChar char="•"/>
            </a:pPr>
            <a:endParaRPr lang="en-AU" sz="500" noProof="0" dirty="0">
              <a:solidFill>
                <a:srgbClr val="1F1F1F"/>
              </a:solidFill>
              <a:effectLst/>
              <a:latin typeface="Google Sans Text"/>
            </a:endParaRPr>
          </a:p>
          <a:p>
            <a:pPr marL="285750" indent="-285750" rtl="0">
              <a:buFont typeface="Arial" panose="020B0604020202020204" pitchFamily="34" charset="0"/>
              <a:buChar char="•"/>
            </a:pPr>
            <a:r>
              <a:rPr lang="en-AU" b="1" noProof="0" dirty="0">
                <a:solidFill>
                  <a:srgbClr val="1F1F1F"/>
                </a:solidFill>
                <a:effectLst/>
                <a:latin typeface="Google Sans Text"/>
              </a:rPr>
              <a:t>Future Development:</a:t>
            </a:r>
            <a:r>
              <a:rPr lang="en-AU" noProof="0" dirty="0">
                <a:solidFill>
                  <a:srgbClr val="1F1F1F"/>
                </a:solidFill>
                <a:effectLst/>
                <a:latin typeface="Google Sans Text"/>
              </a:rPr>
              <a:t> If write operations increase, the system will migrate to a Redis Cluster. It will adopt a key hashing strategy using </a:t>
            </a:r>
            <a:r>
              <a:rPr lang="en-AU" i="1" noProof="0" dirty="0">
                <a:solidFill>
                  <a:srgbClr val="1F1F1F"/>
                </a:solidFill>
                <a:effectLst/>
                <a:latin typeface="Google Sans Text"/>
              </a:rPr>
              <a:t>Hash Tags </a:t>
            </a:r>
            <a:r>
              <a:rPr lang="en-AU" noProof="0" dirty="0">
                <a:solidFill>
                  <a:srgbClr val="1F1F1F"/>
                </a:solidFill>
                <a:effectLst/>
                <a:latin typeface="Google Sans Text"/>
              </a:rPr>
              <a:t>to ensure all data for a single user is routed to the same shard.</a:t>
            </a:r>
          </a:p>
        </p:txBody>
      </p:sp>
    </p:spTree>
    <p:extLst>
      <p:ext uri="{BB962C8B-B14F-4D97-AF65-F5344CB8AC3E}">
        <p14:creationId xmlns:p14="http://schemas.microsoft.com/office/powerpoint/2010/main" val="2366544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6B5E6-966C-B97A-3696-C737DDCE2AE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F0349FF-821C-E9A8-7149-FE33169A381C}"/>
              </a:ext>
            </a:extLst>
          </p:cNvPr>
          <p:cNvSpPr>
            <a:spLocks noGrp="1"/>
          </p:cNvSpPr>
          <p:nvPr>
            <p:ph type="title"/>
          </p:nvPr>
        </p:nvSpPr>
        <p:spPr/>
        <p:txBody>
          <a:bodyPr>
            <a:normAutofit/>
          </a:bodyPr>
          <a:lstStyle/>
          <a:p>
            <a:r>
              <a:rPr lang="en-US"/>
              <a:t>Key-value DB Design</a:t>
            </a:r>
          </a:p>
        </p:txBody>
      </p:sp>
      <p:sp>
        <p:nvSpPr>
          <p:cNvPr id="7" name="CasellaDiTesto 6">
            <a:extLst>
              <a:ext uri="{FF2B5EF4-FFF2-40B4-BE49-F238E27FC236}">
                <a16:creationId xmlns:a16="http://schemas.microsoft.com/office/drawing/2014/main" id="{CC62CF2F-43E3-57ED-6F29-5DCF0BCED70E}"/>
              </a:ext>
            </a:extLst>
          </p:cNvPr>
          <p:cNvSpPr txBox="1"/>
          <p:nvPr/>
        </p:nvSpPr>
        <p:spPr>
          <a:xfrm>
            <a:off x="989995" y="1909700"/>
            <a:ext cx="8154005" cy="769441"/>
          </a:xfrm>
          <a:prstGeom prst="rect">
            <a:avLst/>
          </a:prstGeom>
          <a:noFill/>
        </p:spPr>
        <p:txBody>
          <a:bodyPr wrap="square">
            <a:spAutoFit/>
          </a:bodyPr>
          <a:lstStyle/>
          <a:p>
            <a:r>
              <a:rPr lang="it-IT" b="1" i="1" u="sng">
                <a:latin typeface="Google Sans Text"/>
              </a:rPr>
              <a:t>Shopping List</a:t>
            </a:r>
          </a:p>
          <a:p>
            <a:endParaRPr lang="it-IT" sz="800" b="1" i="1" u="sng">
              <a:effectLst/>
              <a:latin typeface="Google Sans Text"/>
            </a:endParaRPr>
          </a:p>
          <a:p>
            <a:pPr lvl="1"/>
            <a:r>
              <a:rPr lang="it-IT">
                <a:effectLst/>
                <a:latin typeface="Courier New" panose="02070309020205020404" pitchFamily="49" charset="0"/>
                <a:cs typeface="Courier New" panose="02070309020205020404" pitchFamily="49" charset="0"/>
              </a:rPr>
              <a:t>Foodie: &lt;username&gt; : </a:t>
            </a:r>
            <a:r>
              <a:rPr lang="it-IT" err="1">
                <a:effectLst/>
                <a:latin typeface="Courier New" panose="02070309020205020404" pitchFamily="49" charset="0"/>
                <a:cs typeface="Courier New" panose="02070309020205020404" pitchFamily="49" charset="0"/>
              </a:rPr>
              <a:t>shoppingList</a:t>
            </a:r>
            <a:endParaRPr lang="it-IT">
              <a:effectLst/>
              <a:latin typeface="Courier New" panose="02070309020205020404" pitchFamily="49" charset="0"/>
              <a:cs typeface="Courier New" panose="02070309020205020404" pitchFamily="49" charset="0"/>
            </a:endParaRPr>
          </a:p>
        </p:txBody>
      </p:sp>
      <p:sp>
        <p:nvSpPr>
          <p:cNvPr id="4" name="CasellaDiTesto 3">
            <a:extLst>
              <a:ext uri="{FF2B5EF4-FFF2-40B4-BE49-F238E27FC236}">
                <a16:creationId xmlns:a16="http://schemas.microsoft.com/office/drawing/2014/main" id="{27188A78-A8C4-7AE0-88BB-6FACC0E9D2DB}"/>
              </a:ext>
            </a:extLst>
          </p:cNvPr>
          <p:cNvSpPr txBox="1"/>
          <p:nvPr/>
        </p:nvSpPr>
        <p:spPr>
          <a:xfrm>
            <a:off x="989995" y="3787290"/>
            <a:ext cx="7576458" cy="1200329"/>
          </a:xfrm>
          <a:prstGeom prst="rect">
            <a:avLst/>
          </a:prstGeom>
          <a:noFill/>
        </p:spPr>
        <p:txBody>
          <a:bodyPr wrap="square">
            <a:spAutoFit/>
          </a:bodyPr>
          <a:lstStyle/>
          <a:p>
            <a:pPr marL="742950" lvl="1" indent="-285750">
              <a:buFont typeface="Arial" panose="020B0604020202020204" pitchFamily="34" charset="0"/>
              <a:buChar char="•"/>
            </a:pPr>
            <a:endParaRPr lang="it-IT">
              <a:latin typeface="Courier New" panose="02070309020205020404" pitchFamily="49" charset="0"/>
              <a:cs typeface="Courier New" panose="02070309020205020404" pitchFamily="49" charset="0"/>
            </a:endParaRPr>
          </a:p>
          <a:p>
            <a:pPr marL="742950" lvl="1" indent="-285750">
              <a:buFont typeface="Arial" panose="020B0604020202020204" pitchFamily="34" charset="0"/>
              <a:buChar char="•"/>
            </a:pPr>
            <a:endParaRPr lang="it-IT">
              <a:latin typeface="Courier New" panose="02070309020205020404" pitchFamily="49" charset="0"/>
              <a:cs typeface="Courier New" panose="02070309020205020404" pitchFamily="49" charset="0"/>
            </a:endParaRPr>
          </a:p>
          <a:p>
            <a:pPr lvl="1"/>
            <a:endParaRPr lang="it-IT">
              <a:latin typeface="Courier New" panose="02070309020205020404" pitchFamily="49" charset="0"/>
              <a:cs typeface="Courier New" panose="02070309020205020404" pitchFamily="49" charset="0"/>
            </a:endParaRPr>
          </a:p>
          <a:p>
            <a:pPr lvl="1"/>
            <a:r>
              <a:rPr lang="it-IT" err="1">
                <a:latin typeface="Courier New" panose="02070309020205020404" pitchFamily="49" charset="0"/>
                <a:cs typeface="Courier New" panose="02070309020205020404" pitchFamily="49" charset="0"/>
              </a:rPr>
              <a:t>Allowed_ingredients</a:t>
            </a:r>
            <a:endParaRPr lang="it-IT">
              <a:effectLst/>
              <a:latin typeface="Courier New" panose="02070309020205020404" pitchFamily="49" charset="0"/>
              <a:cs typeface="Courier New" panose="02070309020205020404" pitchFamily="49" charset="0"/>
            </a:endParaRPr>
          </a:p>
        </p:txBody>
      </p:sp>
      <p:sp>
        <p:nvSpPr>
          <p:cNvPr id="9" name="CasellaDiTesto 8">
            <a:extLst>
              <a:ext uri="{FF2B5EF4-FFF2-40B4-BE49-F238E27FC236}">
                <a16:creationId xmlns:a16="http://schemas.microsoft.com/office/drawing/2014/main" id="{9DACF2B2-F859-1D5F-29F7-5B45B11A7585}"/>
              </a:ext>
            </a:extLst>
          </p:cNvPr>
          <p:cNvSpPr txBox="1"/>
          <p:nvPr/>
        </p:nvSpPr>
        <p:spPr>
          <a:xfrm>
            <a:off x="906036" y="4202789"/>
            <a:ext cx="4572000" cy="369332"/>
          </a:xfrm>
          <a:prstGeom prst="rect">
            <a:avLst/>
          </a:prstGeom>
          <a:noFill/>
        </p:spPr>
        <p:txBody>
          <a:bodyPr wrap="square">
            <a:spAutoFit/>
          </a:bodyPr>
          <a:lstStyle/>
          <a:p>
            <a:r>
              <a:rPr lang="it-IT" b="1" i="1" u="sng" err="1">
                <a:latin typeface="Google Sans Text"/>
              </a:rPr>
              <a:t>Allowed</a:t>
            </a:r>
            <a:r>
              <a:rPr lang="it-IT" b="1" i="1" u="sng">
                <a:latin typeface="Google Sans Text"/>
              </a:rPr>
              <a:t> </a:t>
            </a:r>
            <a:r>
              <a:rPr lang="it-IT" b="1" i="1" u="sng" err="1">
                <a:latin typeface="Google Sans Text"/>
              </a:rPr>
              <a:t>Ingredients</a:t>
            </a:r>
            <a:endParaRPr lang="it-IT" b="1" i="1" u="sng">
              <a:effectLst/>
              <a:latin typeface="Google Sans Text"/>
            </a:endParaRPr>
          </a:p>
        </p:txBody>
      </p:sp>
      <p:sp>
        <p:nvSpPr>
          <p:cNvPr id="5" name="TextBox 4">
            <a:extLst>
              <a:ext uri="{FF2B5EF4-FFF2-40B4-BE49-F238E27FC236}">
                <a16:creationId xmlns:a16="http://schemas.microsoft.com/office/drawing/2014/main" id="{8AD82341-7C66-D6DA-D5E5-AFDBF057329D}"/>
              </a:ext>
            </a:extLst>
          </p:cNvPr>
          <p:cNvSpPr txBox="1"/>
          <p:nvPr/>
        </p:nvSpPr>
        <p:spPr>
          <a:xfrm>
            <a:off x="1602149" y="1048427"/>
            <a:ext cx="5953226" cy="369332"/>
          </a:xfrm>
          <a:prstGeom prst="rect">
            <a:avLst/>
          </a:prstGeom>
          <a:noFill/>
        </p:spPr>
        <p:txBody>
          <a:bodyPr wrap="square">
            <a:spAutoFit/>
          </a:bodyPr>
          <a:lstStyle/>
          <a:p>
            <a:pPr algn="ctr"/>
            <a:r>
              <a:rPr lang="it-IT" b="1" u="sng">
                <a:effectLst/>
                <a:latin typeface="Google Sans Text"/>
              </a:rPr>
              <a:t>Keys Naming Conventions </a:t>
            </a:r>
            <a:r>
              <a:rPr lang="it-IT" b="1" u="sng" err="1">
                <a:effectLst/>
                <a:latin typeface="Google Sans Text"/>
              </a:rPr>
              <a:t>across</a:t>
            </a:r>
            <a:r>
              <a:rPr lang="it-IT" b="1" u="sng">
                <a:effectLst/>
                <a:latin typeface="Google Sans Text"/>
              </a:rPr>
              <a:t> the </a:t>
            </a:r>
            <a:r>
              <a:rPr lang="it-IT" b="1" u="sng" err="1">
                <a:effectLst/>
                <a:latin typeface="Google Sans Text"/>
              </a:rPr>
              <a:t>different</a:t>
            </a:r>
            <a:r>
              <a:rPr lang="it-IT" b="1" u="sng">
                <a:effectLst/>
                <a:latin typeface="Google Sans Text"/>
              </a:rPr>
              <a:t> features</a:t>
            </a:r>
          </a:p>
        </p:txBody>
      </p:sp>
      <p:sp>
        <p:nvSpPr>
          <p:cNvPr id="10" name="TextBox 9">
            <a:extLst>
              <a:ext uri="{FF2B5EF4-FFF2-40B4-BE49-F238E27FC236}">
                <a16:creationId xmlns:a16="http://schemas.microsoft.com/office/drawing/2014/main" id="{6F1F8640-401B-483D-8F8F-EBB3FFA61E8E}"/>
              </a:ext>
            </a:extLst>
          </p:cNvPr>
          <p:cNvSpPr txBox="1"/>
          <p:nvPr/>
        </p:nvSpPr>
        <p:spPr>
          <a:xfrm>
            <a:off x="504868" y="2901118"/>
            <a:ext cx="8514003" cy="1046440"/>
          </a:xfrm>
          <a:prstGeom prst="rect">
            <a:avLst/>
          </a:prstGeom>
          <a:noFill/>
        </p:spPr>
        <p:txBody>
          <a:bodyPr wrap="square">
            <a:spAutoFit/>
          </a:bodyPr>
          <a:lstStyle/>
          <a:p>
            <a:pPr lvl="1"/>
            <a:r>
              <a:rPr lang="it-IT" b="1" i="1" u="sng">
                <a:latin typeface="Google Sans Text"/>
              </a:rPr>
              <a:t>Smart Fridge</a:t>
            </a:r>
          </a:p>
          <a:p>
            <a:pPr lvl="1"/>
            <a:endParaRPr lang="it-IT" sz="800">
              <a:latin typeface="Courier New" panose="02070309020205020404" pitchFamily="49" charset="0"/>
              <a:cs typeface="Courier New" panose="02070309020205020404" pitchFamily="49" charset="0"/>
            </a:endParaRPr>
          </a:p>
          <a:p>
            <a:pPr lvl="1"/>
            <a:r>
              <a:rPr lang="it-IT">
                <a:latin typeface="Courier New" panose="02070309020205020404" pitchFamily="49" charset="0"/>
                <a:cs typeface="Courier New" panose="02070309020205020404" pitchFamily="49" charset="0"/>
              </a:rPr>
              <a:t>	Foodie: &lt;username&gt; : </a:t>
            </a:r>
            <a:r>
              <a:rPr lang="it-IT" err="1">
                <a:latin typeface="Courier New" panose="02070309020205020404" pitchFamily="49" charset="0"/>
                <a:cs typeface="Courier New" panose="02070309020205020404" pitchFamily="49" charset="0"/>
              </a:rPr>
              <a:t>smartFridge</a:t>
            </a:r>
            <a:r>
              <a:rPr lang="it-IT">
                <a:latin typeface="Courier New" panose="02070309020205020404" pitchFamily="49" charset="0"/>
                <a:cs typeface="Courier New" panose="02070309020205020404" pitchFamily="49" charset="0"/>
              </a:rPr>
              <a:t> : </a:t>
            </a:r>
            <a:r>
              <a:rPr lang="it-IT" err="1">
                <a:latin typeface="Courier New" panose="02070309020205020404" pitchFamily="49" charset="0"/>
                <a:cs typeface="Courier New" panose="02070309020205020404" pitchFamily="49" charset="0"/>
              </a:rPr>
              <a:t>ingredients</a:t>
            </a:r>
            <a:endParaRPr lang="it-IT">
              <a:latin typeface="Courier New" panose="02070309020205020404" pitchFamily="49" charset="0"/>
              <a:cs typeface="Courier New" panose="02070309020205020404" pitchFamily="49" charset="0"/>
            </a:endParaRPr>
          </a:p>
          <a:p>
            <a:pPr lvl="1"/>
            <a:r>
              <a:rPr lang="it-IT">
                <a:latin typeface="Courier New" panose="02070309020205020404" pitchFamily="49" charset="0"/>
                <a:cs typeface="Courier New" panose="02070309020205020404" pitchFamily="49" charset="0"/>
              </a:rPr>
              <a:t>	Foodie: &lt;username&gt; : </a:t>
            </a:r>
            <a:r>
              <a:rPr lang="it-IT" err="1">
                <a:latin typeface="Courier New" panose="02070309020205020404" pitchFamily="49" charset="0"/>
                <a:cs typeface="Courier New" panose="02070309020205020404" pitchFamily="49" charset="0"/>
              </a:rPr>
              <a:t>smartFridge</a:t>
            </a:r>
            <a:r>
              <a:rPr lang="it-IT">
                <a:latin typeface="Courier New" panose="02070309020205020404" pitchFamily="49" charset="0"/>
                <a:cs typeface="Courier New" panose="02070309020205020404" pitchFamily="49" charset="0"/>
              </a:rPr>
              <a:t> : </a:t>
            </a:r>
            <a:r>
              <a:rPr lang="it-IT" err="1">
                <a:latin typeface="Courier New" panose="02070309020205020404" pitchFamily="49" charset="0"/>
                <a:cs typeface="Courier New" panose="02070309020205020404" pitchFamily="49" charset="0"/>
              </a:rPr>
              <a:t>suggestions</a:t>
            </a:r>
            <a:endParaRPr lang="it-I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7980670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3EBC5-2088-DD5E-9031-C9A186F24C0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CC1E473-E0CF-CCC5-AFA0-9D2EBFAA2FF8}"/>
              </a:ext>
            </a:extLst>
          </p:cNvPr>
          <p:cNvSpPr>
            <a:spLocks noGrp="1"/>
          </p:cNvSpPr>
          <p:nvPr>
            <p:ph type="title"/>
          </p:nvPr>
        </p:nvSpPr>
        <p:spPr>
          <a:xfrm>
            <a:off x="182740" y="21609"/>
            <a:ext cx="8761797" cy="1143000"/>
          </a:xfrm>
        </p:spPr>
        <p:txBody>
          <a:bodyPr>
            <a:normAutofit/>
          </a:bodyPr>
          <a:lstStyle/>
          <a:p>
            <a:r>
              <a:rPr lang="en-US"/>
              <a:t>Key-value DB Design</a:t>
            </a:r>
          </a:p>
        </p:txBody>
      </p:sp>
      <p:sp>
        <p:nvSpPr>
          <p:cNvPr id="3" name="Titolo 1">
            <a:extLst>
              <a:ext uri="{FF2B5EF4-FFF2-40B4-BE49-F238E27FC236}">
                <a16:creationId xmlns:a16="http://schemas.microsoft.com/office/drawing/2014/main" id="{D129EB1A-81D1-2BD5-9AC7-EC7369A175FD}"/>
              </a:ext>
            </a:extLst>
          </p:cNvPr>
          <p:cNvSpPr txBox="1">
            <a:spLocks/>
          </p:cNvSpPr>
          <p:nvPr/>
        </p:nvSpPr>
        <p:spPr>
          <a:xfrm>
            <a:off x="182741" y="90093"/>
            <a:ext cx="8761797"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endParaRPr lang="en-US"/>
          </a:p>
        </p:txBody>
      </p:sp>
      <p:sp>
        <p:nvSpPr>
          <p:cNvPr id="4" name="CasellaDiTesto 3">
            <a:extLst>
              <a:ext uri="{FF2B5EF4-FFF2-40B4-BE49-F238E27FC236}">
                <a16:creationId xmlns:a16="http://schemas.microsoft.com/office/drawing/2014/main" id="{79CE44A1-A5CD-9700-8D60-C15EF3ED3753}"/>
              </a:ext>
            </a:extLst>
          </p:cNvPr>
          <p:cNvSpPr txBox="1"/>
          <p:nvPr/>
        </p:nvSpPr>
        <p:spPr>
          <a:xfrm>
            <a:off x="398933" y="1057546"/>
            <a:ext cx="8299590" cy="3416320"/>
          </a:xfrm>
          <a:prstGeom prst="rect">
            <a:avLst/>
          </a:prstGeom>
          <a:noFill/>
        </p:spPr>
        <p:txBody>
          <a:bodyPr wrap="square">
            <a:spAutoFit/>
          </a:bodyPr>
          <a:lstStyle/>
          <a:p>
            <a:pPr>
              <a:buNone/>
            </a:pPr>
            <a:r>
              <a:rPr lang="en-US" sz="2000" b="1" u="sng" dirty="0">
                <a:solidFill>
                  <a:schemeClr val="tx2"/>
                </a:solidFill>
                <a:latin typeface="+mj-lt"/>
              </a:rPr>
              <a:t>Allowed Ingredients</a:t>
            </a:r>
          </a:p>
          <a:p>
            <a:pPr>
              <a:buNone/>
            </a:pPr>
            <a:r>
              <a:rPr lang="en-US" sz="1600" dirty="0">
                <a:latin typeface="+mj-lt"/>
              </a:rPr>
              <a:t>Centralized in-memory set that validates ingredients across the whole platform, both in Foodies' lists and Chefs' recipe creation.</a:t>
            </a:r>
          </a:p>
          <a:p>
            <a:pPr>
              <a:buNone/>
            </a:pPr>
            <a:endParaRPr lang="en-US" sz="1600" dirty="0">
              <a:latin typeface="+mj-lt"/>
            </a:endParaRPr>
          </a:p>
          <a:p>
            <a:pPr>
              <a:buNone/>
            </a:pPr>
            <a:endParaRPr lang="en-US" sz="1600" dirty="0">
              <a:latin typeface="+mj-lt"/>
            </a:endParaRPr>
          </a:p>
          <a:p>
            <a:pPr>
              <a:buNone/>
            </a:pPr>
            <a:endParaRPr lang="en-US" sz="1600" dirty="0">
              <a:latin typeface="+mj-lt"/>
            </a:endParaRPr>
          </a:p>
          <a:p>
            <a:pPr>
              <a:buNone/>
            </a:pPr>
            <a:endParaRPr lang="en-US" sz="1600" dirty="0">
              <a:latin typeface="+mj-lt"/>
            </a:endParaRPr>
          </a:p>
          <a:p>
            <a:pPr>
              <a:buNone/>
            </a:pPr>
            <a:endParaRPr lang="en-US" sz="1600" dirty="0">
              <a:latin typeface="+mj-lt"/>
            </a:endParaRPr>
          </a:p>
          <a:p>
            <a:pPr>
              <a:buNone/>
            </a:pPr>
            <a:endParaRPr lang="en-US" sz="1600" dirty="0">
              <a:latin typeface="+mj-lt"/>
            </a:endParaRPr>
          </a:p>
          <a:p>
            <a:pPr>
              <a:buNone/>
            </a:pPr>
            <a:endParaRPr lang="en-US" sz="1600" dirty="0">
              <a:latin typeface="+mj-lt"/>
            </a:endParaRPr>
          </a:p>
          <a:p>
            <a:pPr>
              <a:buNone/>
            </a:pPr>
            <a:endParaRPr lang="en-US" sz="1600">
              <a:latin typeface="+mj-lt"/>
            </a:endParaRPr>
          </a:p>
          <a:p>
            <a:pPr>
              <a:buNone/>
            </a:pPr>
            <a:r>
              <a:rPr lang="en-US" sz="2000" b="1" u="sng" dirty="0">
                <a:solidFill>
                  <a:schemeClr val="tx2"/>
                </a:solidFill>
                <a:latin typeface="+mj-lt"/>
              </a:rPr>
              <a:t>Shopping List</a:t>
            </a:r>
          </a:p>
          <a:p>
            <a:pPr>
              <a:buNone/>
            </a:pPr>
            <a:r>
              <a:rPr lang="en-US" sz="1600" dirty="0">
                <a:latin typeface="+mj-lt"/>
              </a:rPr>
              <a:t>Set of ingredients a Foodie plans to buy. Every input is normalized to lowercase before storage.</a:t>
            </a:r>
          </a:p>
        </p:txBody>
      </p:sp>
      <p:sp>
        <p:nvSpPr>
          <p:cNvPr id="7" name="Rettangolo 6">
            <a:extLst>
              <a:ext uri="{FF2B5EF4-FFF2-40B4-BE49-F238E27FC236}">
                <a16:creationId xmlns:a16="http://schemas.microsoft.com/office/drawing/2014/main" id="{EA626A0D-D915-A8BF-0B85-E438CA8CCE1A}"/>
              </a:ext>
            </a:extLst>
          </p:cNvPr>
          <p:cNvSpPr/>
          <p:nvPr/>
        </p:nvSpPr>
        <p:spPr>
          <a:xfrm>
            <a:off x="1790699" y="4521991"/>
            <a:ext cx="5562601" cy="1404257"/>
          </a:xfrm>
          <a:prstGeom prst="rect">
            <a:avLst/>
          </a:prstGeom>
          <a:solidFill>
            <a:srgbClr val="22537C"/>
          </a:solidFill>
        </p:spPr>
        <p:style>
          <a:lnRef idx="1">
            <a:schemeClr val="accent1"/>
          </a:lnRef>
          <a:fillRef idx="3">
            <a:schemeClr val="accent1"/>
          </a:fillRef>
          <a:effectRef idx="2">
            <a:schemeClr val="accent1"/>
          </a:effectRef>
          <a:fontRef idx="minor">
            <a:schemeClr val="lt1"/>
          </a:fontRef>
        </p:style>
        <p:txBody>
          <a:bodyPr rtlCol="0" anchor="ctr"/>
          <a:lstStyle/>
          <a:p>
            <a:r>
              <a:rPr lang="en-US" sz="1500" b="1">
                <a:solidFill>
                  <a:srgbClr val="92D050"/>
                </a:solidFill>
                <a:latin typeface="Courier New" panose="02070309020205020404" pitchFamily="49" charset="0"/>
                <a:cs typeface="Courier New" panose="02070309020205020404" pitchFamily="49" charset="0"/>
              </a:rPr>
              <a:t>SMEMBERS</a:t>
            </a:r>
            <a:r>
              <a:rPr lang="en-US" sz="1500" b="1">
                <a:solidFill>
                  <a:srgbClr val="FFFF00"/>
                </a:solidFill>
                <a:latin typeface="Courier New" panose="02070309020205020404" pitchFamily="49" charset="0"/>
                <a:cs typeface="Courier New" panose="02070309020205020404" pitchFamily="49" charset="0"/>
              </a:rPr>
              <a:t> </a:t>
            </a:r>
            <a:r>
              <a:rPr lang="en-US" sz="1500" b="1" err="1">
                <a:latin typeface="Courier New" panose="02070309020205020404" pitchFamily="49" charset="0"/>
                <a:cs typeface="Courier New" panose="02070309020205020404" pitchFamily="49" charset="0"/>
              </a:rPr>
              <a:t>Foodie:sierra.mitchell:shoppingList</a:t>
            </a:r>
            <a:endParaRPr lang="en-US" sz="1500" b="1">
              <a:latin typeface="Courier New" panose="02070309020205020404" pitchFamily="49" charset="0"/>
              <a:cs typeface="Courier New" panose="02070309020205020404" pitchFamily="49" charset="0"/>
            </a:endParaRPr>
          </a:p>
          <a:p>
            <a:pPr marL="457200" indent="0">
              <a:buNone/>
            </a:pPr>
            <a:r>
              <a:rPr lang="en-US" sz="1500" b="1">
                <a:latin typeface="Courier New" panose="02070309020205020404" pitchFamily="49" charset="0"/>
                <a:cs typeface="Courier New" panose="02070309020205020404" pitchFamily="49" charset="0"/>
              </a:rPr>
              <a:t>"butter"</a:t>
            </a:r>
          </a:p>
          <a:p>
            <a:pPr marL="457200" indent="0">
              <a:buNone/>
            </a:pPr>
            <a:r>
              <a:rPr lang="en-US" sz="1500" b="1">
                <a:latin typeface="Courier New" panose="02070309020205020404" pitchFamily="49" charset="0"/>
                <a:cs typeface="Courier New" panose="02070309020205020404" pitchFamily="49" charset="0"/>
              </a:rPr>
              <a:t>"bread"</a:t>
            </a:r>
          </a:p>
          <a:p>
            <a:pPr marL="457200" indent="0">
              <a:buNone/>
            </a:pPr>
            <a:r>
              <a:rPr lang="en-US" sz="1500" b="1">
                <a:latin typeface="Courier New" panose="02070309020205020404" pitchFamily="49" charset="0"/>
                <a:cs typeface="Courier New" panose="02070309020205020404" pitchFamily="49" charset="0"/>
              </a:rPr>
              <a:t>"spaghetti pasta"</a:t>
            </a:r>
          </a:p>
          <a:p>
            <a:pPr marL="457200" indent="0">
              <a:buNone/>
            </a:pPr>
            <a:r>
              <a:rPr lang="en-US" sz="1500" b="1">
                <a:latin typeface="Courier New" panose="02070309020205020404" pitchFamily="49" charset="0"/>
                <a:cs typeface="Courier New" panose="02070309020205020404" pitchFamily="49" charset="0"/>
              </a:rPr>
              <a:t>"avocados"</a:t>
            </a:r>
          </a:p>
        </p:txBody>
      </p:sp>
      <p:sp>
        <p:nvSpPr>
          <p:cNvPr id="9" name="Rettangolo 8">
            <a:extLst>
              <a:ext uri="{FF2B5EF4-FFF2-40B4-BE49-F238E27FC236}">
                <a16:creationId xmlns:a16="http://schemas.microsoft.com/office/drawing/2014/main" id="{88C328B4-2A92-72F4-9011-730D1025D747}"/>
              </a:ext>
            </a:extLst>
          </p:cNvPr>
          <p:cNvSpPr/>
          <p:nvPr/>
        </p:nvSpPr>
        <p:spPr>
          <a:xfrm>
            <a:off x="2530928" y="2107484"/>
            <a:ext cx="4082143" cy="1404257"/>
          </a:xfrm>
          <a:prstGeom prst="rect">
            <a:avLst/>
          </a:prstGeom>
          <a:solidFill>
            <a:srgbClr val="22537C"/>
          </a:solidFill>
        </p:spPr>
        <p:style>
          <a:lnRef idx="1">
            <a:schemeClr val="accent1"/>
          </a:lnRef>
          <a:fillRef idx="3">
            <a:schemeClr val="accent1"/>
          </a:fillRef>
          <a:effectRef idx="2">
            <a:schemeClr val="accent1"/>
          </a:effectRef>
          <a:fontRef idx="minor">
            <a:schemeClr val="lt1"/>
          </a:fontRef>
        </p:style>
        <p:txBody>
          <a:bodyPr rtlCol="0" anchor="ctr"/>
          <a:lstStyle/>
          <a:p>
            <a:r>
              <a:rPr lang="en-US" sz="1500" b="1">
                <a:solidFill>
                  <a:srgbClr val="92D050"/>
                </a:solidFill>
                <a:latin typeface="Courier New" panose="02070309020205020404" pitchFamily="49" charset="0"/>
                <a:cs typeface="Courier New" panose="02070309020205020404" pitchFamily="49" charset="0"/>
              </a:rPr>
              <a:t>SMEMBERS</a:t>
            </a:r>
            <a:r>
              <a:rPr lang="en-US" sz="1500" b="1">
                <a:latin typeface="Courier New" panose="02070309020205020404" pitchFamily="49" charset="0"/>
                <a:cs typeface="Courier New" panose="02070309020205020404" pitchFamily="49" charset="0"/>
              </a:rPr>
              <a:t> </a:t>
            </a:r>
            <a:r>
              <a:rPr lang="en-US" sz="1500" b="1" err="1">
                <a:latin typeface="Courier New" panose="02070309020205020404" pitchFamily="49" charset="0"/>
                <a:cs typeface="Courier New" panose="02070309020205020404" pitchFamily="49" charset="0"/>
              </a:rPr>
              <a:t>Allowed_ingredients</a:t>
            </a:r>
            <a:endParaRPr lang="en-US" sz="1500" b="1">
              <a:latin typeface="Courier New" panose="02070309020205020404" pitchFamily="49" charset="0"/>
              <a:cs typeface="Courier New" panose="02070309020205020404" pitchFamily="49" charset="0"/>
            </a:endParaRPr>
          </a:p>
          <a:p>
            <a:pPr marL="457200" indent="0">
              <a:buNone/>
            </a:pPr>
            <a:r>
              <a:rPr lang="en-US" sz="1500" b="1">
                <a:latin typeface="Courier New" panose="02070309020205020404" pitchFamily="49" charset="0"/>
                <a:cs typeface="Courier New" panose="02070309020205020404" pitchFamily="49" charset="0"/>
              </a:rPr>
              <a:t>"pork belly"</a:t>
            </a:r>
          </a:p>
          <a:p>
            <a:pPr marL="457200" indent="0">
              <a:buNone/>
            </a:pPr>
            <a:r>
              <a:rPr lang="en-US" sz="1500" b="1">
                <a:latin typeface="Courier New" panose="02070309020205020404" pitchFamily="49" charset="0"/>
                <a:cs typeface="Courier New" panose="02070309020205020404" pitchFamily="49" charset="0"/>
              </a:rPr>
              <a:t>"mascarpone cheese"</a:t>
            </a:r>
          </a:p>
          <a:p>
            <a:pPr marL="457200" indent="0">
              <a:buNone/>
            </a:pPr>
            <a:r>
              <a:rPr lang="en-US" sz="1500" b="1">
                <a:latin typeface="Courier New" panose="02070309020205020404" pitchFamily="49" charset="0"/>
                <a:cs typeface="Courier New" panose="02070309020205020404" pitchFamily="49" charset="0"/>
              </a:rPr>
              <a:t>"brown sugar"</a:t>
            </a:r>
          </a:p>
          <a:p>
            <a:pPr marL="457200" indent="0">
              <a:buNone/>
            </a:pPr>
            <a:r>
              <a:rPr lang="en-US" sz="1500" b="1">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3149260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C0190-617C-E38B-A299-753A5688FB7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7E356FA-1D1C-8319-1E9C-0347ACA6B655}"/>
              </a:ext>
            </a:extLst>
          </p:cNvPr>
          <p:cNvSpPr>
            <a:spLocks noGrp="1"/>
          </p:cNvSpPr>
          <p:nvPr>
            <p:ph type="title"/>
          </p:nvPr>
        </p:nvSpPr>
        <p:spPr>
          <a:xfrm>
            <a:off x="182741" y="-57321"/>
            <a:ext cx="8761797" cy="1143000"/>
          </a:xfrm>
        </p:spPr>
        <p:txBody>
          <a:bodyPr>
            <a:normAutofit/>
          </a:bodyPr>
          <a:lstStyle/>
          <a:p>
            <a:r>
              <a:rPr lang="en-US"/>
              <a:t>Key-value DB Design</a:t>
            </a:r>
          </a:p>
        </p:txBody>
      </p:sp>
      <p:sp>
        <p:nvSpPr>
          <p:cNvPr id="7" name="Titolo 1">
            <a:extLst>
              <a:ext uri="{FF2B5EF4-FFF2-40B4-BE49-F238E27FC236}">
                <a16:creationId xmlns:a16="http://schemas.microsoft.com/office/drawing/2014/main" id="{125AE90E-12BE-DA79-9764-A03AD10C4FA7}"/>
              </a:ext>
            </a:extLst>
          </p:cNvPr>
          <p:cNvSpPr txBox="1">
            <a:spLocks/>
          </p:cNvSpPr>
          <p:nvPr/>
        </p:nvSpPr>
        <p:spPr>
          <a:xfrm>
            <a:off x="0" y="1331065"/>
            <a:ext cx="8761797"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endParaRPr lang="en-US"/>
          </a:p>
        </p:txBody>
      </p:sp>
      <p:sp>
        <p:nvSpPr>
          <p:cNvPr id="8" name="CasellaDiTesto 7">
            <a:extLst>
              <a:ext uri="{FF2B5EF4-FFF2-40B4-BE49-F238E27FC236}">
                <a16:creationId xmlns:a16="http://schemas.microsoft.com/office/drawing/2014/main" id="{531943E0-23B5-CA68-E413-EEEEE0F9F9EC}"/>
              </a:ext>
            </a:extLst>
          </p:cNvPr>
          <p:cNvSpPr txBox="1"/>
          <p:nvPr/>
        </p:nvSpPr>
        <p:spPr>
          <a:xfrm>
            <a:off x="239569" y="919821"/>
            <a:ext cx="8981619" cy="3077766"/>
          </a:xfrm>
          <a:prstGeom prst="rect">
            <a:avLst/>
          </a:prstGeom>
          <a:noFill/>
        </p:spPr>
        <p:txBody>
          <a:bodyPr wrap="square">
            <a:spAutoFit/>
          </a:bodyPr>
          <a:lstStyle/>
          <a:p>
            <a:pPr>
              <a:buNone/>
            </a:pPr>
            <a:r>
              <a:rPr lang="en-US" sz="1800" b="1" u="sng" dirty="0">
                <a:solidFill>
                  <a:schemeClr val="tx2"/>
                </a:solidFill>
                <a:latin typeface="+mj-lt"/>
              </a:rPr>
              <a:t>Smart Fridge – Ingredients</a:t>
            </a:r>
          </a:p>
          <a:p>
            <a:pPr>
              <a:buNone/>
            </a:pPr>
            <a:r>
              <a:rPr lang="en-US" sz="1600" dirty="0">
                <a:latin typeface="+mj-lt"/>
              </a:rPr>
              <a:t>Set of ingredients a Foodie has at home </a:t>
            </a:r>
            <a:r>
              <a:rPr lang="en-US" sz="1600" dirty="0"/>
              <a:t>(same lowercase normalization as the Shopping List).</a:t>
            </a:r>
            <a:r>
              <a:rPr lang="en-US" sz="1600" dirty="0">
                <a:latin typeface="+mj-lt"/>
              </a:rPr>
              <a:t> A recipe is suggested when at least 3 of them match.</a:t>
            </a:r>
          </a:p>
          <a:p>
            <a:pPr>
              <a:buNone/>
            </a:pPr>
            <a:endParaRPr lang="en-US" sz="1600" dirty="0">
              <a:latin typeface="+mj-lt"/>
            </a:endParaRPr>
          </a:p>
          <a:p>
            <a:pPr>
              <a:buNone/>
            </a:pPr>
            <a:endParaRPr lang="en-US" sz="1600" dirty="0">
              <a:latin typeface="+mj-lt"/>
            </a:endParaRPr>
          </a:p>
          <a:p>
            <a:pPr>
              <a:buNone/>
            </a:pPr>
            <a:endParaRPr lang="en-US" sz="1600" dirty="0">
              <a:latin typeface="+mj-lt"/>
            </a:endParaRPr>
          </a:p>
          <a:p>
            <a:pPr>
              <a:buNone/>
            </a:pPr>
            <a:endParaRPr lang="en-US" sz="1600" dirty="0">
              <a:latin typeface="+mj-lt"/>
            </a:endParaRPr>
          </a:p>
          <a:p>
            <a:pPr>
              <a:buNone/>
            </a:pPr>
            <a:endParaRPr lang="en-US" sz="1600" dirty="0">
              <a:latin typeface="+mj-lt"/>
            </a:endParaRPr>
          </a:p>
          <a:p>
            <a:pPr>
              <a:buNone/>
            </a:pPr>
            <a:endParaRPr lang="en-US" sz="1600" dirty="0">
              <a:latin typeface="+mj-lt"/>
            </a:endParaRPr>
          </a:p>
          <a:p>
            <a:pPr>
              <a:buNone/>
            </a:pPr>
            <a:endParaRPr lang="en-US" sz="700" dirty="0">
              <a:latin typeface="+mj-lt"/>
            </a:endParaRPr>
          </a:p>
          <a:p>
            <a:pPr>
              <a:buNone/>
            </a:pPr>
            <a:endParaRPr lang="en-US" sz="700" dirty="0">
              <a:latin typeface="+mj-lt"/>
            </a:endParaRPr>
          </a:p>
          <a:p>
            <a:pPr>
              <a:buNone/>
            </a:pPr>
            <a:r>
              <a:rPr lang="en-US" b="1" u="sng" dirty="0">
                <a:solidFill>
                  <a:schemeClr val="tx2"/>
                </a:solidFill>
                <a:latin typeface="+mj-lt"/>
              </a:rPr>
              <a:t>Smart Fridge – Suggestions</a:t>
            </a:r>
          </a:p>
          <a:p>
            <a:pPr>
              <a:buNone/>
            </a:pPr>
            <a:r>
              <a:rPr lang="en-US" sz="1600" dirty="0">
                <a:latin typeface="+mj-lt"/>
              </a:rPr>
              <a:t>Computed via the Graph DB, then cached in Redis as a sorted JSON list to reduce latency.</a:t>
            </a:r>
          </a:p>
        </p:txBody>
      </p:sp>
      <p:sp>
        <p:nvSpPr>
          <p:cNvPr id="4" name="Rettangolo 3">
            <a:extLst>
              <a:ext uri="{FF2B5EF4-FFF2-40B4-BE49-F238E27FC236}">
                <a16:creationId xmlns:a16="http://schemas.microsoft.com/office/drawing/2014/main" id="{577181D4-AB0A-876E-90C6-6003982C5DB6}"/>
              </a:ext>
            </a:extLst>
          </p:cNvPr>
          <p:cNvSpPr/>
          <p:nvPr/>
        </p:nvSpPr>
        <p:spPr>
          <a:xfrm>
            <a:off x="1966424" y="1924473"/>
            <a:ext cx="5194429" cy="1234319"/>
          </a:xfrm>
          <a:prstGeom prst="rect">
            <a:avLst/>
          </a:prstGeom>
          <a:solidFill>
            <a:srgbClr val="22537C"/>
          </a:solidFill>
        </p:spPr>
        <p:style>
          <a:lnRef idx="1">
            <a:schemeClr val="accent1"/>
          </a:lnRef>
          <a:fillRef idx="3">
            <a:schemeClr val="accent1"/>
          </a:fillRef>
          <a:effectRef idx="2">
            <a:schemeClr val="accent1"/>
          </a:effectRef>
          <a:fontRef idx="minor">
            <a:schemeClr val="lt1"/>
          </a:fontRef>
        </p:style>
        <p:txBody>
          <a:bodyPr rtlCol="0" anchor="ctr"/>
          <a:lstStyle/>
          <a:p>
            <a:r>
              <a:rPr lang="en-US" sz="1400" b="1" dirty="0">
                <a:solidFill>
                  <a:srgbClr val="92D050"/>
                </a:solidFill>
                <a:latin typeface="Courier New" panose="02070309020205020404" pitchFamily="49" charset="0"/>
                <a:cs typeface="Courier New" panose="02070309020205020404" pitchFamily="49" charset="0"/>
              </a:rPr>
              <a:t>SMEMBERS</a:t>
            </a:r>
            <a:r>
              <a:rPr lang="en-US" sz="1400" b="1" dirty="0">
                <a:latin typeface="Courier New" panose="02070309020205020404" pitchFamily="49" charset="0"/>
                <a:cs typeface="Courier New" panose="02070309020205020404" pitchFamily="49" charset="0"/>
              </a:rPr>
              <a:t> Foodie:sierra.mitchell:smartFridge:ingredients</a:t>
            </a:r>
          </a:p>
          <a:p>
            <a:pPr marL="457200" indent="0">
              <a:buNone/>
            </a:pPr>
            <a:r>
              <a:rPr lang="en-US" sz="1400" b="1" dirty="0">
                <a:latin typeface="Courier New" panose="02070309020205020404" pitchFamily="49" charset="0"/>
                <a:cs typeface="Courier New" panose="02070309020205020404" pitchFamily="49" charset="0"/>
              </a:rPr>
              <a:t>”bread"   </a:t>
            </a:r>
          </a:p>
          <a:p>
            <a:pPr marL="457200" indent="0">
              <a:buNone/>
            </a:pPr>
            <a:r>
              <a:rPr lang="en-US" sz="1400" b="1" dirty="0">
                <a:latin typeface="Courier New" panose="02070309020205020404" pitchFamily="49" charset="0"/>
                <a:cs typeface="Courier New" panose="02070309020205020404" pitchFamily="49" charset="0"/>
              </a:rPr>
              <a:t>"butter"   </a:t>
            </a:r>
          </a:p>
          <a:p>
            <a:pPr marL="457200" indent="0">
              <a:buNone/>
            </a:pPr>
            <a:r>
              <a:rPr lang="en-US" sz="1400" b="1" dirty="0">
                <a:latin typeface="Courier New" panose="02070309020205020404" pitchFamily="49" charset="0"/>
                <a:cs typeface="Courier New" panose="02070309020205020404" pitchFamily="49" charset="0"/>
              </a:rPr>
              <a:t>"avocados“</a:t>
            </a:r>
          </a:p>
        </p:txBody>
      </p:sp>
      <p:sp>
        <p:nvSpPr>
          <p:cNvPr id="6" name="Rettangolo 5">
            <a:extLst>
              <a:ext uri="{FF2B5EF4-FFF2-40B4-BE49-F238E27FC236}">
                <a16:creationId xmlns:a16="http://schemas.microsoft.com/office/drawing/2014/main" id="{AE873988-A074-9A09-4617-087E5E0B5C59}"/>
              </a:ext>
            </a:extLst>
          </p:cNvPr>
          <p:cNvSpPr/>
          <p:nvPr/>
        </p:nvSpPr>
        <p:spPr>
          <a:xfrm>
            <a:off x="1657151" y="4039608"/>
            <a:ext cx="5829697" cy="1976530"/>
          </a:xfrm>
          <a:prstGeom prst="rect">
            <a:avLst/>
          </a:prstGeom>
          <a:solidFill>
            <a:srgbClr val="22537C"/>
          </a:solidFill>
        </p:spPr>
        <p:style>
          <a:lnRef idx="1">
            <a:schemeClr val="accent1"/>
          </a:lnRef>
          <a:fillRef idx="3">
            <a:schemeClr val="accent1"/>
          </a:fillRef>
          <a:effectRef idx="2">
            <a:schemeClr val="accent1"/>
          </a:effectRef>
          <a:fontRef idx="minor">
            <a:schemeClr val="lt1"/>
          </a:fontRef>
        </p:style>
        <p:txBody>
          <a:bodyPr rtlCol="0" anchor="ctr"/>
          <a:lstStyle/>
          <a:p>
            <a:r>
              <a:rPr lang="en-US" sz="1400" b="1">
                <a:solidFill>
                  <a:srgbClr val="92D050"/>
                </a:solidFill>
                <a:latin typeface="Courier New" panose="02070309020205020404" pitchFamily="49" charset="0"/>
                <a:cs typeface="Courier New" panose="02070309020205020404" pitchFamily="49" charset="0"/>
              </a:rPr>
              <a:t>GET</a:t>
            </a:r>
            <a:r>
              <a:rPr lang="en-US" sz="1400" b="1">
                <a:latin typeface="Courier New" panose="02070309020205020404" pitchFamily="49" charset="0"/>
                <a:cs typeface="Courier New" panose="02070309020205020404" pitchFamily="49" charset="0"/>
              </a:rPr>
              <a:t> </a:t>
            </a:r>
            <a:r>
              <a:rPr lang="en-US" sz="1400" b="1" err="1">
                <a:latin typeface="Courier New" panose="02070309020205020404" pitchFamily="49" charset="0"/>
                <a:cs typeface="Courier New" panose="02070309020205020404" pitchFamily="49" charset="0"/>
              </a:rPr>
              <a:t>Foodie:sierra.mitchell:smartFridge:suggestions</a:t>
            </a:r>
            <a:endParaRPr lang="en-US" sz="1400" b="1">
              <a:latin typeface="Courier New" panose="02070309020205020404" pitchFamily="49" charset="0"/>
              <a:cs typeface="Courier New" panose="02070309020205020404" pitchFamily="49" charset="0"/>
            </a:endParaRPr>
          </a:p>
          <a:p>
            <a:pPr marL="228600" indent="0">
              <a:buNone/>
            </a:pPr>
            <a:r>
              <a:rPr lang="en-US" sz="1400" b="1">
                <a:latin typeface="Courier New" panose="02070309020205020404" pitchFamily="49" charset="0"/>
                <a:cs typeface="Courier New" panose="02070309020205020404" pitchFamily="49" charset="0"/>
              </a:rPr>
              <a:t>[ {</a:t>
            </a:r>
          </a:p>
          <a:p>
            <a:pPr marL="685800" indent="0">
              <a:buNone/>
            </a:pPr>
            <a:r>
              <a:rPr lang="en-US" sz="1400" b="1">
                <a:latin typeface="Courier New" panose="02070309020205020404" pitchFamily="49" charset="0"/>
                <a:cs typeface="Courier New" panose="02070309020205020404" pitchFamily="49" charset="0"/>
              </a:rPr>
              <a:t>"id" : "69cea24e14f896db429ba7b7",</a:t>
            </a:r>
          </a:p>
          <a:p>
            <a:pPr marL="685800" indent="0">
              <a:buNone/>
            </a:pPr>
            <a:r>
              <a:rPr lang="en-US" sz="1400" b="1">
                <a:latin typeface="Courier New" panose="02070309020205020404" pitchFamily="49" charset="0"/>
                <a:cs typeface="Courier New" panose="02070309020205020404" pitchFamily="49" charset="0"/>
              </a:rPr>
              <a:t>"title" : "Best Chicken Panini",</a:t>
            </a:r>
          </a:p>
          <a:p>
            <a:pPr marL="685800" indent="0">
              <a:buNone/>
            </a:pPr>
            <a:r>
              <a:rPr lang="en-US" sz="1400" b="1">
                <a:latin typeface="Courier New" panose="02070309020205020404" pitchFamily="49" charset="0"/>
                <a:cs typeface="Courier New" panose="02070309020205020404" pitchFamily="49" charset="0"/>
              </a:rPr>
              <a:t>"chef" : "Gordon Ramsay",</a:t>
            </a:r>
          </a:p>
          <a:p>
            <a:pPr marL="685800" indent="0">
              <a:buNone/>
            </a:pPr>
            <a:r>
              <a:rPr lang="en-US" sz="1400" b="1">
                <a:latin typeface="Courier New" panose="02070309020205020404" pitchFamily="49" charset="0"/>
                <a:cs typeface="Courier New" panose="02070309020205020404" pitchFamily="49" charset="0"/>
              </a:rPr>
              <a:t>"</a:t>
            </a:r>
            <a:r>
              <a:rPr lang="en-US" sz="1400" b="1" err="1">
                <a:latin typeface="Courier New" panose="02070309020205020404" pitchFamily="49" charset="0"/>
                <a:cs typeface="Courier New" panose="02070309020205020404" pitchFamily="49" charset="0"/>
              </a:rPr>
              <a:t>matchCount</a:t>
            </a:r>
            <a:r>
              <a:rPr lang="en-US" sz="1400" b="1">
                <a:latin typeface="Courier New" panose="02070309020205020404" pitchFamily="49" charset="0"/>
                <a:cs typeface="Courier New" panose="02070309020205020404" pitchFamily="49" charset="0"/>
              </a:rPr>
              <a:t>" : 3,</a:t>
            </a:r>
          </a:p>
          <a:p>
            <a:pPr marL="685800" indent="0">
              <a:buNone/>
            </a:pPr>
            <a:r>
              <a:rPr lang="en-US" sz="1400" b="1">
                <a:latin typeface="Courier New" panose="02070309020205020404" pitchFamily="49" charset="0"/>
                <a:cs typeface="Courier New" panose="02070309020205020404" pitchFamily="49" charset="0"/>
              </a:rPr>
              <a:t>"</a:t>
            </a:r>
            <a:r>
              <a:rPr lang="en-US" sz="1400" b="1" err="1">
                <a:latin typeface="Courier New" panose="02070309020205020404" pitchFamily="49" charset="0"/>
                <a:cs typeface="Courier New" panose="02070309020205020404" pitchFamily="49" charset="0"/>
              </a:rPr>
              <a:t>matchedIngredients</a:t>
            </a:r>
            <a:r>
              <a:rPr lang="en-US" sz="1400" b="1">
                <a:latin typeface="Courier New" panose="02070309020205020404" pitchFamily="49" charset="0"/>
                <a:cs typeface="Courier New" panose="02070309020205020404" pitchFamily="49" charset="0"/>
              </a:rPr>
              <a:t>" : [ "bread", "butter", "avocados" ]</a:t>
            </a:r>
          </a:p>
          <a:p>
            <a:pPr marL="228600" indent="0">
              <a:buNone/>
            </a:pPr>
            <a:r>
              <a:rPr lang="en-US" sz="1400" b="1">
                <a:latin typeface="Courier New" panose="02070309020205020404" pitchFamily="49" charset="0"/>
                <a:cs typeface="Courier New" panose="02070309020205020404" pitchFamily="49" charset="0"/>
              </a:rPr>
              <a:t>}, { ... } ]</a:t>
            </a:r>
          </a:p>
        </p:txBody>
      </p:sp>
    </p:spTree>
    <p:extLst>
      <p:ext uri="{BB962C8B-B14F-4D97-AF65-F5344CB8AC3E}">
        <p14:creationId xmlns:p14="http://schemas.microsoft.com/office/powerpoint/2010/main" val="31497576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A70AA-DE6C-1AFD-AE81-383777DB33B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C3D0010-ABC6-8DEC-AE0B-26C902B98AE4}"/>
              </a:ext>
            </a:extLst>
          </p:cNvPr>
          <p:cNvSpPr>
            <a:spLocks noGrp="1"/>
          </p:cNvSpPr>
          <p:nvPr>
            <p:ph type="title"/>
          </p:nvPr>
        </p:nvSpPr>
        <p:spPr/>
        <p:txBody>
          <a:bodyPr>
            <a:normAutofit/>
          </a:bodyPr>
          <a:lstStyle/>
          <a:p>
            <a:r>
              <a:rPr lang="en-US"/>
              <a:t>Redis Replica Set Configuration</a:t>
            </a:r>
          </a:p>
        </p:txBody>
      </p:sp>
      <p:sp>
        <p:nvSpPr>
          <p:cNvPr id="7" name="CasellaDiTesto 6">
            <a:extLst>
              <a:ext uri="{FF2B5EF4-FFF2-40B4-BE49-F238E27FC236}">
                <a16:creationId xmlns:a16="http://schemas.microsoft.com/office/drawing/2014/main" id="{7D5B7AD9-0472-91C0-2FD6-66D80A082680}"/>
              </a:ext>
            </a:extLst>
          </p:cNvPr>
          <p:cNvSpPr txBox="1"/>
          <p:nvPr/>
        </p:nvSpPr>
        <p:spPr>
          <a:xfrm>
            <a:off x="714666" y="1720840"/>
            <a:ext cx="7714667" cy="3416320"/>
          </a:xfrm>
          <a:prstGeom prst="rect">
            <a:avLst/>
          </a:prstGeom>
          <a:noFill/>
        </p:spPr>
        <p:txBody>
          <a:bodyPr wrap="square">
            <a:spAutoFit/>
          </a:bodyPr>
          <a:lstStyle/>
          <a:p>
            <a:pPr algn="just">
              <a:buNone/>
            </a:pPr>
            <a:r>
              <a:rPr lang="en-US" dirty="0"/>
              <a:t>To guarantee high availability and eliminate a critical Single Point of Failure (SPOF) for caching and session management, a </a:t>
            </a:r>
            <a:r>
              <a:rPr lang="en-US" b="1" dirty="0"/>
              <a:t>Master-Replica</a:t>
            </a:r>
            <a:r>
              <a:rPr lang="en-US" dirty="0"/>
              <a:t> architecture was implemented.</a:t>
            </a:r>
          </a:p>
          <a:p>
            <a:pPr>
              <a:buNone/>
            </a:pPr>
            <a:endParaRPr lang="en-US" dirty="0"/>
          </a:p>
          <a:p>
            <a:pPr>
              <a:buNone/>
            </a:pPr>
            <a:r>
              <a:rPr lang="en-US" dirty="0"/>
              <a:t>The data topology distributes:</a:t>
            </a:r>
          </a:p>
          <a:p>
            <a:pPr marL="285750" indent="-285750">
              <a:buFont typeface="Arial" panose="020B0604020202020204" pitchFamily="34" charset="0"/>
              <a:buChar char="•"/>
            </a:pPr>
            <a:r>
              <a:rPr lang="en-US" dirty="0"/>
              <a:t>Single </a:t>
            </a:r>
            <a:r>
              <a:rPr lang="en-US" b="1" dirty="0"/>
              <a:t>Master</a:t>
            </a:r>
            <a:r>
              <a:rPr lang="en-US" dirty="0"/>
              <a:t> node on machine 10.1.1.92</a:t>
            </a:r>
          </a:p>
          <a:p>
            <a:pPr marL="285750" indent="-285750">
              <a:buFont typeface="Arial" panose="020B0604020202020204" pitchFamily="34" charset="0"/>
              <a:buChar char="•"/>
            </a:pPr>
            <a:r>
              <a:rPr lang="en-US" dirty="0"/>
              <a:t>Two </a:t>
            </a:r>
            <a:r>
              <a:rPr lang="en-US" b="1" dirty="0"/>
              <a:t>Replica</a:t>
            </a:r>
            <a:r>
              <a:rPr lang="en-US" dirty="0"/>
              <a:t> nodes on machines 10.1.1.91 and 10.1.1.90</a:t>
            </a:r>
          </a:p>
          <a:p>
            <a:pPr>
              <a:buNone/>
            </a:pPr>
            <a:endParaRPr lang="en-US" dirty="0"/>
          </a:p>
          <a:p>
            <a:pPr>
              <a:buNone/>
            </a:pPr>
            <a:r>
              <a:rPr lang="en-US" dirty="0"/>
              <a:t>All nodes are operating on port 6379 and Sentinel on port 7004.</a:t>
            </a:r>
          </a:p>
          <a:p>
            <a:pPr>
              <a:buNone/>
            </a:pPr>
            <a:endParaRPr lang="en-US" dirty="0"/>
          </a:p>
          <a:p>
            <a:pPr>
              <a:buNone/>
            </a:pPr>
            <a:r>
              <a:rPr lang="en-US" dirty="0"/>
              <a:t>To ensure fault tolerance, </a:t>
            </a:r>
            <a:r>
              <a:rPr lang="en-US" b="1" dirty="0"/>
              <a:t>Redis Sentinel</a:t>
            </a:r>
            <a:r>
              <a:rPr lang="en-US" dirty="0"/>
              <a:t> is configured across the infrastructure, in order to constantly monitor the state of the nodes.</a:t>
            </a:r>
          </a:p>
        </p:txBody>
      </p:sp>
    </p:spTree>
    <p:extLst>
      <p:ext uri="{BB962C8B-B14F-4D97-AF65-F5344CB8AC3E}">
        <p14:creationId xmlns:p14="http://schemas.microsoft.com/office/powerpoint/2010/main" val="17880043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A343F-086A-3C38-2C2E-F2857B97363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85E5FC8-7417-4971-8963-F7EDAE86E7FC}"/>
              </a:ext>
            </a:extLst>
          </p:cNvPr>
          <p:cNvSpPr>
            <a:spLocks noGrp="1"/>
          </p:cNvSpPr>
          <p:nvPr>
            <p:ph type="title"/>
          </p:nvPr>
        </p:nvSpPr>
        <p:spPr/>
        <p:txBody>
          <a:bodyPr>
            <a:normAutofit/>
          </a:bodyPr>
          <a:lstStyle/>
          <a:p>
            <a:r>
              <a:rPr lang="en-US"/>
              <a:t>Relevant Redis queries</a:t>
            </a:r>
          </a:p>
        </p:txBody>
      </p:sp>
      <p:sp>
        <p:nvSpPr>
          <p:cNvPr id="7" name="CasellaDiTesto 6">
            <a:extLst>
              <a:ext uri="{FF2B5EF4-FFF2-40B4-BE49-F238E27FC236}">
                <a16:creationId xmlns:a16="http://schemas.microsoft.com/office/drawing/2014/main" id="{F53036BD-6394-2208-0F29-3E73AE3D0DE6}"/>
              </a:ext>
            </a:extLst>
          </p:cNvPr>
          <p:cNvSpPr txBox="1"/>
          <p:nvPr/>
        </p:nvSpPr>
        <p:spPr>
          <a:xfrm>
            <a:off x="417786" y="1320775"/>
            <a:ext cx="8308427" cy="369332"/>
          </a:xfrm>
          <a:prstGeom prst="rect">
            <a:avLst/>
          </a:prstGeom>
          <a:noFill/>
        </p:spPr>
        <p:txBody>
          <a:bodyPr wrap="square">
            <a:spAutoFit/>
          </a:bodyPr>
          <a:lstStyle/>
          <a:p>
            <a:pPr>
              <a:buNone/>
            </a:pPr>
            <a:r>
              <a:rPr lang="en-US" b="1"/>
              <a:t>Ingredients</a:t>
            </a:r>
            <a:r>
              <a:rPr lang="en-US"/>
              <a:t> </a:t>
            </a:r>
            <a:r>
              <a:rPr lang="en-US" b="1"/>
              <a:t>Management</a:t>
            </a:r>
          </a:p>
        </p:txBody>
      </p:sp>
      <p:sp>
        <p:nvSpPr>
          <p:cNvPr id="4" name="CasellaDiTesto 3">
            <a:extLst>
              <a:ext uri="{FF2B5EF4-FFF2-40B4-BE49-F238E27FC236}">
                <a16:creationId xmlns:a16="http://schemas.microsoft.com/office/drawing/2014/main" id="{FBED5A70-EDDF-50FF-D1BA-E8806409FC3C}"/>
              </a:ext>
            </a:extLst>
          </p:cNvPr>
          <p:cNvSpPr txBox="1"/>
          <p:nvPr/>
        </p:nvSpPr>
        <p:spPr>
          <a:xfrm>
            <a:off x="417785" y="3798319"/>
            <a:ext cx="7070670" cy="369332"/>
          </a:xfrm>
          <a:prstGeom prst="rect">
            <a:avLst/>
          </a:prstGeom>
          <a:noFill/>
        </p:spPr>
        <p:txBody>
          <a:bodyPr wrap="square">
            <a:spAutoFit/>
          </a:bodyPr>
          <a:lstStyle/>
          <a:p>
            <a:pPr>
              <a:buNone/>
            </a:pPr>
            <a:r>
              <a:rPr lang="en-US" b="1" dirty="0"/>
              <a:t>Shopping List &amp; Smart Fridge Management </a:t>
            </a:r>
            <a:r>
              <a:rPr lang="en-US" b="1"/>
              <a:t>– </a:t>
            </a:r>
            <a:r>
              <a:rPr lang="en-US" b="1" dirty="0"/>
              <a:t>add</a:t>
            </a:r>
            <a:r>
              <a:rPr lang="en-US" b="1"/>
              <a:t> ingredient(s)</a:t>
            </a:r>
            <a:endParaRPr lang="en-US" b="1" dirty="0"/>
          </a:p>
        </p:txBody>
      </p:sp>
      <p:pic>
        <p:nvPicPr>
          <p:cNvPr id="5" name="Immagine 4">
            <a:extLst>
              <a:ext uri="{FF2B5EF4-FFF2-40B4-BE49-F238E27FC236}">
                <a16:creationId xmlns:a16="http://schemas.microsoft.com/office/drawing/2014/main" id="{53331DB3-EB84-0EBB-2614-9E5C5B9883CF}"/>
              </a:ext>
            </a:extLst>
          </p:cNvPr>
          <p:cNvPicPr>
            <a:picLocks noChangeAspect="1"/>
          </p:cNvPicPr>
          <p:nvPr/>
        </p:nvPicPr>
        <p:blipFill>
          <a:blip r:embed="rId3"/>
          <a:stretch>
            <a:fillRect/>
          </a:stretch>
        </p:blipFill>
        <p:spPr>
          <a:xfrm>
            <a:off x="1061559" y="4255333"/>
            <a:ext cx="7020880" cy="1895097"/>
          </a:xfrm>
          <a:prstGeom prst="rect">
            <a:avLst/>
          </a:prstGeom>
        </p:spPr>
      </p:pic>
      <p:pic>
        <p:nvPicPr>
          <p:cNvPr id="8" name="Immagine 7">
            <a:extLst>
              <a:ext uri="{FF2B5EF4-FFF2-40B4-BE49-F238E27FC236}">
                <a16:creationId xmlns:a16="http://schemas.microsoft.com/office/drawing/2014/main" id="{1E894EF4-FB4B-F310-CB2F-BD749AEEF4D3}"/>
              </a:ext>
            </a:extLst>
          </p:cNvPr>
          <p:cNvPicPr>
            <a:picLocks noChangeAspect="1"/>
          </p:cNvPicPr>
          <p:nvPr/>
        </p:nvPicPr>
        <p:blipFill>
          <a:blip r:embed="rId4"/>
          <a:stretch>
            <a:fillRect/>
          </a:stretch>
        </p:blipFill>
        <p:spPr>
          <a:xfrm>
            <a:off x="1465089" y="1777789"/>
            <a:ext cx="6197100" cy="1844861"/>
          </a:xfrm>
          <a:prstGeom prst="rect">
            <a:avLst/>
          </a:prstGeom>
        </p:spPr>
      </p:pic>
      <p:sp>
        <p:nvSpPr>
          <p:cNvPr id="9" name="Rettangolo 8">
            <a:extLst>
              <a:ext uri="{FF2B5EF4-FFF2-40B4-BE49-F238E27FC236}">
                <a16:creationId xmlns:a16="http://schemas.microsoft.com/office/drawing/2014/main" id="{9BFA4CDD-4ECA-5575-B3CD-82B0E407601D}"/>
              </a:ext>
            </a:extLst>
          </p:cNvPr>
          <p:cNvSpPr/>
          <p:nvPr/>
        </p:nvSpPr>
        <p:spPr>
          <a:xfrm>
            <a:off x="5345098" y="1828330"/>
            <a:ext cx="1962150" cy="241511"/>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9828699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929EF-4D8F-C134-F587-46A869D622A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47D5AFC-510B-BD06-1B58-C33A3CAE9B5C}"/>
              </a:ext>
            </a:extLst>
          </p:cNvPr>
          <p:cNvSpPr>
            <a:spLocks noGrp="1"/>
          </p:cNvSpPr>
          <p:nvPr>
            <p:ph type="title"/>
          </p:nvPr>
        </p:nvSpPr>
        <p:spPr/>
        <p:txBody>
          <a:bodyPr>
            <a:normAutofit/>
          </a:bodyPr>
          <a:lstStyle/>
          <a:p>
            <a:r>
              <a:rPr lang="en-US"/>
              <a:t>Relevant Redis queries</a:t>
            </a:r>
          </a:p>
        </p:txBody>
      </p:sp>
      <p:sp>
        <p:nvSpPr>
          <p:cNvPr id="9" name="CasellaDiTesto 8">
            <a:extLst>
              <a:ext uri="{FF2B5EF4-FFF2-40B4-BE49-F238E27FC236}">
                <a16:creationId xmlns:a16="http://schemas.microsoft.com/office/drawing/2014/main" id="{4F760F56-FED3-3D41-5C36-AD079023D7F9}"/>
              </a:ext>
            </a:extLst>
          </p:cNvPr>
          <p:cNvSpPr txBox="1"/>
          <p:nvPr/>
        </p:nvSpPr>
        <p:spPr>
          <a:xfrm>
            <a:off x="356992" y="3836622"/>
            <a:ext cx="4572000" cy="369332"/>
          </a:xfrm>
          <a:prstGeom prst="rect">
            <a:avLst/>
          </a:prstGeom>
          <a:noFill/>
        </p:spPr>
        <p:txBody>
          <a:bodyPr wrap="square">
            <a:spAutoFit/>
          </a:bodyPr>
          <a:lstStyle/>
          <a:p>
            <a:pPr>
              <a:buNone/>
            </a:pPr>
            <a:r>
              <a:rPr lang="en-US" b="1" dirty="0"/>
              <a:t>Recipe Suggestions Caching</a:t>
            </a:r>
          </a:p>
        </p:txBody>
      </p:sp>
      <p:pic>
        <p:nvPicPr>
          <p:cNvPr id="5" name="Immagine 4">
            <a:extLst>
              <a:ext uri="{FF2B5EF4-FFF2-40B4-BE49-F238E27FC236}">
                <a16:creationId xmlns:a16="http://schemas.microsoft.com/office/drawing/2014/main" id="{03262BC0-0D2A-4902-1911-DEF5102565B0}"/>
              </a:ext>
            </a:extLst>
          </p:cNvPr>
          <p:cNvPicPr>
            <a:picLocks noChangeAspect="1"/>
          </p:cNvPicPr>
          <p:nvPr/>
        </p:nvPicPr>
        <p:blipFill>
          <a:blip r:embed="rId3"/>
          <a:stretch>
            <a:fillRect/>
          </a:stretch>
        </p:blipFill>
        <p:spPr>
          <a:xfrm>
            <a:off x="738704" y="1715221"/>
            <a:ext cx="7649870" cy="1873649"/>
          </a:xfrm>
          <a:prstGeom prst="rect">
            <a:avLst/>
          </a:prstGeom>
        </p:spPr>
      </p:pic>
      <p:pic>
        <p:nvPicPr>
          <p:cNvPr id="8" name="Immagine 7">
            <a:extLst>
              <a:ext uri="{FF2B5EF4-FFF2-40B4-BE49-F238E27FC236}">
                <a16:creationId xmlns:a16="http://schemas.microsoft.com/office/drawing/2014/main" id="{C3287939-C5B4-FF14-5198-1E02D80AC04C}"/>
              </a:ext>
            </a:extLst>
          </p:cNvPr>
          <p:cNvPicPr>
            <a:picLocks noChangeAspect="1"/>
          </p:cNvPicPr>
          <p:nvPr/>
        </p:nvPicPr>
        <p:blipFill>
          <a:blip r:embed="rId4"/>
          <a:stretch>
            <a:fillRect/>
          </a:stretch>
        </p:blipFill>
        <p:spPr>
          <a:xfrm>
            <a:off x="1303189" y="4205954"/>
            <a:ext cx="6520900" cy="1597836"/>
          </a:xfrm>
          <a:prstGeom prst="rect">
            <a:avLst/>
          </a:prstGeom>
        </p:spPr>
      </p:pic>
      <p:sp>
        <p:nvSpPr>
          <p:cNvPr id="4" name="CasellaDiTesto 3">
            <a:extLst>
              <a:ext uri="{FF2B5EF4-FFF2-40B4-BE49-F238E27FC236}">
                <a16:creationId xmlns:a16="http://schemas.microsoft.com/office/drawing/2014/main" id="{A4DAE463-02FF-5500-0C17-3C825460E05C}"/>
              </a:ext>
            </a:extLst>
          </p:cNvPr>
          <p:cNvSpPr txBox="1"/>
          <p:nvPr/>
        </p:nvSpPr>
        <p:spPr>
          <a:xfrm>
            <a:off x="356992" y="1250323"/>
            <a:ext cx="6900456" cy="369332"/>
          </a:xfrm>
          <a:prstGeom prst="rect">
            <a:avLst/>
          </a:prstGeom>
          <a:noFill/>
        </p:spPr>
        <p:txBody>
          <a:bodyPr wrap="square">
            <a:spAutoFit/>
          </a:bodyPr>
          <a:lstStyle/>
          <a:p>
            <a:pPr>
              <a:buNone/>
            </a:pPr>
            <a:r>
              <a:rPr lang="en-US" b="1" dirty="0"/>
              <a:t>Shopping List &amp; Smart Fridge Management </a:t>
            </a:r>
            <a:r>
              <a:rPr lang="en-US" b="1"/>
              <a:t>– </a:t>
            </a:r>
            <a:r>
              <a:rPr lang="en-US" b="1" dirty="0"/>
              <a:t>remove</a:t>
            </a:r>
            <a:r>
              <a:rPr lang="en-US" b="1"/>
              <a:t> ingredient</a:t>
            </a:r>
            <a:endParaRPr lang="en-US" b="1" dirty="0"/>
          </a:p>
        </p:txBody>
      </p:sp>
    </p:spTree>
    <p:extLst>
      <p:ext uri="{BB962C8B-B14F-4D97-AF65-F5344CB8AC3E}">
        <p14:creationId xmlns:p14="http://schemas.microsoft.com/office/powerpoint/2010/main" val="6085822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2C595-7EEB-050F-C876-094BDC21CB8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43F7D54-D6DB-A6DB-E2A4-6BDC6BA6A064}"/>
              </a:ext>
            </a:extLst>
          </p:cNvPr>
          <p:cNvSpPr>
            <a:spLocks noGrp="1"/>
          </p:cNvSpPr>
          <p:nvPr>
            <p:ph type="title"/>
          </p:nvPr>
        </p:nvSpPr>
        <p:spPr>
          <a:xfrm>
            <a:off x="191101" y="0"/>
            <a:ext cx="8761797" cy="1143000"/>
          </a:xfrm>
        </p:spPr>
        <p:txBody>
          <a:bodyPr>
            <a:normAutofit/>
          </a:bodyPr>
          <a:lstStyle/>
          <a:p>
            <a:r>
              <a:rPr lang="en-US"/>
              <a:t>Graph DB Design</a:t>
            </a:r>
          </a:p>
        </p:txBody>
      </p:sp>
      <p:sp>
        <p:nvSpPr>
          <p:cNvPr id="15" name="CasellaDiTesto 14">
            <a:extLst>
              <a:ext uri="{FF2B5EF4-FFF2-40B4-BE49-F238E27FC236}">
                <a16:creationId xmlns:a16="http://schemas.microsoft.com/office/drawing/2014/main" id="{D9451C3C-FCBF-7184-47EC-3BAC5BC42025}"/>
              </a:ext>
            </a:extLst>
          </p:cNvPr>
          <p:cNvSpPr txBox="1"/>
          <p:nvPr/>
        </p:nvSpPr>
        <p:spPr>
          <a:xfrm>
            <a:off x="273871" y="1049215"/>
            <a:ext cx="4896006" cy="2154436"/>
          </a:xfrm>
          <a:prstGeom prst="rect">
            <a:avLst/>
          </a:prstGeom>
          <a:noFill/>
        </p:spPr>
        <p:txBody>
          <a:bodyPr wrap="square">
            <a:spAutoFit/>
          </a:bodyPr>
          <a:lstStyle/>
          <a:p>
            <a:pPr algn="ctr" rtl="0"/>
            <a:r>
              <a:rPr lang="en-US" sz="2200" b="1" i="1" u="sng" dirty="0">
                <a:solidFill>
                  <a:srgbClr val="1F1F1F"/>
                </a:solidFill>
                <a:effectLst/>
                <a:latin typeface="Google Sans Text"/>
              </a:rPr>
              <a:t>Nodes</a:t>
            </a:r>
          </a:p>
          <a:p>
            <a:pPr marL="285750" indent="-285750" rtl="0">
              <a:buFont typeface="Arial" panose="020B0604020202020204" pitchFamily="34" charset="0"/>
              <a:buChar char="•"/>
            </a:pPr>
            <a:endParaRPr lang="en-US" sz="800" b="1" dirty="0">
              <a:solidFill>
                <a:srgbClr val="1F1F1F"/>
              </a:solidFill>
              <a:latin typeface="Google Sans Text"/>
            </a:endParaRPr>
          </a:p>
          <a:p>
            <a:pPr rtl="0"/>
            <a:r>
              <a:rPr lang="en-US" b="1" dirty="0">
                <a:solidFill>
                  <a:srgbClr val="1F1F1F"/>
                </a:solidFill>
                <a:effectLst/>
                <a:latin typeface="Google Sans Text"/>
              </a:rPr>
              <a:t>Chef</a:t>
            </a:r>
            <a:r>
              <a:rPr lang="en-US" sz="1700" dirty="0">
                <a:solidFill>
                  <a:srgbClr val="1F1F1F"/>
                </a:solidFill>
                <a:effectLst/>
                <a:latin typeface="Google Sans Text"/>
              </a:rPr>
              <a:t>: authors of the recipes with basic information: </a:t>
            </a:r>
            <a:r>
              <a:rPr lang="en-US" sz="1700" i="1" dirty="0" err="1">
                <a:solidFill>
                  <a:srgbClr val="1F1F1F"/>
                </a:solidFill>
                <a:effectLst/>
                <a:latin typeface="Google Sans Text"/>
              </a:rPr>
              <a:t>mongo_id</a:t>
            </a:r>
            <a:r>
              <a:rPr lang="en-US" sz="1700" dirty="0">
                <a:solidFill>
                  <a:srgbClr val="1F1F1F"/>
                </a:solidFill>
                <a:effectLst/>
                <a:latin typeface="Google Sans Text"/>
              </a:rPr>
              <a:t>, name and surname.</a:t>
            </a:r>
          </a:p>
          <a:p>
            <a:pPr marL="285750" indent="-285750" rtl="0">
              <a:buFont typeface="Arial" panose="020B0604020202020204" pitchFamily="34" charset="0"/>
              <a:buChar char="•"/>
            </a:pPr>
            <a:endParaRPr lang="en-US" sz="800" dirty="0">
              <a:solidFill>
                <a:srgbClr val="1F1F1F"/>
              </a:solidFill>
              <a:effectLst/>
              <a:latin typeface="Google Sans Text"/>
            </a:endParaRPr>
          </a:p>
          <a:p>
            <a:pPr rtl="0"/>
            <a:r>
              <a:rPr lang="en-US" b="1" dirty="0">
                <a:solidFill>
                  <a:srgbClr val="1F1F1F"/>
                </a:solidFill>
                <a:effectLst/>
                <a:latin typeface="Google Sans Text"/>
              </a:rPr>
              <a:t>Ingredient</a:t>
            </a:r>
            <a:r>
              <a:rPr lang="en-US" sz="1700" dirty="0">
                <a:solidFill>
                  <a:srgbClr val="1F1F1F"/>
                </a:solidFill>
                <a:effectLst/>
                <a:latin typeface="Google Sans Text"/>
              </a:rPr>
              <a:t>: ingredients used in recipes.</a:t>
            </a:r>
          </a:p>
          <a:p>
            <a:pPr marL="285750" indent="-285750" rtl="0">
              <a:buFont typeface="Arial" panose="020B0604020202020204" pitchFamily="34" charset="0"/>
              <a:buChar char="•"/>
            </a:pPr>
            <a:endParaRPr lang="en-US" sz="800" dirty="0">
              <a:solidFill>
                <a:srgbClr val="1F1F1F"/>
              </a:solidFill>
              <a:effectLst/>
              <a:latin typeface="Google Sans Text"/>
            </a:endParaRPr>
          </a:p>
          <a:p>
            <a:pPr rtl="0"/>
            <a:r>
              <a:rPr lang="en-US" b="1" dirty="0">
                <a:solidFill>
                  <a:srgbClr val="1F1F1F"/>
                </a:solidFill>
                <a:effectLst/>
                <a:latin typeface="Google Sans Text"/>
              </a:rPr>
              <a:t>Recipe</a:t>
            </a:r>
            <a:r>
              <a:rPr lang="en-US" sz="1700" dirty="0">
                <a:solidFill>
                  <a:srgbClr val="1F1F1F"/>
                </a:solidFill>
                <a:effectLst/>
                <a:latin typeface="Google Sans Text"/>
              </a:rPr>
              <a:t>: recipes in the system. Each node contains: </a:t>
            </a:r>
            <a:r>
              <a:rPr lang="en-US" sz="1700" i="1" dirty="0" err="1">
                <a:solidFill>
                  <a:srgbClr val="1F1F1F"/>
                </a:solidFill>
                <a:effectLst/>
                <a:latin typeface="Google Sans Text"/>
              </a:rPr>
              <a:t>mongo_id</a:t>
            </a:r>
            <a:r>
              <a:rPr lang="en-US" sz="1700" dirty="0">
                <a:solidFill>
                  <a:srgbClr val="1F1F1F"/>
                </a:solidFill>
                <a:effectLst/>
                <a:latin typeface="Google Sans Text"/>
              </a:rPr>
              <a:t>, title, image URL and category.</a:t>
            </a:r>
          </a:p>
        </p:txBody>
      </p:sp>
      <p:sp>
        <p:nvSpPr>
          <p:cNvPr id="19" name="CasellaDiTesto 18">
            <a:extLst>
              <a:ext uri="{FF2B5EF4-FFF2-40B4-BE49-F238E27FC236}">
                <a16:creationId xmlns:a16="http://schemas.microsoft.com/office/drawing/2014/main" id="{ABA96ED9-9437-B22E-C0B8-B23F7EABC7C0}"/>
              </a:ext>
            </a:extLst>
          </p:cNvPr>
          <p:cNvSpPr txBox="1"/>
          <p:nvPr/>
        </p:nvSpPr>
        <p:spPr>
          <a:xfrm>
            <a:off x="5252647" y="1049215"/>
            <a:ext cx="3544844" cy="3954929"/>
          </a:xfrm>
          <a:prstGeom prst="rect">
            <a:avLst/>
          </a:prstGeom>
          <a:noFill/>
        </p:spPr>
        <p:txBody>
          <a:bodyPr wrap="square">
            <a:spAutoFit/>
          </a:bodyPr>
          <a:lstStyle/>
          <a:p>
            <a:pPr algn="ctr" rtl="0"/>
            <a:r>
              <a:rPr lang="en-US" sz="2200" b="1" i="1" u="sng" dirty="0">
                <a:solidFill>
                  <a:srgbClr val="1F1F1F"/>
                </a:solidFill>
                <a:effectLst/>
                <a:latin typeface="Google Sans Text"/>
              </a:rPr>
              <a:t>Relations</a:t>
            </a:r>
            <a:endParaRPr lang="en-US" sz="1700" b="1" dirty="0">
              <a:solidFill>
                <a:srgbClr val="1F1F1F"/>
              </a:solidFill>
              <a:latin typeface="Google Sans Text"/>
            </a:endParaRPr>
          </a:p>
          <a:p>
            <a:pPr marL="285750" indent="-285750" rtl="0">
              <a:buFont typeface="Arial" panose="020B0604020202020204" pitchFamily="34" charset="0"/>
              <a:buChar char="•"/>
            </a:pPr>
            <a:endParaRPr lang="en-US" sz="800" b="1" dirty="0">
              <a:solidFill>
                <a:srgbClr val="1F1F1F"/>
              </a:solidFill>
              <a:effectLst/>
              <a:latin typeface="Google Sans Text"/>
            </a:endParaRPr>
          </a:p>
          <a:p>
            <a:pPr marL="285750" indent="-285750" rtl="0">
              <a:buFont typeface="Arial" panose="020B0604020202020204" pitchFamily="34" charset="0"/>
              <a:buChar char="•"/>
            </a:pPr>
            <a:r>
              <a:rPr lang="en-US" sz="1700" b="1" dirty="0">
                <a:solidFill>
                  <a:srgbClr val="1F1F1F"/>
                </a:solidFill>
                <a:effectLst/>
                <a:latin typeface="Google Sans Text"/>
              </a:rPr>
              <a:t>:USED_IN</a:t>
            </a:r>
            <a:r>
              <a:rPr lang="en-US" sz="1700" dirty="0">
                <a:solidFill>
                  <a:srgbClr val="1F1F1F"/>
                </a:solidFill>
                <a:effectLst/>
                <a:latin typeface="Google Sans Text"/>
              </a:rPr>
              <a:t>: connects an </a:t>
            </a:r>
            <a:r>
              <a:rPr lang="en-US" sz="1700" i="1" dirty="0">
                <a:solidFill>
                  <a:srgbClr val="1F1F1F"/>
                </a:solidFill>
                <a:effectLst/>
                <a:latin typeface="Google Sans Text"/>
              </a:rPr>
              <a:t>Ingredient</a:t>
            </a:r>
            <a:r>
              <a:rPr lang="en-US" sz="1700" dirty="0">
                <a:solidFill>
                  <a:srgbClr val="1F1F1F"/>
                </a:solidFill>
                <a:effectLst/>
                <a:latin typeface="Google Sans Text"/>
              </a:rPr>
              <a:t> to a </a:t>
            </a:r>
            <a:r>
              <a:rPr lang="en-US" sz="1700" i="1" dirty="0">
                <a:solidFill>
                  <a:srgbClr val="1F1F1F"/>
                </a:solidFill>
                <a:effectLst/>
                <a:latin typeface="Google Sans Text"/>
              </a:rPr>
              <a:t>Recipe</a:t>
            </a:r>
            <a:r>
              <a:rPr lang="en-US" sz="1700" dirty="0">
                <a:solidFill>
                  <a:srgbClr val="1F1F1F"/>
                </a:solidFill>
                <a:effectLst/>
                <a:latin typeface="Google Sans Text"/>
              </a:rPr>
              <a:t>, representing which ingredients are used in a given recipe.</a:t>
            </a:r>
          </a:p>
          <a:p>
            <a:pPr marL="285750" indent="-285750">
              <a:buFont typeface="Arial" panose="020B0604020202020204" pitchFamily="34" charset="0"/>
              <a:buChar char="•"/>
            </a:pPr>
            <a:r>
              <a:rPr lang="en-US" sz="1700" b="1" dirty="0">
                <a:solidFill>
                  <a:srgbClr val="1F1F1F"/>
                </a:solidFill>
                <a:latin typeface="Google Sans Text"/>
              </a:rPr>
              <a:t>:USES</a:t>
            </a:r>
            <a:r>
              <a:rPr lang="en-US" sz="1700" dirty="0">
                <a:solidFill>
                  <a:srgbClr val="1F1F1F"/>
                </a:solidFill>
                <a:latin typeface="Google Sans Text"/>
              </a:rPr>
              <a:t>: connects a recipe to an ingredient, is the inverse of USED_IN</a:t>
            </a:r>
            <a:endParaRPr lang="en-US" sz="1700" dirty="0">
              <a:solidFill>
                <a:srgbClr val="1F1F1F"/>
              </a:solidFill>
              <a:effectLst/>
              <a:latin typeface="Google Sans Text"/>
            </a:endParaRPr>
          </a:p>
          <a:p>
            <a:pPr marL="285750" indent="-285750" rtl="0">
              <a:buFont typeface="Arial" panose="020B0604020202020204" pitchFamily="34" charset="0"/>
              <a:buChar char="•"/>
            </a:pPr>
            <a:r>
              <a:rPr lang="en-US" sz="1700" b="1" dirty="0">
                <a:solidFill>
                  <a:srgbClr val="1F1F1F"/>
                </a:solidFill>
                <a:latin typeface="Google Sans Text"/>
              </a:rPr>
              <a:t>:</a:t>
            </a:r>
            <a:r>
              <a:rPr lang="en-US" sz="1700" b="1" dirty="0">
                <a:solidFill>
                  <a:srgbClr val="1F1F1F"/>
                </a:solidFill>
                <a:effectLst/>
                <a:latin typeface="Google Sans Text"/>
              </a:rPr>
              <a:t>WRITTEN_BY</a:t>
            </a:r>
            <a:r>
              <a:rPr lang="en-US" sz="1700" dirty="0">
                <a:solidFill>
                  <a:srgbClr val="1F1F1F"/>
                </a:solidFill>
                <a:effectLst/>
                <a:latin typeface="Google Sans Text"/>
              </a:rPr>
              <a:t>: connects a </a:t>
            </a:r>
            <a:r>
              <a:rPr lang="en-US" sz="1700" i="1" dirty="0">
                <a:solidFill>
                  <a:srgbClr val="1F1F1F"/>
                </a:solidFill>
                <a:effectLst/>
                <a:latin typeface="Google Sans Text"/>
              </a:rPr>
              <a:t>Recipe</a:t>
            </a:r>
            <a:r>
              <a:rPr lang="en-US" sz="1700" dirty="0">
                <a:solidFill>
                  <a:srgbClr val="1F1F1F"/>
                </a:solidFill>
                <a:effectLst/>
                <a:latin typeface="Google Sans Text"/>
              </a:rPr>
              <a:t> to a </a:t>
            </a:r>
            <a:r>
              <a:rPr lang="en-US" sz="1700" i="1" dirty="0">
                <a:solidFill>
                  <a:srgbClr val="1F1F1F"/>
                </a:solidFill>
                <a:effectLst/>
                <a:latin typeface="Google Sans Text"/>
              </a:rPr>
              <a:t>Chef</a:t>
            </a:r>
            <a:r>
              <a:rPr lang="en-US" sz="1700" dirty="0">
                <a:solidFill>
                  <a:srgbClr val="1F1F1F"/>
                </a:solidFill>
                <a:effectLst/>
                <a:latin typeface="Google Sans Text"/>
              </a:rPr>
              <a:t>, representing the author of the recipe.</a:t>
            </a:r>
          </a:p>
          <a:p>
            <a:pPr marL="285750" indent="-285750" rtl="0">
              <a:buFont typeface="Arial" panose="020B0604020202020204" pitchFamily="34" charset="0"/>
              <a:buChar char="•"/>
            </a:pPr>
            <a:r>
              <a:rPr lang="en-US" sz="1700" b="1" dirty="0">
                <a:solidFill>
                  <a:srgbClr val="1F1F1F"/>
                </a:solidFill>
                <a:effectLst/>
                <a:latin typeface="Google Sans Text"/>
              </a:rPr>
              <a:t>:WROTE</a:t>
            </a:r>
            <a:r>
              <a:rPr lang="en-US" sz="1700" dirty="0">
                <a:solidFill>
                  <a:srgbClr val="1F1F1F"/>
                </a:solidFill>
                <a:effectLst/>
                <a:latin typeface="Google Sans Text"/>
              </a:rPr>
              <a:t>: connects a </a:t>
            </a:r>
            <a:r>
              <a:rPr lang="en-US" sz="1700" i="1" dirty="0">
                <a:solidFill>
                  <a:srgbClr val="1F1F1F"/>
                </a:solidFill>
                <a:effectLst/>
                <a:latin typeface="Google Sans Text"/>
              </a:rPr>
              <a:t>Chef</a:t>
            </a:r>
            <a:r>
              <a:rPr lang="en-US" sz="1700" dirty="0">
                <a:solidFill>
                  <a:srgbClr val="1F1F1F"/>
                </a:solidFill>
                <a:effectLst/>
                <a:latin typeface="Google Sans Text"/>
              </a:rPr>
              <a:t> to a </a:t>
            </a:r>
            <a:r>
              <a:rPr lang="en-US" sz="1700" i="1" dirty="0">
                <a:solidFill>
                  <a:srgbClr val="1F1F1F"/>
                </a:solidFill>
                <a:effectLst/>
                <a:latin typeface="Google Sans Text"/>
              </a:rPr>
              <a:t>Recipe</a:t>
            </a:r>
            <a:r>
              <a:rPr lang="en-US" sz="1700" dirty="0">
                <a:solidFill>
                  <a:srgbClr val="1F1F1F"/>
                </a:solidFill>
                <a:effectLst/>
                <a:latin typeface="Google Sans Text"/>
              </a:rPr>
              <a:t>. Is the inverse navigation of </a:t>
            </a:r>
            <a:r>
              <a:rPr lang="en-US" sz="1700" i="1" dirty="0">
                <a:solidFill>
                  <a:srgbClr val="1F1F1F"/>
                </a:solidFill>
                <a:effectLst/>
                <a:latin typeface="Google Sans Text"/>
              </a:rPr>
              <a:t>:WRITTEN_BY</a:t>
            </a:r>
            <a:endParaRPr lang="en-US" sz="1700" i="1" dirty="0">
              <a:solidFill>
                <a:srgbClr val="1F1F1F"/>
              </a:solidFill>
              <a:latin typeface="Google Sans Text"/>
            </a:endParaRPr>
          </a:p>
        </p:txBody>
      </p:sp>
      <p:pic>
        <p:nvPicPr>
          <p:cNvPr id="5" name="Immagine 6">
            <a:extLst>
              <a:ext uri="{FF2B5EF4-FFF2-40B4-BE49-F238E27FC236}">
                <a16:creationId xmlns:a16="http://schemas.microsoft.com/office/drawing/2014/main" id="{C4C2DBB6-EAE5-630C-A478-96C5EBFD8137}"/>
              </a:ext>
            </a:extLst>
          </p:cNvPr>
          <p:cNvPicPr>
            <a:picLocks noChangeAspect="1"/>
          </p:cNvPicPr>
          <p:nvPr/>
        </p:nvPicPr>
        <p:blipFill>
          <a:blip r:embed="rId3"/>
          <a:stretch>
            <a:fillRect/>
          </a:stretch>
        </p:blipFill>
        <p:spPr>
          <a:xfrm>
            <a:off x="871244" y="3316686"/>
            <a:ext cx="3700755" cy="2686690"/>
          </a:xfrm>
          <a:prstGeom prst="rect">
            <a:avLst/>
          </a:prstGeom>
        </p:spPr>
      </p:pic>
    </p:spTree>
    <p:extLst>
      <p:ext uri="{BB962C8B-B14F-4D97-AF65-F5344CB8AC3E}">
        <p14:creationId xmlns:p14="http://schemas.microsoft.com/office/powerpoint/2010/main" val="36490938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4E32C-D3C1-2827-4F5B-B7DD0050932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12D5E43-9D3E-7737-9817-95AAAE30B0C5}"/>
              </a:ext>
            </a:extLst>
          </p:cNvPr>
          <p:cNvSpPr>
            <a:spLocks noGrp="1"/>
          </p:cNvSpPr>
          <p:nvPr>
            <p:ph type="title"/>
          </p:nvPr>
        </p:nvSpPr>
        <p:spPr/>
        <p:txBody>
          <a:bodyPr>
            <a:normAutofit/>
          </a:bodyPr>
          <a:lstStyle/>
          <a:p>
            <a:r>
              <a:rPr lang="en-US"/>
              <a:t>Graph DB Design</a:t>
            </a:r>
          </a:p>
        </p:txBody>
      </p:sp>
      <p:pic>
        <p:nvPicPr>
          <p:cNvPr id="13" name="Immagine 12">
            <a:extLst>
              <a:ext uri="{FF2B5EF4-FFF2-40B4-BE49-F238E27FC236}">
                <a16:creationId xmlns:a16="http://schemas.microsoft.com/office/drawing/2014/main" id="{2250CF29-00BB-775F-3A3A-D6B633C015A6}"/>
              </a:ext>
            </a:extLst>
          </p:cNvPr>
          <p:cNvPicPr>
            <a:picLocks noChangeAspect="1"/>
          </p:cNvPicPr>
          <p:nvPr/>
        </p:nvPicPr>
        <p:blipFill>
          <a:blip r:embed="rId3"/>
          <a:stretch>
            <a:fillRect/>
          </a:stretch>
        </p:blipFill>
        <p:spPr>
          <a:xfrm>
            <a:off x="1311961" y="1047184"/>
            <a:ext cx="6503356" cy="5070051"/>
          </a:xfrm>
          <a:prstGeom prst="rect">
            <a:avLst/>
          </a:prstGeom>
        </p:spPr>
      </p:pic>
    </p:spTree>
    <p:extLst>
      <p:ext uri="{BB962C8B-B14F-4D97-AF65-F5344CB8AC3E}">
        <p14:creationId xmlns:p14="http://schemas.microsoft.com/office/powerpoint/2010/main" val="12160831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D554C-E028-FBBD-B1BD-4A2C51718A7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7D4B274-F766-1163-92D4-E497BBA777B5}"/>
              </a:ext>
            </a:extLst>
          </p:cNvPr>
          <p:cNvSpPr>
            <a:spLocks noGrp="1"/>
          </p:cNvSpPr>
          <p:nvPr>
            <p:ph type="title"/>
          </p:nvPr>
        </p:nvSpPr>
        <p:spPr>
          <a:xfrm>
            <a:off x="182741" y="0"/>
            <a:ext cx="8761797" cy="1143000"/>
          </a:xfrm>
        </p:spPr>
        <p:txBody>
          <a:bodyPr>
            <a:normAutofit/>
          </a:bodyPr>
          <a:lstStyle/>
          <a:p>
            <a:r>
              <a:rPr lang="en-US"/>
              <a:t>Relevant Neo4j queries</a:t>
            </a:r>
          </a:p>
        </p:txBody>
      </p:sp>
      <p:sp>
        <p:nvSpPr>
          <p:cNvPr id="4" name="CasellaDiTesto 3">
            <a:extLst>
              <a:ext uri="{FF2B5EF4-FFF2-40B4-BE49-F238E27FC236}">
                <a16:creationId xmlns:a16="http://schemas.microsoft.com/office/drawing/2014/main" id="{A044305D-74BB-A64B-0F82-72657EC75826}"/>
              </a:ext>
            </a:extLst>
          </p:cNvPr>
          <p:cNvSpPr txBox="1"/>
          <p:nvPr/>
        </p:nvSpPr>
        <p:spPr>
          <a:xfrm>
            <a:off x="257213" y="1062652"/>
            <a:ext cx="3939476" cy="400110"/>
          </a:xfrm>
          <a:prstGeom prst="rect">
            <a:avLst/>
          </a:prstGeom>
          <a:noFill/>
        </p:spPr>
        <p:txBody>
          <a:bodyPr wrap="none" rtlCol="0">
            <a:spAutoFit/>
          </a:bodyPr>
          <a:lstStyle/>
          <a:p>
            <a:r>
              <a:rPr lang="it-IT" sz="2000" b="1" i="1" u="sng" err="1"/>
              <a:t>Similar</a:t>
            </a:r>
            <a:r>
              <a:rPr lang="it-IT" sz="2000" b="1" i="1" u="sng"/>
              <a:t> Chefs by </a:t>
            </a:r>
            <a:r>
              <a:rPr lang="it-IT" sz="2000" b="1" i="1" u="sng" err="1"/>
              <a:t>Shared</a:t>
            </a:r>
            <a:r>
              <a:rPr lang="it-IT" sz="2000" b="1" i="1" u="sng"/>
              <a:t> </a:t>
            </a:r>
            <a:r>
              <a:rPr lang="it-IT" sz="2000" b="1" i="1" u="sng" err="1"/>
              <a:t>Ingredients</a:t>
            </a:r>
            <a:endParaRPr lang="it-IT" sz="2000" b="1" i="1" u="sng"/>
          </a:p>
        </p:txBody>
      </p:sp>
      <p:sp>
        <p:nvSpPr>
          <p:cNvPr id="5" name="CasellaDiTesto 4">
            <a:extLst>
              <a:ext uri="{FF2B5EF4-FFF2-40B4-BE49-F238E27FC236}">
                <a16:creationId xmlns:a16="http://schemas.microsoft.com/office/drawing/2014/main" id="{71593A18-FEC6-CE67-87F2-4C33349EB5D7}"/>
              </a:ext>
            </a:extLst>
          </p:cNvPr>
          <p:cNvSpPr txBox="1"/>
          <p:nvPr/>
        </p:nvSpPr>
        <p:spPr>
          <a:xfrm>
            <a:off x="5060515" y="5423770"/>
            <a:ext cx="184731" cy="369332"/>
          </a:xfrm>
          <a:prstGeom prst="rect">
            <a:avLst/>
          </a:prstGeom>
          <a:noFill/>
        </p:spPr>
        <p:txBody>
          <a:bodyPr wrap="none" rtlCol="0">
            <a:spAutoFit/>
          </a:bodyPr>
          <a:lstStyle/>
          <a:p>
            <a:endParaRPr lang="it-IT"/>
          </a:p>
        </p:txBody>
      </p:sp>
      <p:sp>
        <p:nvSpPr>
          <p:cNvPr id="7" name="CasellaDiTesto 6">
            <a:extLst>
              <a:ext uri="{FF2B5EF4-FFF2-40B4-BE49-F238E27FC236}">
                <a16:creationId xmlns:a16="http://schemas.microsoft.com/office/drawing/2014/main" id="{5A15E571-796A-756E-4757-607B81DD80BD}"/>
              </a:ext>
            </a:extLst>
          </p:cNvPr>
          <p:cNvSpPr txBox="1"/>
          <p:nvPr/>
        </p:nvSpPr>
        <p:spPr>
          <a:xfrm>
            <a:off x="4852255" y="2431615"/>
            <a:ext cx="184731" cy="369332"/>
          </a:xfrm>
          <a:prstGeom prst="rect">
            <a:avLst/>
          </a:prstGeom>
          <a:noFill/>
        </p:spPr>
        <p:txBody>
          <a:bodyPr wrap="none" rtlCol="0">
            <a:spAutoFit/>
          </a:bodyPr>
          <a:lstStyle/>
          <a:p>
            <a:endParaRPr lang="it-IT"/>
          </a:p>
        </p:txBody>
      </p:sp>
      <p:pic>
        <p:nvPicPr>
          <p:cNvPr id="13" name="Immagine 12">
            <a:extLst>
              <a:ext uri="{FF2B5EF4-FFF2-40B4-BE49-F238E27FC236}">
                <a16:creationId xmlns:a16="http://schemas.microsoft.com/office/drawing/2014/main" id="{79FDE27C-EAC0-DE88-8598-3DDFF7C2E1A0}"/>
              </a:ext>
            </a:extLst>
          </p:cNvPr>
          <p:cNvPicPr>
            <a:picLocks noChangeAspect="1"/>
          </p:cNvPicPr>
          <p:nvPr/>
        </p:nvPicPr>
        <p:blipFill>
          <a:blip r:embed="rId2"/>
          <a:stretch>
            <a:fillRect/>
          </a:stretch>
        </p:blipFill>
        <p:spPr>
          <a:xfrm>
            <a:off x="370130" y="1686274"/>
            <a:ext cx="8574408" cy="2834926"/>
          </a:xfrm>
          <a:prstGeom prst="rect">
            <a:avLst/>
          </a:prstGeom>
        </p:spPr>
      </p:pic>
      <p:sp>
        <p:nvSpPr>
          <p:cNvPr id="6" name="Rettangolo 5">
            <a:extLst>
              <a:ext uri="{FF2B5EF4-FFF2-40B4-BE49-F238E27FC236}">
                <a16:creationId xmlns:a16="http://schemas.microsoft.com/office/drawing/2014/main" id="{A5347357-7DF3-4CEA-1108-0461F2FF5C5E}"/>
              </a:ext>
            </a:extLst>
          </p:cNvPr>
          <p:cNvSpPr/>
          <p:nvPr/>
        </p:nvSpPr>
        <p:spPr>
          <a:xfrm>
            <a:off x="6682316" y="4210180"/>
            <a:ext cx="1642533" cy="311020"/>
          </a:xfrm>
          <a:prstGeom prst="rect">
            <a:avLst/>
          </a:prstGeom>
          <a:solidFill>
            <a:schemeClr val="bg1"/>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it-IT"/>
          </a:p>
        </p:txBody>
      </p:sp>
      <p:sp>
        <p:nvSpPr>
          <p:cNvPr id="8" name="TextBox 7">
            <a:extLst>
              <a:ext uri="{FF2B5EF4-FFF2-40B4-BE49-F238E27FC236}">
                <a16:creationId xmlns:a16="http://schemas.microsoft.com/office/drawing/2014/main" id="{01554AC9-F2F8-CE4B-A6FD-55A5F6946DC5}"/>
              </a:ext>
            </a:extLst>
          </p:cNvPr>
          <p:cNvSpPr txBox="1"/>
          <p:nvPr/>
        </p:nvSpPr>
        <p:spPr>
          <a:xfrm>
            <a:off x="1716890" y="4879338"/>
            <a:ext cx="5710219" cy="584775"/>
          </a:xfrm>
          <a:prstGeom prst="rect">
            <a:avLst/>
          </a:prstGeom>
          <a:noFill/>
        </p:spPr>
        <p:txBody>
          <a:bodyPr wrap="square">
            <a:spAutoFit/>
          </a:bodyPr>
          <a:lstStyle/>
          <a:p>
            <a:pPr algn="ctr"/>
            <a:r>
              <a:rPr lang="it-IT" sz="1600" dirty="0" err="1"/>
              <a:t>Identifies</a:t>
            </a:r>
            <a:r>
              <a:rPr lang="it-IT" sz="1600" dirty="0"/>
              <a:t> most </a:t>
            </a:r>
            <a:r>
              <a:rPr lang="it-IT" sz="1600" dirty="0" err="1"/>
              <a:t>similar</a:t>
            </a:r>
            <a:r>
              <a:rPr lang="it-IT" sz="1600" dirty="0"/>
              <a:t> chefs  by </a:t>
            </a:r>
            <a:r>
              <a:rPr lang="it-IT" sz="1600" dirty="0" err="1"/>
              <a:t>analyzing</a:t>
            </a:r>
            <a:r>
              <a:rPr lang="it-IT" sz="1600" dirty="0"/>
              <a:t> </a:t>
            </a:r>
            <a:r>
              <a:rPr lang="it-IT" sz="1600" dirty="0" err="1"/>
              <a:t>shared</a:t>
            </a:r>
            <a:r>
              <a:rPr lang="it-IT" sz="1600" dirty="0"/>
              <a:t> </a:t>
            </a:r>
            <a:r>
              <a:rPr lang="it-IT" sz="1600" dirty="0" err="1"/>
              <a:t>specialized</a:t>
            </a:r>
            <a:r>
              <a:rPr lang="it-IT" sz="1600" dirty="0"/>
              <a:t> </a:t>
            </a:r>
            <a:r>
              <a:rPr lang="it-IT" sz="1600" dirty="0" err="1"/>
              <a:t>ingredients</a:t>
            </a:r>
            <a:r>
              <a:rPr lang="it-IT" sz="1600" dirty="0"/>
              <a:t> </a:t>
            </a:r>
            <a:r>
              <a:rPr lang="it-IT" sz="1600" dirty="0" err="1"/>
              <a:t>within</a:t>
            </a:r>
            <a:r>
              <a:rPr lang="it-IT" sz="1600" dirty="0"/>
              <a:t> matching recipe </a:t>
            </a:r>
            <a:r>
              <a:rPr lang="it-IT" sz="1600" dirty="0" err="1"/>
              <a:t>categories</a:t>
            </a:r>
            <a:r>
              <a:rPr lang="it-IT" sz="1600" dirty="0"/>
              <a:t>.</a:t>
            </a:r>
          </a:p>
        </p:txBody>
      </p:sp>
    </p:spTree>
    <p:extLst>
      <p:ext uri="{BB962C8B-B14F-4D97-AF65-F5344CB8AC3E}">
        <p14:creationId xmlns:p14="http://schemas.microsoft.com/office/powerpoint/2010/main" val="20192201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20A1B-0156-0717-56BD-7597EA8DDA6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5BA8186-2827-4E11-3889-7F3F81C586BF}"/>
              </a:ext>
            </a:extLst>
          </p:cNvPr>
          <p:cNvSpPr>
            <a:spLocks noGrp="1"/>
          </p:cNvSpPr>
          <p:nvPr>
            <p:ph type="title"/>
          </p:nvPr>
        </p:nvSpPr>
        <p:spPr>
          <a:xfrm>
            <a:off x="182741" y="184765"/>
            <a:ext cx="8761797" cy="1143000"/>
          </a:xfrm>
        </p:spPr>
        <p:txBody>
          <a:bodyPr>
            <a:normAutofit/>
          </a:bodyPr>
          <a:lstStyle/>
          <a:p>
            <a:r>
              <a:rPr lang="en-US"/>
              <a:t>Relevant Neo4j queries</a:t>
            </a:r>
          </a:p>
        </p:txBody>
      </p:sp>
      <p:sp>
        <p:nvSpPr>
          <p:cNvPr id="5" name="CasellaDiTesto 4">
            <a:extLst>
              <a:ext uri="{FF2B5EF4-FFF2-40B4-BE49-F238E27FC236}">
                <a16:creationId xmlns:a16="http://schemas.microsoft.com/office/drawing/2014/main" id="{775F9BFE-B2FC-610D-75AF-3A40537B8E6D}"/>
              </a:ext>
            </a:extLst>
          </p:cNvPr>
          <p:cNvSpPr txBox="1"/>
          <p:nvPr/>
        </p:nvSpPr>
        <p:spPr>
          <a:xfrm>
            <a:off x="5077236" y="4418854"/>
            <a:ext cx="184731" cy="369332"/>
          </a:xfrm>
          <a:prstGeom prst="rect">
            <a:avLst/>
          </a:prstGeom>
          <a:noFill/>
        </p:spPr>
        <p:txBody>
          <a:bodyPr wrap="square" rtlCol="0">
            <a:spAutoFit/>
          </a:bodyPr>
          <a:lstStyle/>
          <a:p>
            <a:endParaRPr lang="it-IT"/>
          </a:p>
        </p:txBody>
      </p:sp>
      <p:sp>
        <p:nvSpPr>
          <p:cNvPr id="10" name="CasellaDiTesto 9">
            <a:extLst>
              <a:ext uri="{FF2B5EF4-FFF2-40B4-BE49-F238E27FC236}">
                <a16:creationId xmlns:a16="http://schemas.microsoft.com/office/drawing/2014/main" id="{09EF5AC9-49F6-26F0-FDE1-A4FF215CAEB8}"/>
              </a:ext>
            </a:extLst>
          </p:cNvPr>
          <p:cNvSpPr txBox="1"/>
          <p:nvPr/>
        </p:nvSpPr>
        <p:spPr>
          <a:xfrm>
            <a:off x="199462" y="1327765"/>
            <a:ext cx="4572000" cy="369332"/>
          </a:xfrm>
          <a:prstGeom prst="rect">
            <a:avLst/>
          </a:prstGeom>
          <a:noFill/>
        </p:spPr>
        <p:txBody>
          <a:bodyPr wrap="square">
            <a:spAutoFit/>
          </a:bodyPr>
          <a:lstStyle/>
          <a:p>
            <a:r>
              <a:rPr lang="it-IT" sz="1800" b="1" i="1" u="sng" dirty="0" err="1"/>
              <a:t>Suggested</a:t>
            </a:r>
            <a:r>
              <a:rPr lang="it-IT" sz="1800" b="1" i="1" u="sng" dirty="0"/>
              <a:t> Complementary </a:t>
            </a:r>
            <a:r>
              <a:rPr lang="it-IT" sz="1800" b="1" i="1" u="sng" dirty="0" err="1"/>
              <a:t>Ingredients</a:t>
            </a:r>
            <a:endParaRPr lang="it-IT" sz="1800" b="1" i="1" u="sng" dirty="0"/>
          </a:p>
        </p:txBody>
      </p:sp>
      <p:pic>
        <p:nvPicPr>
          <p:cNvPr id="11" name="Immagine 10">
            <a:extLst>
              <a:ext uri="{FF2B5EF4-FFF2-40B4-BE49-F238E27FC236}">
                <a16:creationId xmlns:a16="http://schemas.microsoft.com/office/drawing/2014/main" id="{E18020A9-4474-F77B-1273-1E05671220B0}"/>
              </a:ext>
            </a:extLst>
          </p:cNvPr>
          <p:cNvPicPr>
            <a:picLocks noChangeAspect="1"/>
          </p:cNvPicPr>
          <p:nvPr/>
        </p:nvPicPr>
        <p:blipFill>
          <a:blip r:embed="rId2"/>
          <a:stretch>
            <a:fillRect/>
          </a:stretch>
        </p:blipFill>
        <p:spPr>
          <a:xfrm>
            <a:off x="290145" y="1870099"/>
            <a:ext cx="8445550" cy="2111387"/>
          </a:xfrm>
          <a:prstGeom prst="rect">
            <a:avLst/>
          </a:prstGeom>
        </p:spPr>
      </p:pic>
      <p:sp>
        <p:nvSpPr>
          <p:cNvPr id="6" name="Rettangolo 5">
            <a:extLst>
              <a:ext uri="{FF2B5EF4-FFF2-40B4-BE49-F238E27FC236}">
                <a16:creationId xmlns:a16="http://schemas.microsoft.com/office/drawing/2014/main" id="{59B31D90-8F55-F335-3EC7-4250072BC418}"/>
              </a:ext>
            </a:extLst>
          </p:cNvPr>
          <p:cNvSpPr/>
          <p:nvPr/>
        </p:nvSpPr>
        <p:spPr>
          <a:xfrm flipV="1">
            <a:off x="7102798" y="1860806"/>
            <a:ext cx="1751057" cy="378824"/>
          </a:xfrm>
          <a:prstGeom prst="rect">
            <a:avLst/>
          </a:prstGeom>
          <a:solidFill>
            <a:schemeClr val="bg1"/>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it-IT"/>
          </a:p>
        </p:txBody>
      </p:sp>
      <p:sp>
        <p:nvSpPr>
          <p:cNvPr id="8" name="Rettangolo 7">
            <a:extLst>
              <a:ext uri="{FF2B5EF4-FFF2-40B4-BE49-F238E27FC236}">
                <a16:creationId xmlns:a16="http://schemas.microsoft.com/office/drawing/2014/main" id="{B7D8C438-5789-89F6-9363-AE2D733FB5E0}"/>
              </a:ext>
            </a:extLst>
          </p:cNvPr>
          <p:cNvSpPr/>
          <p:nvPr/>
        </p:nvSpPr>
        <p:spPr>
          <a:xfrm flipV="1">
            <a:off x="8317651" y="3779319"/>
            <a:ext cx="729154" cy="378824"/>
          </a:xfrm>
          <a:prstGeom prst="rect">
            <a:avLst/>
          </a:prstGeom>
          <a:solidFill>
            <a:schemeClr val="bg1"/>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it-IT"/>
          </a:p>
        </p:txBody>
      </p:sp>
      <p:sp>
        <p:nvSpPr>
          <p:cNvPr id="12" name="TextBox 11">
            <a:extLst>
              <a:ext uri="{FF2B5EF4-FFF2-40B4-BE49-F238E27FC236}">
                <a16:creationId xmlns:a16="http://schemas.microsoft.com/office/drawing/2014/main" id="{21EF2429-4638-D2A3-2A62-4ABE7AEC2698}"/>
              </a:ext>
            </a:extLst>
          </p:cNvPr>
          <p:cNvSpPr txBox="1"/>
          <p:nvPr/>
        </p:nvSpPr>
        <p:spPr>
          <a:xfrm>
            <a:off x="1321129" y="4188021"/>
            <a:ext cx="6501741" cy="830997"/>
          </a:xfrm>
          <a:prstGeom prst="rect">
            <a:avLst/>
          </a:prstGeom>
          <a:noFill/>
        </p:spPr>
        <p:txBody>
          <a:bodyPr wrap="square">
            <a:spAutoFit/>
          </a:bodyPr>
          <a:lstStyle/>
          <a:p>
            <a:pPr algn="ctr"/>
            <a:r>
              <a:rPr lang="it-IT" sz="1600" err="1"/>
              <a:t>Recommends</a:t>
            </a:r>
            <a:r>
              <a:rPr lang="it-IT" sz="1600"/>
              <a:t> </a:t>
            </a:r>
            <a:r>
              <a:rPr lang="it-IT" sz="1600" err="1"/>
              <a:t>complementary</a:t>
            </a:r>
            <a:r>
              <a:rPr lang="it-IT" sz="1600"/>
              <a:t> </a:t>
            </a:r>
            <a:r>
              <a:rPr lang="it-IT" sz="1600" err="1"/>
              <a:t>ingredients</a:t>
            </a:r>
            <a:r>
              <a:rPr lang="it-IT" sz="1600"/>
              <a:t> by </a:t>
            </a:r>
            <a:r>
              <a:rPr lang="it-IT" sz="1600" err="1"/>
              <a:t>finding</a:t>
            </a:r>
            <a:r>
              <a:rPr lang="it-IT" sz="1600"/>
              <a:t> the </a:t>
            </a:r>
            <a:r>
              <a:rPr lang="it-IT" sz="1600" err="1"/>
              <a:t>ones</a:t>
            </a:r>
            <a:r>
              <a:rPr lang="it-IT" sz="1600"/>
              <a:t> </a:t>
            </a:r>
            <a:r>
              <a:rPr lang="it-IT" sz="1600" err="1"/>
              <a:t>most</a:t>
            </a:r>
            <a:r>
              <a:rPr lang="it-IT" sz="1600"/>
              <a:t> </a:t>
            </a:r>
            <a:r>
              <a:rPr lang="it-IT" sz="1600" err="1"/>
              <a:t>frequently</a:t>
            </a:r>
            <a:r>
              <a:rPr lang="it-IT" sz="1600"/>
              <a:t> </a:t>
            </a:r>
            <a:r>
              <a:rPr lang="it-IT" sz="1600" err="1"/>
              <a:t>paired</a:t>
            </a:r>
            <a:r>
              <a:rPr lang="it-IT" sz="1600"/>
              <a:t> with the </a:t>
            </a:r>
            <a:r>
              <a:rPr lang="it-IT" sz="1600" err="1"/>
              <a:t>user's</a:t>
            </a:r>
            <a:r>
              <a:rPr lang="it-IT" sz="1600"/>
              <a:t> </a:t>
            </a:r>
            <a:r>
              <a:rPr lang="it-IT" sz="1600" err="1"/>
              <a:t>current</a:t>
            </a:r>
            <a:r>
              <a:rPr lang="it-IT" sz="1600"/>
              <a:t> shopping list, filtering out the list </a:t>
            </a:r>
            <a:r>
              <a:rPr lang="it-IT" sz="1600" err="1"/>
              <a:t>itself</a:t>
            </a:r>
            <a:r>
              <a:rPr lang="it-IT" sz="1600"/>
              <a:t>  and </a:t>
            </a:r>
            <a:r>
              <a:rPr lang="it-IT" sz="1600" err="1"/>
              <a:t>most</a:t>
            </a:r>
            <a:r>
              <a:rPr lang="it-IT" sz="1600"/>
              <a:t> common </a:t>
            </a:r>
            <a:r>
              <a:rPr lang="it-IT" sz="1600" err="1"/>
              <a:t>ingredients</a:t>
            </a:r>
            <a:endParaRPr lang="it-IT" sz="1600"/>
          </a:p>
        </p:txBody>
      </p:sp>
    </p:spTree>
    <p:extLst>
      <p:ext uri="{BB962C8B-B14F-4D97-AF65-F5344CB8AC3E}">
        <p14:creationId xmlns:p14="http://schemas.microsoft.com/office/powerpoint/2010/main" val="37152763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281F9-A8DA-9FB4-8A75-4EEF64DDF94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5853D74-C0CD-0831-90FD-50FBA07C5EA5}"/>
              </a:ext>
            </a:extLst>
          </p:cNvPr>
          <p:cNvSpPr>
            <a:spLocks noGrp="1"/>
          </p:cNvSpPr>
          <p:nvPr>
            <p:ph type="title"/>
          </p:nvPr>
        </p:nvSpPr>
        <p:spPr/>
        <p:txBody>
          <a:bodyPr>
            <a:normAutofit/>
          </a:bodyPr>
          <a:lstStyle/>
          <a:p>
            <a:r>
              <a:rPr lang="en-US"/>
              <a:t>Relevant Neo4j queries</a:t>
            </a:r>
          </a:p>
        </p:txBody>
      </p:sp>
      <p:sp>
        <p:nvSpPr>
          <p:cNvPr id="5" name="CasellaDiTesto 4">
            <a:extLst>
              <a:ext uri="{FF2B5EF4-FFF2-40B4-BE49-F238E27FC236}">
                <a16:creationId xmlns:a16="http://schemas.microsoft.com/office/drawing/2014/main" id="{A658A6C7-85C1-B83E-D9F8-85C3B0502BAC}"/>
              </a:ext>
            </a:extLst>
          </p:cNvPr>
          <p:cNvSpPr txBox="1"/>
          <p:nvPr/>
        </p:nvSpPr>
        <p:spPr>
          <a:xfrm>
            <a:off x="372073" y="1076170"/>
            <a:ext cx="1788695" cy="400110"/>
          </a:xfrm>
          <a:prstGeom prst="rect">
            <a:avLst/>
          </a:prstGeom>
          <a:noFill/>
        </p:spPr>
        <p:txBody>
          <a:bodyPr wrap="none" rtlCol="0">
            <a:spAutoFit/>
          </a:bodyPr>
          <a:lstStyle/>
          <a:p>
            <a:r>
              <a:rPr lang="it-IT" sz="2000" b="1" i="1" u="sng" err="1"/>
              <a:t>Similar</a:t>
            </a:r>
            <a:r>
              <a:rPr lang="it-IT" sz="2000" b="1" i="1" u="sng"/>
              <a:t> </a:t>
            </a:r>
            <a:r>
              <a:rPr lang="it-IT" sz="2000" b="1" i="1" u="sng" err="1"/>
              <a:t>Recipes</a:t>
            </a:r>
            <a:endParaRPr lang="it-IT" sz="2000" b="1" i="1" u="sng"/>
          </a:p>
        </p:txBody>
      </p:sp>
      <p:sp>
        <p:nvSpPr>
          <p:cNvPr id="7" name="CasellaDiTesto 6">
            <a:extLst>
              <a:ext uri="{FF2B5EF4-FFF2-40B4-BE49-F238E27FC236}">
                <a16:creationId xmlns:a16="http://schemas.microsoft.com/office/drawing/2014/main" id="{A5CFB0F2-4317-11C8-D1A1-AD0EACAC122E}"/>
              </a:ext>
            </a:extLst>
          </p:cNvPr>
          <p:cNvSpPr txBox="1"/>
          <p:nvPr/>
        </p:nvSpPr>
        <p:spPr>
          <a:xfrm>
            <a:off x="4852255" y="2431615"/>
            <a:ext cx="184731" cy="369332"/>
          </a:xfrm>
          <a:prstGeom prst="rect">
            <a:avLst/>
          </a:prstGeom>
          <a:noFill/>
        </p:spPr>
        <p:txBody>
          <a:bodyPr wrap="none" rtlCol="0">
            <a:spAutoFit/>
          </a:bodyPr>
          <a:lstStyle/>
          <a:p>
            <a:endParaRPr lang="it-IT"/>
          </a:p>
        </p:txBody>
      </p:sp>
      <p:pic>
        <p:nvPicPr>
          <p:cNvPr id="4" name="Immagine 3">
            <a:extLst>
              <a:ext uri="{FF2B5EF4-FFF2-40B4-BE49-F238E27FC236}">
                <a16:creationId xmlns:a16="http://schemas.microsoft.com/office/drawing/2014/main" id="{401F9849-CC41-5B04-BD7E-85AA8CFF4D9B}"/>
              </a:ext>
            </a:extLst>
          </p:cNvPr>
          <p:cNvPicPr>
            <a:picLocks noChangeAspect="1"/>
          </p:cNvPicPr>
          <p:nvPr/>
        </p:nvPicPr>
        <p:blipFill>
          <a:blip r:embed="rId2"/>
          <a:stretch>
            <a:fillRect/>
          </a:stretch>
        </p:blipFill>
        <p:spPr>
          <a:xfrm>
            <a:off x="423832" y="1667132"/>
            <a:ext cx="8296336" cy="3305199"/>
          </a:xfrm>
          <a:prstGeom prst="rect">
            <a:avLst/>
          </a:prstGeom>
        </p:spPr>
      </p:pic>
      <p:sp>
        <p:nvSpPr>
          <p:cNvPr id="6" name="CasellaDiTesto 5">
            <a:extLst>
              <a:ext uri="{FF2B5EF4-FFF2-40B4-BE49-F238E27FC236}">
                <a16:creationId xmlns:a16="http://schemas.microsoft.com/office/drawing/2014/main" id="{74701159-2501-384D-F855-156559E1B6C8}"/>
              </a:ext>
            </a:extLst>
          </p:cNvPr>
          <p:cNvSpPr txBox="1"/>
          <p:nvPr/>
        </p:nvSpPr>
        <p:spPr>
          <a:xfrm>
            <a:off x="659080" y="5039708"/>
            <a:ext cx="7825839" cy="584775"/>
          </a:xfrm>
          <a:prstGeom prst="rect">
            <a:avLst/>
          </a:prstGeom>
          <a:noFill/>
        </p:spPr>
        <p:txBody>
          <a:bodyPr wrap="square" rtlCol="0">
            <a:spAutoFit/>
          </a:bodyPr>
          <a:lstStyle/>
          <a:p>
            <a:pPr algn="ctr"/>
            <a:r>
              <a:rPr lang="en-US" sz="1600"/>
              <a:t>The query recommends similar recipes by exploiting ingredient-based relationships, ranking results according to the number of shared ingredients with the selected recipe.</a:t>
            </a:r>
          </a:p>
        </p:txBody>
      </p:sp>
    </p:spTree>
    <p:extLst>
      <p:ext uri="{BB962C8B-B14F-4D97-AF65-F5344CB8AC3E}">
        <p14:creationId xmlns:p14="http://schemas.microsoft.com/office/powerpoint/2010/main" val="11130548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B0846-278E-2F8B-B721-1F0EDA648C8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98BB673-4C77-8F44-BED1-CE2771640CC1}"/>
              </a:ext>
            </a:extLst>
          </p:cNvPr>
          <p:cNvSpPr>
            <a:spLocks noGrp="1"/>
          </p:cNvSpPr>
          <p:nvPr>
            <p:ph type="title"/>
          </p:nvPr>
        </p:nvSpPr>
        <p:spPr/>
        <p:txBody>
          <a:bodyPr>
            <a:normAutofit/>
          </a:bodyPr>
          <a:lstStyle/>
          <a:p>
            <a:r>
              <a:rPr lang="en-US"/>
              <a:t>Relevant Neo4j queries</a:t>
            </a:r>
          </a:p>
        </p:txBody>
      </p:sp>
      <p:sp>
        <p:nvSpPr>
          <p:cNvPr id="3" name="CasellaDiTesto 2">
            <a:extLst>
              <a:ext uri="{FF2B5EF4-FFF2-40B4-BE49-F238E27FC236}">
                <a16:creationId xmlns:a16="http://schemas.microsoft.com/office/drawing/2014/main" id="{101194D8-4A67-E870-06EB-A62D6035BB82}"/>
              </a:ext>
            </a:extLst>
          </p:cNvPr>
          <p:cNvSpPr txBox="1"/>
          <p:nvPr/>
        </p:nvSpPr>
        <p:spPr>
          <a:xfrm>
            <a:off x="199462" y="1064898"/>
            <a:ext cx="8213271" cy="400110"/>
          </a:xfrm>
          <a:prstGeom prst="rect">
            <a:avLst/>
          </a:prstGeom>
          <a:noFill/>
        </p:spPr>
        <p:txBody>
          <a:bodyPr wrap="square" rtlCol="0">
            <a:spAutoFit/>
          </a:bodyPr>
          <a:lstStyle/>
          <a:p>
            <a:r>
              <a:rPr lang="en-US" sz="2000" b="1" i="1" u="sng"/>
              <a:t>Smart Fridge Recipe Suggestions</a:t>
            </a:r>
          </a:p>
        </p:txBody>
      </p:sp>
      <p:pic>
        <p:nvPicPr>
          <p:cNvPr id="6" name="Immagine 5">
            <a:extLst>
              <a:ext uri="{FF2B5EF4-FFF2-40B4-BE49-F238E27FC236}">
                <a16:creationId xmlns:a16="http://schemas.microsoft.com/office/drawing/2014/main" id="{70C5EC5F-3D82-8534-A0CE-C5B22506545B}"/>
              </a:ext>
            </a:extLst>
          </p:cNvPr>
          <p:cNvPicPr>
            <a:picLocks noChangeAspect="1"/>
          </p:cNvPicPr>
          <p:nvPr/>
        </p:nvPicPr>
        <p:blipFill>
          <a:blip r:embed="rId2"/>
          <a:stretch>
            <a:fillRect/>
          </a:stretch>
        </p:blipFill>
        <p:spPr>
          <a:xfrm>
            <a:off x="1044642" y="1573230"/>
            <a:ext cx="7054716" cy="3661173"/>
          </a:xfrm>
          <a:prstGeom prst="rect">
            <a:avLst/>
          </a:prstGeom>
        </p:spPr>
      </p:pic>
      <p:sp>
        <p:nvSpPr>
          <p:cNvPr id="8" name="CasellaDiTesto 7">
            <a:extLst>
              <a:ext uri="{FF2B5EF4-FFF2-40B4-BE49-F238E27FC236}">
                <a16:creationId xmlns:a16="http://schemas.microsoft.com/office/drawing/2014/main" id="{D298113B-5847-78E7-006E-A3AFB494EF99}"/>
              </a:ext>
            </a:extLst>
          </p:cNvPr>
          <p:cNvSpPr txBox="1"/>
          <p:nvPr/>
        </p:nvSpPr>
        <p:spPr>
          <a:xfrm>
            <a:off x="677714" y="5284770"/>
            <a:ext cx="7735019" cy="584775"/>
          </a:xfrm>
          <a:prstGeom prst="rect">
            <a:avLst/>
          </a:prstGeom>
          <a:noFill/>
        </p:spPr>
        <p:txBody>
          <a:bodyPr wrap="square" rtlCol="0">
            <a:spAutoFit/>
          </a:bodyPr>
          <a:lstStyle/>
          <a:p>
            <a:pPr algn="ctr"/>
            <a:r>
              <a:rPr lang="en-US" sz="1600"/>
              <a:t>The query suggests recipes that uses at least three ingredients of the foodie’s smart fridge, prioritizing those with the highest number of ingredient matches.</a:t>
            </a:r>
            <a:endParaRPr lang="it-IT" sz="1600"/>
          </a:p>
        </p:txBody>
      </p:sp>
      <p:sp>
        <p:nvSpPr>
          <p:cNvPr id="5" name="Rettangolo 4">
            <a:extLst>
              <a:ext uri="{FF2B5EF4-FFF2-40B4-BE49-F238E27FC236}">
                <a16:creationId xmlns:a16="http://schemas.microsoft.com/office/drawing/2014/main" id="{63ED21CA-D98A-2FBD-A201-5B65134D8483}"/>
              </a:ext>
            </a:extLst>
          </p:cNvPr>
          <p:cNvSpPr/>
          <p:nvPr/>
        </p:nvSpPr>
        <p:spPr>
          <a:xfrm>
            <a:off x="5867400" y="1533160"/>
            <a:ext cx="2044700" cy="530590"/>
          </a:xfrm>
          <a:prstGeom prst="rect">
            <a:avLst/>
          </a:prstGeom>
          <a:solidFill>
            <a:schemeClr val="bg1"/>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42386330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742ED-F2A9-D7A4-2D13-F9ADEA1FF6B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1F03B32-B8E8-D6D3-EA1E-5908F8A69508}"/>
              </a:ext>
            </a:extLst>
          </p:cNvPr>
          <p:cNvSpPr>
            <a:spLocks noGrp="1"/>
          </p:cNvSpPr>
          <p:nvPr>
            <p:ph type="title"/>
          </p:nvPr>
        </p:nvSpPr>
        <p:spPr/>
        <p:txBody>
          <a:bodyPr>
            <a:normAutofit/>
          </a:bodyPr>
          <a:lstStyle/>
          <a:p>
            <a:r>
              <a:rPr lang="en-US"/>
              <a:t>Neo4j Indexes</a:t>
            </a:r>
          </a:p>
        </p:txBody>
      </p:sp>
      <p:sp>
        <p:nvSpPr>
          <p:cNvPr id="9" name="CasellaDiTesto 8">
            <a:extLst>
              <a:ext uri="{FF2B5EF4-FFF2-40B4-BE49-F238E27FC236}">
                <a16:creationId xmlns:a16="http://schemas.microsoft.com/office/drawing/2014/main" id="{0E51BAAF-A60B-2A91-9A15-DC77602629D4}"/>
              </a:ext>
            </a:extLst>
          </p:cNvPr>
          <p:cNvSpPr txBox="1"/>
          <p:nvPr/>
        </p:nvSpPr>
        <p:spPr>
          <a:xfrm>
            <a:off x="939459" y="4794698"/>
            <a:ext cx="1984076" cy="369332"/>
          </a:xfrm>
          <a:prstGeom prst="rect">
            <a:avLst/>
          </a:prstGeom>
          <a:noFill/>
        </p:spPr>
        <p:txBody>
          <a:bodyPr wrap="square" rtlCol="0">
            <a:spAutoFit/>
          </a:bodyPr>
          <a:lstStyle/>
          <a:p>
            <a:r>
              <a:rPr lang="it-IT" i="1"/>
              <a:t> </a:t>
            </a:r>
          </a:p>
        </p:txBody>
      </p:sp>
      <p:sp>
        <p:nvSpPr>
          <p:cNvPr id="6" name="Text 2">
            <a:extLst>
              <a:ext uri="{FF2B5EF4-FFF2-40B4-BE49-F238E27FC236}">
                <a16:creationId xmlns:a16="http://schemas.microsoft.com/office/drawing/2014/main" id="{0ED314FE-5046-39B0-DFC3-D829EA74A966}"/>
              </a:ext>
            </a:extLst>
          </p:cNvPr>
          <p:cNvSpPr/>
          <p:nvPr/>
        </p:nvSpPr>
        <p:spPr>
          <a:xfrm>
            <a:off x="320040" y="3294691"/>
            <a:ext cx="8503920" cy="411480"/>
          </a:xfrm>
          <a:prstGeom prst="rect">
            <a:avLst/>
          </a:prstGeom>
          <a:noFill/>
          <a:ln/>
        </p:spPr>
        <p:txBody>
          <a:bodyPr wrap="square" rtlCol="0" anchor="ctr"/>
          <a:lstStyle/>
          <a:p>
            <a:pPr marL="0" indent="0" algn="ctr">
              <a:buNone/>
            </a:pPr>
            <a:r>
              <a:rPr lang="en-US" sz="1600">
                <a:latin typeface="Calibri" pitchFamily="34" charset="0"/>
                <a:ea typeface="Calibri" pitchFamily="34" charset="-122"/>
                <a:cs typeface="Calibri" pitchFamily="34" charset="-120"/>
              </a:rPr>
              <a:t>All indexes transform </a:t>
            </a:r>
            <a:r>
              <a:rPr lang="en-US" sz="1600" err="1">
                <a:latin typeface="Calibri" pitchFamily="34" charset="0"/>
                <a:ea typeface="Calibri" pitchFamily="34" charset="-122"/>
                <a:cs typeface="Calibri" pitchFamily="34" charset="-120"/>
              </a:rPr>
              <a:t>AllNodesScan</a:t>
            </a:r>
            <a:r>
              <a:rPr lang="en-US" sz="1600">
                <a:latin typeface="Calibri" pitchFamily="34" charset="0"/>
                <a:ea typeface="Calibri" pitchFamily="34" charset="-122"/>
                <a:cs typeface="Calibri" pitchFamily="34" charset="-120"/>
              </a:rPr>
              <a:t> (full graph scan) into </a:t>
            </a:r>
            <a:r>
              <a:rPr lang="en-US" sz="1600" err="1">
                <a:latin typeface="Calibri" pitchFamily="34" charset="0"/>
                <a:ea typeface="Calibri" pitchFamily="34" charset="-122"/>
                <a:cs typeface="Calibri" pitchFamily="34" charset="-120"/>
              </a:rPr>
              <a:t>NodeIndexSeek</a:t>
            </a:r>
            <a:r>
              <a:rPr lang="en-US" sz="1600">
                <a:latin typeface="Calibri" pitchFamily="34" charset="0"/>
                <a:ea typeface="Calibri" pitchFamily="34" charset="-122"/>
                <a:cs typeface="Calibri" pitchFamily="34" charset="-120"/>
              </a:rPr>
              <a:t> (direct access), eliminating the expensive initial lookup phase.</a:t>
            </a:r>
            <a:endParaRPr lang="en-US" sz="1600"/>
          </a:p>
        </p:txBody>
      </p:sp>
      <p:sp>
        <p:nvSpPr>
          <p:cNvPr id="11" name="Shape 3">
            <a:extLst>
              <a:ext uri="{FF2B5EF4-FFF2-40B4-BE49-F238E27FC236}">
                <a16:creationId xmlns:a16="http://schemas.microsoft.com/office/drawing/2014/main" id="{32B0BF2C-7493-7462-9AB4-C57D6B59E8A9}"/>
              </a:ext>
            </a:extLst>
          </p:cNvPr>
          <p:cNvSpPr/>
          <p:nvPr/>
        </p:nvSpPr>
        <p:spPr>
          <a:xfrm>
            <a:off x="683255" y="3924438"/>
            <a:ext cx="2560320" cy="329184"/>
          </a:xfrm>
          <a:prstGeom prst="rect">
            <a:avLst/>
          </a:prstGeom>
          <a:solidFill>
            <a:srgbClr val="1E3A5F"/>
          </a:solidFill>
          <a:ln w="12700">
            <a:solidFill>
              <a:srgbClr val="1E3A5F"/>
            </a:solidFill>
            <a:prstDash val="solid"/>
          </a:ln>
        </p:spPr>
        <p:txBody>
          <a:bodyPr/>
          <a:lstStyle/>
          <a:p>
            <a:endParaRPr lang="it-IT"/>
          </a:p>
        </p:txBody>
      </p:sp>
      <p:sp>
        <p:nvSpPr>
          <p:cNvPr id="12" name="Text 4">
            <a:extLst>
              <a:ext uri="{FF2B5EF4-FFF2-40B4-BE49-F238E27FC236}">
                <a16:creationId xmlns:a16="http://schemas.microsoft.com/office/drawing/2014/main" id="{2A07B12E-4784-3703-ED81-FB79227C04D8}"/>
              </a:ext>
            </a:extLst>
          </p:cNvPr>
          <p:cNvSpPr/>
          <p:nvPr/>
        </p:nvSpPr>
        <p:spPr>
          <a:xfrm>
            <a:off x="728975" y="3924438"/>
            <a:ext cx="2514600" cy="329184"/>
          </a:xfrm>
          <a:prstGeom prst="rect">
            <a:avLst/>
          </a:prstGeom>
          <a:noFill/>
          <a:ln/>
        </p:spPr>
        <p:txBody>
          <a:bodyPr wrap="square" rtlCol="0" anchor="ctr"/>
          <a:lstStyle/>
          <a:p>
            <a:pPr marL="0" indent="0">
              <a:buNone/>
            </a:pPr>
            <a:r>
              <a:rPr lang="en-US" sz="1200" b="1">
                <a:solidFill>
                  <a:srgbClr val="FFFFFF"/>
                </a:solidFill>
                <a:latin typeface="Calibri" pitchFamily="34" charset="0"/>
                <a:ea typeface="Calibri" pitchFamily="34" charset="-122"/>
                <a:cs typeface="Calibri" pitchFamily="34" charset="-120"/>
              </a:rPr>
              <a:t>Query</a:t>
            </a:r>
            <a:endParaRPr lang="en-US" sz="1200"/>
          </a:p>
        </p:txBody>
      </p:sp>
      <p:sp>
        <p:nvSpPr>
          <p:cNvPr id="13" name="Shape 5">
            <a:extLst>
              <a:ext uri="{FF2B5EF4-FFF2-40B4-BE49-F238E27FC236}">
                <a16:creationId xmlns:a16="http://schemas.microsoft.com/office/drawing/2014/main" id="{DF7F7E9B-3005-9CD1-2248-4FFE5BE57476}"/>
              </a:ext>
            </a:extLst>
          </p:cNvPr>
          <p:cNvSpPr/>
          <p:nvPr/>
        </p:nvSpPr>
        <p:spPr>
          <a:xfrm>
            <a:off x="3289295" y="3924438"/>
            <a:ext cx="1920240" cy="329184"/>
          </a:xfrm>
          <a:prstGeom prst="rect">
            <a:avLst/>
          </a:prstGeom>
          <a:solidFill>
            <a:srgbClr val="1E3A5F"/>
          </a:solidFill>
          <a:ln w="12700">
            <a:solidFill>
              <a:srgbClr val="1E3A5F"/>
            </a:solidFill>
            <a:prstDash val="solid"/>
          </a:ln>
        </p:spPr>
        <p:txBody>
          <a:bodyPr/>
          <a:lstStyle/>
          <a:p>
            <a:endParaRPr lang="it-IT"/>
          </a:p>
        </p:txBody>
      </p:sp>
      <p:sp>
        <p:nvSpPr>
          <p:cNvPr id="14" name="Text 6">
            <a:extLst>
              <a:ext uri="{FF2B5EF4-FFF2-40B4-BE49-F238E27FC236}">
                <a16:creationId xmlns:a16="http://schemas.microsoft.com/office/drawing/2014/main" id="{DA042EEB-35D4-CC5B-4A50-F7A676A3A55F}"/>
              </a:ext>
            </a:extLst>
          </p:cNvPr>
          <p:cNvSpPr/>
          <p:nvPr/>
        </p:nvSpPr>
        <p:spPr>
          <a:xfrm>
            <a:off x="3335015" y="3924438"/>
            <a:ext cx="1874520" cy="329184"/>
          </a:xfrm>
          <a:prstGeom prst="rect">
            <a:avLst/>
          </a:prstGeom>
          <a:noFill/>
          <a:ln/>
        </p:spPr>
        <p:txBody>
          <a:bodyPr wrap="square" rtlCol="0" anchor="ctr"/>
          <a:lstStyle/>
          <a:p>
            <a:pPr marL="0" indent="0">
              <a:buNone/>
            </a:pPr>
            <a:r>
              <a:rPr lang="en-US" sz="1200" b="1">
                <a:solidFill>
                  <a:srgbClr val="FFFFFF"/>
                </a:solidFill>
                <a:latin typeface="Calibri" pitchFamily="34" charset="0"/>
                <a:ea typeface="Calibri" pitchFamily="34" charset="-122"/>
                <a:cs typeface="Calibri" pitchFamily="34" charset="-120"/>
              </a:rPr>
              <a:t>Index</a:t>
            </a:r>
            <a:endParaRPr lang="en-US" sz="1200"/>
          </a:p>
        </p:txBody>
      </p:sp>
      <p:sp>
        <p:nvSpPr>
          <p:cNvPr id="15" name="Shape 7">
            <a:extLst>
              <a:ext uri="{FF2B5EF4-FFF2-40B4-BE49-F238E27FC236}">
                <a16:creationId xmlns:a16="http://schemas.microsoft.com/office/drawing/2014/main" id="{19D2EABA-AE4B-71F7-8EC3-38E17C641C4E}"/>
              </a:ext>
            </a:extLst>
          </p:cNvPr>
          <p:cNvSpPr/>
          <p:nvPr/>
        </p:nvSpPr>
        <p:spPr>
          <a:xfrm>
            <a:off x="5255255" y="3924438"/>
            <a:ext cx="1874520" cy="329184"/>
          </a:xfrm>
          <a:prstGeom prst="rect">
            <a:avLst/>
          </a:prstGeom>
          <a:solidFill>
            <a:srgbClr val="1E3A5F"/>
          </a:solidFill>
          <a:ln w="12700">
            <a:solidFill>
              <a:srgbClr val="1E3A5F"/>
            </a:solidFill>
            <a:prstDash val="solid"/>
          </a:ln>
        </p:spPr>
        <p:txBody>
          <a:bodyPr/>
          <a:lstStyle/>
          <a:p>
            <a:endParaRPr lang="it-IT"/>
          </a:p>
        </p:txBody>
      </p:sp>
      <p:sp>
        <p:nvSpPr>
          <p:cNvPr id="16" name="Text 8">
            <a:extLst>
              <a:ext uri="{FF2B5EF4-FFF2-40B4-BE49-F238E27FC236}">
                <a16:creationId xmlns:a16="http://schemas.microsoft.com/office/drawing/2014/main" id="{490AD95F-D755-7373-A17C-4271CBDC0D4D}"/>
              </a:ext>
            </a:extLst>
          </p:cNvPr>
          <p:cNvSpPr/>
          <p:nvPr/>
        </p:nvSpPr>
        <p:spPr>
          <a:xfrm>
            <a:off x="5300975" y="3924438"/>
            <a:ext cx="1828800" cy="329184"/>
          </a:xfrm>
          <a:prstGeom prst="rect">
            <a:avLst/>
          </a:prstGeom>
          <a:noFill/>
          <a:ln/>
        </p:spPr>
        <p:txBody>
          <a:bodyPr wrap="square" rtlCol="0" anchor="ctr"/>
          <a:lstStyle/>
          <a:p>
            <a:pPr marL="0" indent="0">
              <a:buNone/>
            </a:pPr>
            <a:r>
              <a:rPr lang="en-US" sz="1200" b="1">
                <a:solidFill>
                  <a:srgbClr val="FFFFFF"/>
                </a:solidFill>
                <a:latin typeface="Calibri" pitchFamily="34" charset="0"/>
                <a:ea typeface="Calibri" pitchFamily="34" charset="-122"/>
                <a:cs typeface="Calibri" pitchFamily="34" charset="-120"/>
              </a:rPr>
              <a:t>DB Hits (before → after)</a:t>
            </a:r>
            <a:endParaRPr lang="en-US" sz="1200"/>
          </a:p>
        </p:txBody>
      </p:sp>
      <p:sp>
        <p:nvSpPr>
          <p:cNvPr id="17" name="Shape 9">
            <a:extLst>
              <a:ext uri="{FF2B5EF4-FFF2-40B4-BE49-F238E27FC236}">
                <a16:creationId xmlns:a16="http://schemas.microsoft.com/office/drawing/2014/main" id="{A0BED00E-4C1F-95E1-2989-0E56B69AD6E5}"/>
              </a:ext>
            </a:extLst>
          </p:cNvPr>
          <p:cNvSpPr/>
          <p:nvPr/>
        </p:nvSpPr>
        <p:spPr>
          <a:xfrm>
            <a:off x="7175495" y="3924438"/>
            <a:ext cx="1371600" cy="329184"/>
          </a:xfrm>
          <a:prstGeom prst="rect">
            <a:avLst/>
          </a:prstGeom>
          <a:solidFill>
            <a:srgbClr val="1E3A5F"/>
          </a:solidFill>
          <a:ln w="12700">
            <a:solidFill>
              <a:srgbClr val="1E3A5F"/>
            </a:solidFill>
            <a:prstDash val="solid"/>
          </a:ln>
        </p:spPr>
        <p:txBody>
          <a:bodyPr/>
          <a:lstStyle/>
          <a:p>
            <a:endParaRPr lang="it-IT"/>
          </a:p>
        </p:txBody>
      </p:sp>
      <p:sp>
        <p:nvSpPr>
          <p:cNvPr id="18" name="Text 10">
            <a:extLst>
              <a:ext uri="{FF2B5EF4-FFF2-40B4-BE49-F238E27FC236}">
                <a16:creationId xmlns:a16="http://schemas.microsoft.com/office/drawing/2014/main" id="{F39FFE42-2370-CE77-5290-3838006BDB49}"/>
              </a:ext>
            </a:extLst>
          </p:cNvPr>
          <p:cNvSpPr/>
          <p:nvPr/>
        </p:nvSpPr>
        <p:spPr>
          <a:xfrm>
            <a:off x="7221215" y="3924438"/>
            <a:ext cx="1325880" cy="329184"/>
          </a:xfrm>
          <a:prstGeom prst="rect">
            <a:avLst/>
          </a:prstGeom>
          <a:noFill/>
          <a:ln/>
        </p:spPr>
        <p:txBody>
          <a:bodyPr wrap="square" rtlCol="0" anchor="ctr"/>
          <a:lstStyle/>
          <a:p>
            <a:pPr marL="0" indent="0">
              <a:buNone/>
            </a:pPr>
            <a:r>
              <a:rPr lang="en-US" sz="1200" b="1">
                <a:solidFill>
                  <a:srgbClr val="FFFFFF"/>
                </a:solidFill>
                <a:latin typeface="Calibri" pitchFamily="34" charset="0"/>
                <a:ea typeface="Calibri" pitchFamily="34" charset="-122"/>
                <a:cs typeface="Calibri" pitchFamily="34" charset="-120"/>
              </a:rPr>
              <a:t>Time</a:t>
            </a:r>
            <a:endParaRPr lang="en-US" sz="1200"/>
          </a:p>
        </p:txBody>
      </p:sp>
      <p:sp>
        <p:nvSpPr>
          <p:cNvPr id="21" name="Shape 13">
            <a:extLst>
              <a:ext uri="{FF2B5EF4-FFF2-40B4-BE49-F238E27FC236}">
                <a16:creationId xmlns:a16="http://schemas.microsoft.com/office/drawing/2014/main" id="{1B6679E1-B429-0583-6091-0461CDDF97BB}"/>
              </a:ext>
            </a:extLst>
          </p:cNvPr>
          <p:cNvSpPr/>
          <p:nvPr/>
        </p:nvSpPr>
        <p:spPr>
          <a:xfrm>
            <a:off x="683255" y="4253622"/>
            <a:ext cx="2560320" cy="484632"/>
          </a:xfrm>
          <a:prstGeom prst="rect">
            <a:avLst/>
          </a:prstGeom>
          <a:solidFill>
            <a:srgbClr val="F3F4F6"/>
          </a:solidFill>
          <a:ln w="12700">
            <a:solidFill>
              <a:srgbClr val="E5E7EB"/>
            </a:solidFill>
            <a:prstDash val="solid"/>
          </a:ln>
        </p:spPr>
        <p:txBody>
          <a:bodyPr/>
          <a:lstStyle/>
          <a:p>
            <a:endParaRPr lang="it-IT"/>
          </a:p>
        </p:txBody>
      </p:sp>
      <p:sp>
        <p:nvSpPr>
          <p:cNvPr id="22" name="Text 14">
            <a:extLst>
              <a:ext uri="{FF2B5EF4-FFF2-40B4-BE49-F238E27FC236}">
                <a16:creationId xmlns:a16="http://schemas.microsoft.com/office/drawing/2014/main" id="{D874732C-3C51-CADD-5943-B95DF97A627C}"/>
              </a:ext>
            </a:extLst>
          </p:cNvPr>
          <p:cNvSpPr/>
          <p:nvPr/>
        </p:nvSpPr>
        <p:spPr>
          <a:xfrm>
            <a:off x="738119" y="4253622"/>
            <a:ext cx="2487168" cy="484632"/>
          </a:xfrm>
          <a:prstGeom prst="rect">
            <a:avLst/>
          </a:prstGeom>
          <a:noFill/>
          <a:ln/>
        </p:spPr>
        <p:txBody>
          <a:bodyPr wrap="square" rtlCol="0" anchor="ctr"/>
          <a:lstStyle/>
          <a:p>
            <a:pPr marL="0" indent="0">
              <a:buNone/>
            </a:pPr>
            <a:r>
              <a:rPr lang="en-US" sz="1200">
                <a:solidFill>
                  <a:srgbClr val="1F2937"/>
                </a:solidFill>
                <a:latin typeface="Calibri" pitchFamily="34" charset="0"/>
                <a:ea typeface="Calibri" pitchFamily="34" charset="-122"/>
                <a:cs typeface="Calibri" pitchFamily="34" charset="-120"/>
              </a:rPr>
              <a:t>Smart Fridge Suggestion</a:t>
            </a:r>
            <a:endParaRPr lang="en-US" sz="1200"/>
          </a:p>
        </p:txBody>
      </p:sp>
      <p:sp>
        <p:nvSpPr>
          <p:cNvPr id="23" name="Shape 15">
            <a:extLst>
              <a:ext uri="{FF2B5EF4-FFF2-40B4-BE49-F238E27FC236}">
                <a16:creationId xmlns:a16="http://schemas.microsoft.com/office/drawing/2014/main" id="{FEF46CD6-B90E-155D-443F-613C862BD824}"/>
              </a:ext>
            </a:extLst>
          </p:cNvPr>
          <p:cNvSpPr/>
          <p:nvPr/>
        </p:nvSpPr>
        <p:spPr>
          <a:xfrm>
            <a:off x="3289295" y="4253622"/>
            <a:ext cx="1920240" cy="484632"/>
          </a:xfrm>
          <a:prstGeom prst="rect">
            <a:avLst/>
          </a:prstGeom>
          <a:solidFill>
            <a:srgbClr val="F3F4F6"/>
          </a:solidFill>
          <a:ln w="12700">
            <a:solidFill>
              <a:srgbClr val="E5E7EB"/>
            </a:solidFill>
            <a:prstDash val="solid"/>
          </a:ln>
        </p:spPr>
        <p:txBody>
          <a:bodyPr/>
          <a:lstStyle/>
          <a:p>
            <a:endParaRPr lang="it-IT"/>
          </a:p>
        </p:txBody>
      </p:sp>
      <p:sp>
        <p:nvSpPr>
          <p:cNvPr id="24" name="Text 16">
            <a:extLst>
              <a:ext uri="{FF2B5EF4-FFF2-40B4-BE49-F238E27FC236}">
                <a16:creationId xmlns:a16="http://schemas.microsoft.com/office/drawing/2014/main" id="{2EF7A265-1751-280C-5A76-251D5803F913}"/>
              </a:ext>
            </a:extLst>
          </p:cNvPr>
          <p:cNvSpPr/>
          <p:nvPr/>
        </p:nvSpPr>
        <p:spPr>
          <a:xfrm>
            <a:off x="3344159" y="4253622"/>
            <a:ext cx="1847088" cy="484632"/>
          </a:xfrm>
          <a:prstGeom prst="rect">
            <a:avLst/>
          </a:prstGeom>
          <a:noFill/>
          <a:ln/>
        </p:spPr>
        <p:txBody>
          <a:bodyPr wrap="square" rtlCol="0" anchor="ctr"/>
          <a:lstStyle/>
          <a:p>
            <a:pPr marL="0" indent="0">
              <a:buNone/>
            </a:pPr>
            <a:r>
              <a:rPr lang="en-US" sz="1200" err="1">
                <a:solidFill>
                  <a:srgbClr val="1F2937"/>
                </a:solidFill>
                <a:latin typeface="Calibri" pitchFamily="34" charset="0"/>
                <a:ea typeface="Calibri" pitchFamily="34" charset="-122"/>
                <a:cs typeface="Calibri" pitchFamily="34" charset="-120"/>
              </a:rPr>
              <a:t>ingredient_name_idx</a:t>
            </a:r>
            <a:endParaRPr lang="en-US" sz="1200"/>
          </a:p>
        </p:txBody>
      </p:sp>
      <p:sp>
        <p:nvSpPr>
          <p:cNvPr id="25" name="Shape 17">
            <a:extLst>
              <a:ext uri="{FF2B5EF4-FFF2-40B4-BE49-F238E27FC236}">
                <a16:creationId xmlns:a16="http://schemas.microsoft.com/office/drawing/2014/main" id="{68D81F5C-5B1A-9509-E62A-83990C9AAD01}"/>
              </a:ext>
            </a:extLst>
          </p:cNvPr>
          <p:cNvSpPr/>
          <p:nvPr/>
        </p:nvSpPr>
        <p:spPr>
          <a:xfrm>
            <a:off x="5255255" y="4253622"/>
            <a:ext cx="1874520" cy="484632"/>
          </a:xfrm>
          <a:prstGeom prst="rect">
            <a:avLst/>
          </a:prstGeom>
          <a:solidFill>
            <a:srgbClr val="F3F4F6"/>
          </a:solidFill>
          <a:ln w="12700">
            <a:solidFill>
              <a:srgbClr val="E5E7EB"/>
            </a:solidFill>
            <a:prstDash val="solid"/>
          </a:ln>
        </p:spPr>
        <p:txBody>
          <a:bodyPr/>
          <a:lstStyle/>
          <a:p>
            <a:endParaRPr lang="it-IT"/>
          </a:p>
        </p:txBody>
      </p:sp>
      <p:sp>
        <p:nvSpPr>
          <p:cNvPr id="26" name="Text 18">
            <a:extLst>
              <a:ext uri="{FF2B5EF4-FFF2-40B4-BE49-F238E27FC236}">
                <a16:creationId xmlns:a16="http://schemas.microsoft.com/office/drawing/2014/main" id="{8ADDB0A0-D251-3F7C-5C0E-06775BCB39FB}"/>
              </a:ext>
            </a:extLst>
          </p:cNvPr>
          <p:cNvSpPr/>
          <p:nvPr/>
        </p:nvSpPr>
        <p:spPr>
          <a:xfrm>
            <a:off x="5310119" y="4253622"/>
            <a:ext cx="1801368" cy="484632"/>
          </a:xfrm>
          <a:prstGeom prst="rect">
            <a:avLst/>
          </a:prstGeom>
          <a:noFill/>
          <a:ln/>
        </p:spPr>
        <p:txBody>
          <a:bodyPr wrap="square" rtlCol="0" anchor="ctr"/>
          <a:lstStyle/>
          <a:p>
            <a:pPr marL="0" indent="0">
              <a:buNone/>
            </a:pPr>
            <a:r>
              <a:rPr lang="en-US" sz="1200">
                <a:solidFill>
                  <a:srgbClr val="374151"/>
                </a:solidFill>
                <a:latin typeface="Courier New" pitchFamily="34" charset="0"/>
                <a:ea typeface="Courier New" pitchFamily="34" charset="-122"/>
                <a:cs typeface="Courier New" pitchFamily="34" charset="-120"/>
              </a:rPr>
              <a:t>51,733 → 11,080</a:t>
            </a:r>
            <a:endParaRPr lang="en-US" sz="1200"/>
          </a:p>
        </p:txBody>
      </p:sp>
      <p:sp>
        <p:nvSpPr>
          <p:cNvPr id="27" name="Shape 19">
            <a:extLst>
              <a:ext uri="{FF2B5EF4-FFF2-40B4-BE49-F238E27FC236}">
                <a16:creationId xmlns:a16="http://schemas.microsoft.com/office/drawing/2014/main" id="{9CD4FED1-2D01-3754-900A-74301D717C59}"/>
              </a:ext>
            </a:extLst>
          </p:cNvPr>
          <p:cNvSpPr/>
          <p:nvPr/>
        </p:nvSpPr>
        <p:spPr>
          <a:xfrm>
            <a:off x="7175495" y="4253622"/>
            <a:ext cx="1371600" cy="484632"/>
          </a:xfrm>
          <a:prstGeom prst="rect">
            <a:avLst/>
          </a:prstGeom>
          <a:solidFill>
            <a:srgbClr val="F3F4F6"/>
          </a:solidFill>
          <a:ln w="12700">
            <a:solidFill>
              <a:srgbClr val="E5E7EB"/>
            </a:solidFill>
            <a:prstDash val="solid"/>
          </a:ln>
        </p:spPr>
        <p:txBody>
          <a:bodyPr/>
          <a:lstStyle/>
          <a:p>
            <a:endParaRPr lang="it-IT"/>
          </a:p>
        </p:txBody>
      </p:sp>
      <p:sp>
        <p:nvSpPr>
          <p:cNvPr id="28" name="Text 20">
            <a:extLst>
              <a:ext uri="{FF2B5EF4-FFF2-40B4-BE49-F238E27FC236}">
                <a16:creationId xmlns:a16="http://schemas.microsoft.com/office/drawing/2014/main" id="{0C143A25-B556-F063-1EA9-7A09127EB13E}"/>
              </a:ext>
            </a:extLst>
          </p:cNvPr>
          <p:cNvSpPr/>
          <p:nvPr/>
        </p:nvSpPr>
        <p:spPr>
          <a:xfrm>
            <a:off x="7230359" y="4253622"/>
            <a:ext cx="1298448" cy="484632"/>
          </a:xfrm>
          <a:prstGeom prst="rect">
            <a:avLst/>
          </a:prstGeom>
          <a:noFill/>
          <a:ln/>
        </p:spPr>
        <p:txBody>
          <a:bodyPr wrap="square" rtlCol="0" anchor="ctr"/>
          <a:lstStyle/>
          <a:p>
            <a:pPr marL="0" indent="0">
              <a:buNone/>
            </a:pPr>
            <a:r>
              <a:rPr lang="en-US" sz="1200">
                <a:solidFill>
                  <a:srgbClr val="374151"/>
                </a:solidFill>
                <a:latin typeface="Calibri" pitchFamily="34" charset="0"/>
                <a:ea typeface="Calibri" pitchFamily="34" charset="-122"/>
                <a:cs typeface="Calibri" pitchFamily="34" charset="-120"/>
              </a:rPr>
              <a:t>53 </a:t>
            </a:r>
            <a:r>
              <a:rPr lang="en-US" sz="1200" err="1">
                <a:solidFill>
                  <a:srgbClr val="374151"/>
                </a:solidFill>
                <a:latin typeface="Calibri" pitchFamily="34" charset="0"/>
                <a:ea typeface="Calibri" pitchFamily="34" charset="-122"/>
                <a:cs typeface="Calibri" pitchFamily="34" charset="-120"/>
              </a:rPr>
              <a:t>ms</a:t>
            </a:r>
            <a:r>
              <a:rPr lang="en-US" sz="1200">
                <a:solidFill>
                  <a:srgbClr val="374151"/>
                </a:solidFill>
                <a:latin typeface="Calibri" pitchFamily="34" charset="0"/>
                <a:ea typeface="Calibri" pitchFamily="34" charset="-122"/>
                <a:cs typeface="Calibri" pitchFamily="34" charset="-120"/>
              </a:rPr>
              <a:t> → 28 </a:t>
            </a:r>
            <a:r>
              <a:rPr lang="en-US" sz="1200" err="1">
                <a:solidFill>
                  <a:srgbClr val="374151"/>
                </a:solidFill>
                <a:latin typeface="Calibri" pitchFamily="34" charset="0"/>
                <a:ea typeface="Calibri" pitchFamily="34" charset="-122"/>
                <a:cs typeface="Calibri" pitchFamily="34" charset="-120"/>
              </a:rPr>
              <a:t>ms</a:t>
            </a:r>
            <a:endParaRPr lang="en-US" sz="1200"/>
          </a:p>
        </p:txBody>
      </p:sp>
      <p:sp>
        <p:nvSpPr>
          <p:cNvPr id="34" name="Text 26">
            <a:extLst>
              <a:ext uri="{FF2B5EF4-FFF2-40B4-BE49-F238E27FC236}">
                <a16:creationId xmlns:a16="http://schemas.microsoft.com/office/drawing/2014/main" id="{F7B6C46F-3FB7-8C72-8DD6-F42EF4D0C5CB}"/>
              </a:ext>
            </a:extLst>
          </p:cNvPr>
          <p:cNvSpPr/>
          <p:nvPr/>
        </p:nvSpPr>
        <p:spPr>
          <a:xfrm>
            <a:off x="895973" y="5843222"/>
            <a:ext cx="1847088" cy="484632"/>
          </a:xfrm>
          <a:prstGeom prst="rect">
            <a:avLst/>
          </a:prstGeom>
          <a:noFill/>
          <a:ln/>
        </p:spPr>
        <p:txBody>
          <a:bodyPr wrap="square" rtlCol="0" anchor="ctr"/>
          <a:lstStyle/>
          <a:p>
            <a:pPr marL="0" indent="0">
              <a:buNone/>
            </a:pPr>
            <a:endParaRPr lang="en-US" sz="1000"/>
          </a:p>
        </p:txBody>
      </p:sp>
      <p:sp>
        <p:nvSpPr>
          <p:cNvPr id="35" name="Shape 27">
            <a:extLst>
              <a:ext uri="{FF2B5EF4-FFF2-40B4-BE49-F238E27FC236}">
                <a16:creationId xmlns:a16="http://schemas.microsoft.com/office/drawing/2014/main" id="{8BBDCA02-670E-4D26-0883-65801E7DCCED}"/>
              </a:ext>
            </a:extLst>
          </p:cNvPr>
          <p:cNvSpPr/>
          <p:nvPr/>
        </p:nvSpPr>
        <p:spPr>
          <a:xfrm>
            <a:off x="5255255" y="4756542"/>
            <a:ext cx="1874520" cy="484632"/>
          </a:xfrm>
          <a:prstGeom prst="rect">
            <a:avLst/>
          </a:prstGeom>
          <a:solidFill>
            <a:srgbClr val="FFFFFF"/>
          </a:solidFill>
          <a:ln w="12700">
            <a:solidFill>
              <a:srgbClr val="E5E7EB"/>
            </a:solidFill>
            <a:prstDash val="solid"/>
          </a:ln>
        </p:spPr>
        <p:txBody>
          <a:bodyPr/>
          <a:lstStyle/>
          <a:p>
            <a:endParaRPr lang="it-IT"/>
          </a:p>
        </p:txBody>
      </p:sp>
      <p:sp>
        <p:nvSpPr>
          <p:cNvPr id="36" name="Text 28">
            <a:extLst>
              <a:ext uri="{FF2B5EF4-FFF2-40B4-BE49-F238E27FC236}">
                <a16:creationId xmlns:a16="http://schemas.microsoft.com/office/drawing/2014/main" id="{E65831D5-F0F5-0B18-290D-8FD0E8A5CED9}"/>
              </a:ext>
            </a:extLst>
          </p:cNvPr>
          <p:cNvSpPr/>
          <p:nvPr/>
        </p:nvSpPr>
        <p:spPr>
          <a:xfrm>
            <a:off x="1122167" y="5821892"/>
            <a:ext cx="1801368" cy="484632"/>
          </a:xfrm>
          <a:prstGeom prst="rect">
            <a:avLst/>
          </a:prstGeom>
          <a:noFill/>
          <a:ln/>
        </p:spPr>
        <p:txBody>
          <a:bodyPr wrap="square" rtlCol="0" anchor="ctr"/>
          <a:lstStyle/>
          <a:p>
            <a:pPr marL="0" indent="0">
              <a:buNone/>
            </a:pPr>
            <a:endParaRPr lang="en-US" sz="1000"/>
          </a:p>
        </p:txBody>
      </p:sp>
      <p:sp>
        <p:nvSpPr>
          <p:cNvPr id="37" name="Shape 29">
            <a:extLst>
              <a:ext uri="{FF2B5EF4-FFF2-40B4-BE49-F238E27FC236}">
                <a16:creationId xmlns:a16="http://schemas.microsoft.com/office/drawing/2014/main" id="{E3A06C49-56B2-5F78-08F1-43D15B5A0F0E}"/>
              </a:ext>
            </a:extLst>
          </p:cNvPr>
          <p:cNvSpPr/>
          <p:nvPr/>
        </p:nvSpPr>
        <p:spPr>
          <a:xfrm>
            <a:off x="7166351" y="4760112"/>
            <a:ext cx="1371600" cy="484632"/>
          </a:xfrm>
          <a:prstGeom prst="rect">
            <a:avLst/>
          </a:prstGeom>
          <a:solidFill>
            <a:srgbClr val="FFFFFF"/>
          </a:solidFill>
          <a:ln w="12700">
            <a:solidFill>
              <a:srgbClr val="E5E7EB"/>
            </a:solidFill>
            <a:prstDash val="solid"/>
          </a:ln>
        </p:spPr>
        <p:txBody>
          <a:bodyPr/>
          <a:lstStyle/>
          <a:p>
            <a:endParaRPr lang="it-IT"/>
          </a:p>
        </p:txBody>
      </p:sp>
      <p:sp>
        <p:nvSpPr>
          <p:cNvPr id="38" name="Text 30">
            <a:extLst>
              <a:ext uri="{FF2B5EF4-FFF2-40B4-BE49-F238E27FC236}">
                <a16:creationId xmlns:a16="http://schemas.microsoft.com/office/drawing/2014/main" id="{B09076BE-372B-9DC5-6434-480390ECD3FE}"/>
              </a:ext>
            </a:extLst>
          </p:cNvPr>
          <p:cNvSpPr/>
          <p:nvPr/>
        </p:nvSpPr>
        <p:spPr>
          <a:xfrm>
            <a:off x="3401573" y="5971238"/>
            <a:ext cx="1298448" cy="484632"/>
          </a:xfrm>
          <a:prstGeom prst="rect">
            <a:avLst/>
          </a:prstGeom>
          <a:noFill/>
          <a:ln/>
        </p:spPr>
        <p:txBody>
          <a:bodyPr wrap="square" rtlCol="0" anchor="ctr"/>
          <a:lstStyle/>
          <a:p>
            <a:pPr marL="0" indent="0">
              <a:buNone/>
            </a:pPr>
            <a:endParaRPr lang="en-US" sz="1000"/>
          </a:p>
        </p:txBody>
      </p:sp>
      <p:sp>
        <p:nvSpPr>
          <p:cNvPr id="40" name="Text 32">
            <a:extLst>
              <a:ext uri="{FF2B5EF4-FFF2-40B4-BE49-F238E27FC236}">
                <a16:creationId xmlns:a16="http://schemas.microsoft.com/office/drawing/2014/main" id="{DC7934C0-ECB9-2938-1292-6A29FF6645D4}"/>
              </a:ext>
            </a:extLst>
          </p:cNvPr>
          <p:cNvSpPr/>
          <p:nvPr/>
        </p:nvSpPr>
        <p:spPr>
          <a:xfrm>
            <a:off x="3537440" y="6132780"/>
            <a:ext cx="704088" cy="484632"/>
          </a:xfrm>
          <a:prstGeom prst="rect">
            <a:avLst/>
          </a:prstGeom>
          <a:noFill/>
          <a:ln/>
        </p:spPr>
        <p:txBody>
          <a:bodyPr wrap="square" rtlCol="0" anchor="ctr"/>
          <a:lstStyle/>
          <a:p>
            <a:pPr marL="0" indent="0">
              <a:buNone/>
            </a:pPr>
            <a:endParaRPr lang="en-US" sz="1300"/>
          </a:p>
        </p:txBody>
      </p:sp>
      <p:sp>
        <p:nvSpPr>
          <p:cNvPr id="41" name="Shape 33">
            <a:extLst>
              <a:ext uri="{FF2B5EF4-FFF2-40B4-BE49-F238E27FC236}">
                <a16:creationId xmlns:a16="http://schemas.microsoft.com/office/drawing/2014/main" id="{D3156B91-03E6-95BE-C715-8608BD221A03}"/>
              </a:ext>
            </a:extLst>
          </p:cNvPr>
          <p:cNvSpPr/>
          <p:nvPr/>
        </p:nvSpPr>
        <p:spPr>
          <a:xfrm>
            <a:off x="683255" y="5259462"/>
            <a:ext cx="2560320" cy="484632"/>
          </a:xfrm>
          <a:prstGeom prst="rect">
            <a:avLst/>
          </a:prstGeom>
          <a:solidFill>
            <a:srgbClr val="F3F4F6"/>
          </a:solidFill>
          <a:ln w="12700">
            <a:solidFill>
              <a:srgbClr val="E5E7EB"/>
            </a:solidFill>
            <a:prstDash val="solid"/>
          </a:ln>
        </p:spPr>
        <p:txBody>
          <a:bodyPr/>
          <a:lstStyle/>
          <a:p>
            <a:endParaRPr lang="it-IT"/>
          </a:p>
        </p:txBody>
      </p:sp>
      <p:sp>
        <p:nvSpPr>
          <p:cNvPr id="42" name="Text 34">
            <a:extLst>
              <a:ext uri="{FF2B5EF4-FFF2-40B4-BE49-F238E27FC236}">
                <a16:creationId xmlns:a16="http://schemas.microsoft.com/office/drawing/2014/main" id="{064201D2-DDB2-938C-7B26-15375DEB8904}"/>
              </a:ext>
            </a:extLst>
          </p:cNvPr>
          <p:cNvSpPr/>
          <p:nvPr/>
        </p:nvSpPr>
        <p:spPr>
          <a:xfrm>
            <a:off x="738119" y="5259462"/>
            <a:ext cx="2487168" cy="484632"/>
          </a:xfrm>
          <a:prstGeom prst="rect">
            <a:avLst/>
          </a:prstGeom>
          <a:noFill/>
          <a:ln/>
        </p:spPr>
        <p:txBody>
          <a:bodyPr wrap="square" rtlCol="0" anchor="ctr"/>
          <a:lstStyle/>
          <a:p>
            <a:pPr marL="0" indent="0">
              <a:buNone/>
            </a:pPr>
            <a:r>
              <a:rPr lang="en-US" sz="1200">
                <a:solidFill>
                  <a:srgbClr val="1F2937"/>
                </a:solidFill>
                <a:latin typeface="Calibri" pitchFamily="34" charset="0"/>
                <a:ea typeface="Calibri" pitchFamily="34" charset="-122"/>
                <a:cs typeface="Calibri" pitchFamily="34" charset="-120"/>
              </a:rPr>
              <a:t>Similar Recipes Suggestion</a:t>
            </a:r>
            <a:endParaRPr lang="en-US" sz="1200"/>
          </a:p>
        </p:txBody>
      </p:sp>
      <p:sp>
        <p:nvSpPr>
          <p:cNvPr id="43" name="Shape 35">
            <a:extLst>
              <a:ext uri="{FF2B5EF4-FFF2-40B4-BE49-F238E27FC236}">
                <a16:creationId xmlns:a16="http://schemas.microsoft.com/office/drawing/2014/main" id="{5A3EFDEB-CFBB-E8D6-4D80-B12B79C3218E}"/>
              </a:ext>
            </a:extLst>
          </p:cNvPr>
          <p:cNvSpPr/>
          <p:nvPr/>
        </p:nvSpPr>
        <p:spPr>
          <a:xfrm>
            <a:off x="3289295" y="5259462"/>
            <a:ext cx="1920240" cy="484632"/>
          </a:xfrm>
          <a:prstGeom prst="rect">
            <a:avLst/>
          </a:prstGeom>
          <a:solidFill>
            <a:srgbClr val="F3F4F6"/>
          </a:solidFill>
          <a:ln w="12700">
            <a:solidFill>
              <a:srgbClr val="E5E7EB"/>
            </a:solidFill>
            <a:prstDash val="solid"/>
          </a:ln>
        </p:spPr>
        <p:txBody>
          <a:bodyPr/>
          <a:lstStyle/>
          <a:p>
            <a:endParaRPr lang="it-IT"/>
          </a:p>
        </p:txBody>
      </p:sp>
      <p:sp>
        <p:nvSpPr>
          <p:cNvPr id="44" name="Text 36">
            <a:extLst>
              <a:ext uri="{FF2B5EF4-FFF2-40B4-BE49-F238E27FC236}">
                <a16:creationId xmlns:a16="http://schemas.microsoft.com/office/drawing/2014/main" id="{D5A30485-4703-3155-F5DA-AA2684C325DE}"/>
              </a:ext>
            </a:extLst>
          </p:cNvPr>
          <p:cNvSpPr/>
          <p:nvPr/>
        </p:nvSpPr>
        <p:spPr>
          <a:xfrm>
            <a:off x="3344159" y="5259462"/>
            <a:ext cx="1847088" cy="484632"/>
          </a:xfrm>
          <a:prstGeom prst="rect">
            <a:avLst/>
          </a:prstGeom>
          <a:noFill/>
          <a:ln/>
        </p:spPr>
        <p:txBody>
          <a:bodyPr wrap="square" rtlCol="0" anchor="ctr"/>
          <a:lstStyle/>
          <a:p>
            <a:pPr marL="0" indent="0">
              <a:buNone/>
            </a:pPr>
            <a:r>
              <a:rPr lang="en-US" sz="1200" dirty="0" err="1">
                <a:solidFill>
                  <a:srgbClr val="1F2937"/>
                </a:solidFill>
                <a:latin typeface="Calibri" pitchFamily="34" charset="0"/>
                <a:ea typeface="Calibri" pitchFamily="34" charset="-122"/>
                <a:cs typeface="Calibri" pitchFamily="34" charset="-120"/>
              </a:rPr>
              <a:t>recipe_mongo_idx</a:t>
            </a:r>
            <a:endParaRPr lang="en-US" sz="1200" dirty="0"/>
          </a:p>
        </p:txBody>
      </p:sp>
      <p:sp>
        <p:nvSpPr>
          <p:cNvPr id="45" name="Shape 37">
            <a:extLst>
              <a:ext uri="{FF2B5EF4-FFF2-40B4-BE49-F238E27FC236}">
                <a16:creationId xmlns:a16="http://schemas.microsoft.com/office/drawing/2014/main" id="{3FB17BEB-30E2-F6C6-B0AF-AE7A183E77ED}"/>
              </a:ext>
            </a:extLst>
          </p:cNvPr>
          <p:cNvSpPr/>
          <p:nvPr/>
        </p:nvSpPr>
        <p:spPr>
          <a:xfrm>
            <a:off x="5255255" y="5259462"/>
            <a:ext cx="1874520" cy="484632"/>
          </a:xfrm>
          <a:prstGeom prst="rect">
            <a:avLst/>
          </a:prstGeom>
          <a:solidFill>
            <a:srgbClr val="F3F4F6"/>
          </a:solidFill>
          <a:ln w="12700">
            <a:solidFill>
              <a:srgbClr val="E5E7EB"/>
            </a:solidFill>
            <a:prstDash val="solid"/>
          </a:ln>
        </p:spPr>
        <p:txBody>
          <a:bodyPr/>
          <a:lstStyle/>
          <a:p>
            <a:endParaRPr lang="it-IT"/>
          </a:p>
        </p:txBody>
      </p:sp>
      <p:sp>
        <p:nvSpPr>
          <p:cNvPr id="46" name="Text 38">
            <a:extLst>
              <a:ext uri="{FF2B5EF4-FFF2-40B4-BE49-F238E27FC236}">
                <a16:creationId xmlns:a16="http://schemas.microsoft.com/office/drawing/2014/main" id="{76351669-A6CB-21FD-2B95-C67285C52067}"/>
              </a:ext>
            </a:extLst>
          </p:cNvPr>
          <p:cNvSpPr/>
          <p:nvPr/>
        </p:nvSpPr>
        <p:spPr>
          <a:xfrm>
            <a:off x="5310119" y="5259462"/>
            <a:ext cx="1801368" cy="484632"/>
          </a:xfrm>
          <a:prstGeom prst="rect">
            <a:avLst/>
          </a:prstGeom>
          <a:noFill/>
          <a:ln/>
        </p:spPr>
        <p:txBody>
          <a:bodyPr wrap="square" rtlCol="0" anchor="ctr"/>
          <a:lstStyle/>
          <a:p>
            <a:pPr marL="0" indent="0">
              <a:buNone/>
            </a:pPr>
            <a:r>
              <a:rPr lang="en-US" sz="1200">
                <a:solidFill>
                  <a:srgbClr val="374151"/>
                </a:solidFill>
                <a:latin typeface="Courier New" pitchFamily="34" charset="0"/>
                <a:ea typeface="Courier New" pitchFamily="34" charset="-122"/>
                <a:cs typeface="Courier New" pitchFamily="34" charset="-120"/>
              </a:rPr>
              <a:t>79,948 → 39,296</a:t>
            </a:r>
            <a:endParaRPr lang="en-US" sz="1200"/>
          </a:p>
        </p:txBody>
      </p:sp>
      <p:sp>
        <p:nvSpPr>
          <p:cNvPr id="47" name="Shape 39">
            <a:extLst>
              <a:ext uri="{FF2B5EF4-FFF2-40B4-BE49-F238E27FC236}">
                <a16:creationId xmlns:a16="http://schemas.microsoft.com/office/drawing/2014/main" id="{B13B41E4-9175-7C2D-71D2-CCDACD0AD8E7}"/>
              </a:ext>
            </a:extLst>
          </p:cNvPr>
          <p:cNvSpPr/>
          <p:nvPr/>
        </p:nvSpPr>
        <p:spPr>
          <a:xfrm>
            <a:off x="7175495" y="5259462"/>
            <a:ext cx="1371600" cy="484632"/>
          </a:xfrm>
          <a:prstGeom prst="rect">
            <a:avLst/>
          </a:prstGeom>
          <a:solidFill>
            <a:srgbClr val="F3F4F6"/>
          </a:solidFill>
          <a:ln w="12700">
            <a:solidFill>
              <a:srgbClr val="E5E7EB"/>
            </a:solidFill>
            <a:prstDash val="solid"/>
          </a:ln>
        </p:spPr>
        <p:txBody>
          <a:bodyPr/>
          <a:lstStyle/>
          <a:p>
            <a:endParaRPr lang="it-IT"/>
          </a:p>
        </p:txBody>
      </p:sp>
      <p:sp>
        <p:nvSpPr>
          <p:cNvPr id="48" name="Text 40">
            <a:extLst>
              <a:ext uri="{FF2B5EF4-FFF2-40B4-BE49-F238E27FC236}">
                <a16:creationId xmlns:a16="http://schemas.microsoft.com/office/drawing/2014/main" id="{C62AC106-42DD-CAE1-9A0B-B899951EAEAF}"/>
              </a:ext>
            </a:extLst>
          </p:cNvPr>
          <p:cNvSpPr/>
          <p:nvPr/>
        </p:nvSpPr>
        <p:spPr>
          <a:xfrm>
            <a:off x="7230359" y="5259462"/>
            <a:ext cx="1298448" cy="484632"/>
          </a:xfrm>
          <a:prstGeom prst="rect">
            <a:avLst/>
          </a:prstGeom>
          <a:noFill/>
          <a:ln/>
        </p:spPr>
        <p:txBody>
          <a:bodyPr wrap="square" rtlCol="0" anchor="ctr"/>
          <a:lstStyle/>
          <a:p>
            <a:pPr marL="0" indent="0">
              <a:buNone/>
            </a:pPr>
            <a:r>
              <a:rPr lang="en-US" sz="1200">
                <a:solidFill>
                  <a:srgbClr val="374151"/>
                </a:solidFill>
                <a:latin typeface="Calibri" pitchFamily="34" charset="0"/>
                <a:ea typeface="Calibri" pitchFamily="34" charset="-122"/>
                <a:cs typeface="Calibri" pitchFamily="34" charset="-120"/>
              </a:rPr>
              <a:t>100 </a:t>
            </a:r>
            <a:r>
              <a:rPr lang="en-US" sz="1200" err="1">
                <a:solidFill>
                  <a:srgbClr val="374151"/>
                </a:solidFill>
                <a:latin typeface="Calibri" pitchFamily="34" charset="0"/>
                <a:ea typeface="Calibri" pitchFamily="34" charset="-122"/>
                <a:cs typeface="Calibri" pitchFamily="34" charset="-120"/>
              </a:rPr>
              <a:t>ms</a:t>
            </a:r>
            <a:r>
              <a:rPr lang="en-US" sz="1200">
                <a:solidFill>
                  <a:srgbClr val="374151"/>
                </a:solidFill>
                <a:latin typeface="Calibri" pitchFamily="34" charset="0"/>
                <a:ea typeface="Calibri" pitchFamily="34" charset="-122"/>
                <a:cs typeface="Calibri" pitchFamily="34" charset="-120"/>
              </a:rPr>
              <a:t> → 62 </a:t>
            </a:r>
            <a:r>
              <a:rPr lang="en-US" sz="1200" err="1">
                <a:solidFill>
                  <a:srgbClr val="374151"/>
                </a:solidFill>
                <a:latin typeface="Calibri" pitchFamily="34" charset="0"/>
                <a:ea typeface="Calibri" pitchFamily="34" charset="-122"/>
                <a:cs typeface="Calibri" pitchFamily="34" charset="-120"/>
              </a:rPr>
              <a:t>ms</a:t>
            </a:r>
            <a:endParaRPr lang="en-US" sz="1200"/>
          </a:p>
        </p:txBody>
      </p:sp>
      <p:sp>
        <p:nvSpPr>
          <p:cNvPr id="51" name="Shape 43">
            <a:extLst>
              <a:ext uri="{FF2B5EF4-FFF2-40B4-BE49-F238E27FC236}">
                <a16:creationId xmlns:a16="http://schemas.microsoft.com/office/drawing/2014/main" id="{42731040-BCC9-1159-81DE-0DC53EE930CA}"/>
              </a:ext>
            </a:extLst>
          </p:cNvPr>
          <p:cNvSpPr/>
          <p:nvPr/>
        </p:nvSpPr>
        <p:spPr>
          <a:xfrm>
            <a:off x="683543" y="4757311"/>
            <a:ext cx="2560320" cy="484632"/>
          </a:xfrm>
          <a:prstGeom prst="rect">
            <a:avLst/>
          </a:prstGeom>
          <a:solidFill>
            <a:srgbClr val="FFFFFF"/>
          </a:solidFill>
          <a:ln w="12700">
            <a:solidFill>
              <a:srgbClr val="E5E7EB"/>
            </a:solidFill>
            <a:prstDash val="solid"/>
          </a:ln>
        </p:spPr>
        <p:txBody>
          <a:bodyPr/>
          <a:lstStyle/>
          <a:p>
            <a:endParaRPr lang="it-IT"/>
          </a:p>
        </p:txBody>
      </p:sp>
      <p:sp>
        <p:nvSpPr>
          <p:cNvPr id="52" name="Text 44">
            <a:extLst>
              <a:ext uri="{FF2B5EF4-FFF2-40B4-BE49-F238E27FC236}">
                <a16:creationId xmlns:a16="http://schemas.microsoft.com/office/drawing/2014/main" id="{4EF0B287-87B9-64ED-69F7-83CA0EC7646E}"/>
              </a:ext>
            </a:extLst>
          </p:cNvPr>
          <p:cNvSpPr/>
          <p:nvPr/>
        </p:nvSpPr>
        <p:spPr>
          <a:xfrm>
            <a:off x="719831" y="4782365"/>
            <a:ext cx="2487168" cy="484632"/>
          </a:xfrm>
          <a:prstGeom prst="rect">
            <a:avLst/>
          </a:prstGeom>
          <a:noFill/>
          <a:ln/>
        </p:spPr>
        <p:txBody>
          <a:bodyPr wrap="square" rtlCol="0" anchor="ctr"/>
          <a:lstStyle/>
          <a:p>
            <a:pPr marL="0" indent="0">
              <a:buNone/>
            </a:pPr>
            <a:r>
              <a:rPr lang="en-US" sz="1200">
                <a:solidFill>
                  <a:srgbClr val="1F2937"/>
                </a:solidFill>
                <a:latin typeface="Calibri" pitchFamily="34" charset="0"/>
                <a:ea typeface="Calibri" pitchFamily="34" charset="-122"/>
                <a:cs typeface="Calibri" pitchFamily="34" charset="-120"/>
              </a:rPr>
              <a:t>Find Similar Chef</a:t>
            </a:r>
            <a:endParaRPr lang="en-US" sz="1200"/>
          </a:p>
        </p:txBody>
      </p:sp>
      <p:sp>
        <p:nvSpPr>
          <p:cNvPr id="54" name="Text 46">
            <a:extLst>
              <a:ext uri="{FF2B5EF4-FFF2-40B4-BE49-F238E27FC236}">
                <a16:creationId xmlns:a16="http://schemas.microsoft.com/office/drawing/2014/main" id="{4F6ECFAD-7DFC-39DC-65BC-300945D7E9BF}"/>
              </a:ext>
            </a:extLst>
          </p:cNvPr>
          <p:cNvSpPr/>
          <p:nvPr/>
        </p:nvSpPr>
        <p:spPr>
          <a:xfrm>
            <a:off x="3353447" y="4782365"/>
            <a:ext cx="1847088" cy="484632"/>
          </a:xfrm>
          <a:prstGeom prst="rect">
            <a:avLst/>
          </a:prstGeom>
          <a:noFill/>
          <a:ln/>
        </p:spPr>
        <p:txBody>
          <a:bodyPr wrap="square" rtlCol="0" anchor="ctr"/>
          <a:lstStyle/>
          <a:p>
            <a:pPr marL="0" indent="0">
              <a:buNone/>
            </a:pPr>
            <a:r>
              <a:rPr lang="en-US" sz="1200" err="1">
                <a:solidFill>
                  <a:srgbClr val="1F2937"/>
                </a:solidFill>
                <a:latin typeface="Calibri" pitchFamily="34" charset="0"/>
                <a:ea typeface="Calibri" pitchFamily="34" charset="-122"/>
                <a:cs typeface="Calibri" pitchFamily="34" charset="-120"/>
              </a:rPr>
              <a:t>chef_mongo_id_idx</a:t>
            </a:r>
            <a:endParaRPr lang="en-US" sz="1200"/>
          </a:p>
        </p:txBody>
      </p:sp>
      <p:sp>
        <p:nvSpPr>
          <p:cNvPr id="56" name="Text 48">
            <a:extLst>
              <a:ext uri="{FF2B5EF4-FFF2-40B4-BE49-F238E27FC236}">
                <a16:creationId xmlns:a16="http://schemas.microsoft.com/office/drawing/2014/main" id="{CD7971E2-AB4C-8988-3601-704C17164C38}"/>
              </a:ext>
            </a:extLst>
          </p:cNvPr>
          <p:cNvSpPr/>
          <p:nvPr/>
        </p:nvSpPr>
        <p:spPr>
          <a:xfrm>
            <a:off x="5296331" y="4774830"/>
            <a:ext cx="1801368" cy="484632"/>
          </a:xfrm>
          <a:prstGeom prst="rect">
            <a:avLst/>
          </a:prstGeom>
          <a:noFill/>
          <a:ln/>
        </p:spPr>
        <p:txBody>
          <a:bodyPr wrap="square" rtlCol="0" anchor="ctr"/>
          <a:lstStyle/>
          <a:p>
            <a:pPr marL="0" indent="0">
              <a:buNone/>
            </a:pPr>
            <a:r>
              <a:rPr lang="en-US" sz="1200">
                <a:solidFill>
                  <a:srgbClr val="374151"/>
                </a:solidFill>
                <a:latin typeface="Courier New" pitchFamily="34" charset="0"/>
                <a:ea typeface="Courier New" pitchFamily="34" charset="-122"/>
                <a:cs typeface="Courier New" pitchFamily="34" charset="-120"/>
              </a:rPr>
              <a:t>661,062 → 623,252</a:t>
            </a:r>
            <a:endParaRPr lang="en-US" sz="1200"/>
          </a:p>
        </p:txBody>
      </p:sp>
      <p:sp>
        <p:nvSpPr>
          <p:cNvPr id="58" name="Text 50">
            <a:extLst>
              <a:ext uri="{FF2B5EF4-FFF2-40B4-BE49-F238E27FC236}">
                <a16:creationId xmlns:a16="http://schemas.microsoft.com/office/drawing/2014/main" id="{11B30D63-792E-A539-69D7-274AE5BF2FD9}"/>
              </a:ext>
            </a:extLst>
          </p:cNvPr>
          <p:cNvSpPr/>
          <p:nvPr/>
        </p:nvSpPr>
        <p:spPr>
          <a:xfrm>
            <a:off x="7202927" y="4745394"/>
            <a:ext cx="1298448" cy="484632"/>
          </a:xfrm>
          <a:prstGeom prst="rect">
            <a:avLst/>
          </a:prstGeom>
          <a:noFill/>
          <a:ln/>
        </p:spPr>
        <p:txBody>
          <a:bodyPr wrap="square" rtlCol="0" anchor="ctr"/>
          <a:lstStyle/>
          <a:p>
            <a:pPr marL="0" indent="0">
              <a:buNone/>
            </a:pPr>
            <a:r>
              <a:rPr lang="en-US" sz="1200">
                <a:solidFill>
                  <a:srgbClr val="374151"/>
                </a:solidFill>
                <a:latin typeface="Calibri" pitchFamily="34" charset="0"/>
                <a:ea typeface="Calibri" pitchFamily="34" charset="-122"/>
                <a:cs typeface="Calibri" pitchFamily="34" charset="-120"/>
              </a:rPr>
              <a:t>206 </a:t>
            </a:r>
            <a:r>
              <a:rPr lang="en-US" sz="1200" err="1">
                <a:solidFill>
                  <a:srgbClr val="374151"/>
                </a:solidFill>
                <a:latin typeface="Calibri" pitchFamily="34" charset="0"/>
                <a:ea typeface="Calibri" pitchFamily="34" charset="-122"/>
                <a:cs typeface="Calibri" pitchFamily="34" charset="-120"/>
              </a:rPr>
              <a:t>ms</a:t>
            </a:r>
            <a:r>
              <a:rPr lang="en-US" sz="1200">
                <a:solidFill>
                  <a:srgbClr val="374151"/>
                </a:solidFill>
                <a:latin typeface="Calibri" pitchFamily="34" charset="0"/>
                <a:ea typeface="Calibri" pitchFamily="34" charset="-122"/>
                <a:cs typeface="Calibri" pitchFamily="34" charset="-120"/>
              </a:rPr>
              <a:t> → 191 </a:t>
            </a:r>
            <a:r>
              <a:rPr lang="en-US" sz="1200" err="1">
                <a:solidFill>
                  <a:srgbClr val="374151"/>
                </a:solidFill>
                <a:latin typeface="Calibri" pitchFamily="34" charset="0"/>
                <a:ea typeface="Calibri" pitchFamily="34" charset="-122"/>
                <a:cs typeface="Calibri" pitchFamily="34" charset="-120"/>
              </a:rPr>
              <a:t>ms</a:t>
            </a:r>
            <a:endParaRPr lang="en-US" sz="1200"/>
          </a:p>
        </p:txBody>
      </p:sp>
      <p:sp>
        <p:nvSpPr>
          <p:cNvPr id="66" name="CasellaDiTesto 65">
            <a:extLst>
              <a:ext uri="{FF2B5EF4-FFF2-40B4-BE49-F238E27FC236}">
                <a16:creationId xmlns:a16="http://schemas.microsoft.com/office/drawing/2014/main" id="{EB0895E0-A678-6832-6A9A-F3E5A63A4CCC}"/>
              </a:ext>
            </a:extLst>
          </p:cNvPr>
          <p:cNvSpPr txBox="1"/>
          <p:nvPr/>
        </p:nvSpPr>
        <p:spPr>
          <a:xfrm>
            <a:off x="232062" y="1113906"/>
            <a:ext cx="8679875" cy="584775"/>
          </a:xfrm>
          <a:prstGeom prst="rect">
            <a:avLst/>
          </a:prstGeom>
          <a:noFill/>
        </p:spPr>
        <p:txBody>
          <a:bodyPr wrap="square" rtlCol="0">
            <a:spAutoFit/>
          </a:bodyPr>
          <a:lstStyle/>
          <a:p>
            <a:pPr algn="just"/>
            <a:r>
              <a:rPr lang="en-US" sz="1600">
                <a:latin typeface="Calibri" pitchFamily="34" charset="0"/>
                <a:ea typeface="Calibri" pitchFamily="34" charset="-122"/>
                <a:cs typeface="Calibri" pitchFamily="34" charset="-120"/>
              </a:rPr>
              <a:t>All Neo4j queries start from a specific node identified by a unique property. Without indexes, every lookup performs a full </a:t>
            </a:r>
            <a:r>
              <a:rPr lang="en-US" sz="1600" err="1">
                <a:latin typeface="Calibri" pitchFamily="34" charset="0"/>
                <a:ea typeface="Calibri" pitchFamily="34" charset="-122"/>
                <a:cs typeface="Calibri" pitchFamily="34" charset="-120"/>
              </a:rPr>
              <a:t>AllNodesScan</a:t>
            </a:r>
            <a:r>
              <a:rPr lang="en-US" sz="1600">
                <a:latin typeface="Calibri" pitchFamily="34" charset="0"/>
                <a:ea typeface="Calibri" pitchFamily="34" charset="-122"/>
                <a:cs typeface="Calibri" pitchFamily="34" charset="-120"/>
              </a:rPr>
              <a:t> (~18,859 nodes).</a:t>
            </a:r>
            <a:endParaRPr lang="it-IT" sz="1600"/>
          </a:p>
        </p:txBody>
      </p:sp>
      <p:sp>
        <p:nvSpPr>
          <p:cNvPr id="68" name="CasellaDiTesto 67">
            <a:extLst>
              <a:ext uri="{FF2B5EF4-FFF2-40B4-BE49-F238E27FC236}">
                <a16:creationId xmlns:a16="http://schemas.microsoft.com/office/drawing/2014/main" id="{C179B957-1493-51EE-B9BC-D802526E9342}"/>
              </a:ext>
            </a:extLst>
          </p:cNvPr>
          <p:cNvSpPr txBox="1"/>
          <p:nvPr/>
        </p:nvSpPr>
        <p:spPr>
          <a:xfrm>
            <a:off x="199462" y="1857093"/>
            <a:ext cx="4572000" cy="369332"/>
          </a:xfrm>
          <a:prstGeom prst="rect">
            <a:avLst/>
          </a:prstGeom>
          <a:noFill/>
        </p:spPr>
        <p:txBody>
          <a:bodyPr wrap="square">
            <a:spAutoFit/>
          </a:bodyPr>
          <a:lstStyle/>
          <a:p>
            <a:r>
              <a:rPr lang="it-IT" i="1" u="sng"/>
              <a:t>Performance </a:t>
            </a:r>
            <a:r>
              <a:rPr lang="it-IT" i="1" u="sng" err="1"/>
              <a:t>Tests</a:t>
            </a:r>
            <a:r>
              <a:rPr lang="it-IT" i="1" u="sng"/>
              <a:t> </a:t>
            </a:r>
          </a:p>
        </p:txBody>
      </p:sp>
      <p:sp>
        <p:nvSpPr>
          <p:cNvPr id="70" name="CasellaDiTesto 69">
            <a:extLst>
              <a:ext uri="{FF2B5EF4-FFF2-40B4-BE49-F238E27FC236}">
                <a16:creationId xmlns:a16="http://schemas.microsoft.com/office/drawing/2014/main" id="{753F8A54-D37F-3893-E774-B28C4C30C221}"/>
              </a:ext>
            </a:extLst>
          </p:cNvPr>
          <p:cNvSpPr txBox="1"/>
          <p:nvPr/>
        </p:nvSpPr>
        <p:spPr>
          <a:xfrm>
            <a:off x="245652" y="2214138"/>
            <a:ext cx="7133417" cy="584775"/>
          </a:xfrm>
          <a:prstGeom prst="rect">
            <a:avLst/>
          </a:prstGeom>
          <a:noFill/>
        </p:spPr>
        <p:txBody>
          <a:bodyPr wrap="square">
            <a:spAutoFit/>
          </a:bodyPr>
          <a:lstStyle/>
          <a:p>
            <a:pPr marL="285750" indent="-285750">
              <a:buFont typeface="Arial" panose="020B0604020202020204" pitchFamily="34" charset="0"/>
              <a:buChar char="•"/>
            </a:pPr>
            <a:r>
              <a:rPr lang="en-US" sz="1600"/>
              <a:t>Execution of most relevant queries</a:t>
            </a:r>
          </a:p>
          <a:p>
            <a:pPr marL="285750" indent="-285750">
              <a:buFont typeface="Arial" panose="020B0604020202020204" pitchFamily="34" charset="0"/>
              <a:buChar char="•"/>
            </a:pPr>
            <a:r>
              <a:rPr lang="en-US" sz="1600"/>
              <a:t>Tests repeated 5 times clearing query cache between each request</a:t>
            </a:r>
            <a:endParaRPr lang="it-IT" sz="1600"/>
          </a:p>
        </p:txBody>
      </p:sp>
    </p:spTree>
    <p:extLst>
      <p:ext uri="{BB962C8B-B14F-4D97-AF65-F5344CB8AC3E}">
        <p14:creationId xmlns:p14="http://schemas.microsoft.com/office/powerpoint/2010/main" val="28876776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6CE02-8921-8C38-9F13-1BD65CAC492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4737838-E2DC-7AA2-CBA2-6910158FE55D}"/>
              </a:ext>
            </a:extLst>
          </p:cNvPr>
          <p:cNvSpPr>
            <a:spLocks noGrp="1"/>
          </p:cNvSpPr>
          <p:nvPr>
            <p:ph type="title"/>
          </p:nvPr>
        </p:nvSpPr>
        <p:spPr/>
        <p:txBody>
          <a:bodyPr>
            <a:normAutofit/>
          </a:bodyPr>
          <a:lstStyle/>
          <a:p>
            <a:r>
              <a:rPr lang="en-US"/>
              <a:t>CAP – theorem consideration</a:t>
            </a:r>
          </a:p>
        </p:txBody>
      </p:sp>
      <p:pic>
        <p:nvPicPr>
          <p:cNvPr id="1026" name="Picture 2" descr="CAP Theorem Library | Yugabyte">
            <a:extLst>
              <a:ext uri="{FF2B5EF4-FFF2-40B4-BE49-F238E27FC236}">
                <a16:creationId xmlns:a16="http://schemas.microsoft.com/office/drawing/2014/main" id="{D4F68135-7DD7-5E0A-1F34-1377D4A54E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22098" y="1804803"/>
            <a:ext cx="3490561" cy="3327541"/>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AB5BD210-CAB2-671F-5E2C-7037F57FFDB0}"/>
              </a:ext>
            </a:extLst>
          </p:cNvPr>
          <p:cNvSpPr txBox="1"/>
          <p:nvPr/>
        </p:nvSpPr>
        <p:spPr>
          <a:xfrm>
            <a:off x="531341" y="1804803"/>
            <a:ext cx="4514850" cy="1015663"/>
          </a:xfrm>
          <a:prstGeom prst="rect">
            <a:avLst/>
          </a:prstGeom>
          <a:noFill/>
        </p:spPr>
        <p:txBody>
          <a:bodyPr wrap="square" rtlCol="0">
            <a:spAutoFit/>
          </a:bodyPr>
          <a:lstStyle/>
          <a:p>
            <a:r>
              <a:rPr lang="it-IT" sz="2000" dirty="0"/>
              <a:t>The </a:t>
            </a:r>
            <a:r>
              <a:rPr lang="it-IT" sz="2000" dirty="0" err="1"/>
              <a:t>two</a:t>
            </a:r>
            <a:r>
              <a:rPr lang="it-IT" sz="2000" dirty="0"/>
              <a:t> </a:t>
            </a:r>
            <a:r>
              <a:rPr lang="it-IT" sz="2000" dirty="0" err="1"/>
              <a:t>selected</a:t>
            </a:r>
            <a:r>
              <a:rPr lang="it-IT" sz="2000" dirty="0"/>
              <a:t> </a:t>
            </a:r>
            <a:r>
              <a:rPr lang="it-IT" sz="2000" dirty="0" err="1"/>
              <a:t>properties</a:t>
            </a:r>
            <a:r>
              <a:rPr lang="it-IT" sz="2000" dirty="0"/>
              <a:t> from the CAP </a:t>
            </a:r>
            <a:r>
              <a:rPr lang="it-IT" sz="2000" dirty="0" err="1"/>
              <a:t>theorem</a:t>
            </a:r>
            <a:r>
              <a:rPr lang="it-IT" sz="2000" dirty="0"/>
              <a:t> for the system </a:t>
            </a:r>
            <a:r>
              <a:rPr lang="it-IT" sz="2000" dirty="0" err="1"/>
              <a:t>were</a:t>
            </a:r>
            <a:r>
              <a:rPr lang="it-IT" sz="2000" dirty="0"/>
              <a:t> </a:t>
            </a:r>
            <a:r>
              <a:rPr lang="it-IT" sz="2000" b="1" dirty="0"/>
              <a:t>Availability</a:t>
            </a:r>
            <a:r>
              <a:rPr lang="it-IT" sz="2000" dirty="0"/>
              <a:t> and </a:t>
            </a:r>
            <a:r>
              <a:rPr lang="it-IT" sz="2000" b="1" dirty="0" err="1"/>
              <a:t>Partition</a:t>
            </a:r>
            <a:r>
              <a:rPr lang="it-IT" sz="2000" b="1" dirty="0"/>
              <a:t> Tolerance (AP)</a:t>
            </a:r>
            <a:endParaRPr lang="it-IT" sz="2000" dirty="0"/>
          </a:p>
        </p:txBody>
      </p:sp>
      <p:sp>
        <p:nvSpPr>
          <p:cNvPr id="4" name="CasellaDiTesto 3">
            <a:extLst>
              <a:ext uri="{FF2B5EF4-FFF2-40B4-BE49-F238E27FC236}">
                <a16:creationId xmlns:a16="http://schemas.microsoft.com/office/drawing/2014/main" id="{B582FB08-CAE7-E627-27A1-34842817B9B5}"/>
              </a:ext>
            </a:extLst>
          </p:cNvPr>
          <p:cNvSpPr txBox="1"/>
          <p:nvPr/>
        </p:nvSpPr>
        <p:spPr>
          <a:xfrm>
            <a:off x="661516" y="3020142"/>
            <a:ext cx="4254500" cy="1631216"/>
          </a:xfrm>
          <a:prstGeom prst="rect">
            <a:avLst/>
          </a:prstGeom>
          <a:noFill/>
        </p:spPr>
        <p:txBody>
          <a:bodyPr wrap="square" rtlCol="0">
            <a:spAutoFit/>
          </a:bodyPr>
          <a:lstStyle/>
          <a:p>
            <a:pPr marL="285750" indent="-285750">
              <a:buFont typeface="Arial" panose="020B0604020202020204" pitchFamily="34" charset="0"/>
              <a:buChar char="•"/>
            </a:pPr>
            <a:r>
              <a:rPr lang="it-IT" sz="2000" err="1"/>
              <a:t>Ensures</a:t>
            </a:r>
            <a:r>
              <a:rPr lang="it-IT" sz="2000"/>
              <a:t> </a:t>
            </a:r>
            <a:r>
              <a:rPr lang="it-IT" sz="2000" err="1"/>
              <a:t>that</a:t>
            </a:r>
            <a:r>
              <a:rPr lang="it-IT" sz="2000"/>
              <a:t> the system </a:t>
            </a:r>
            <a:r>
              <a:rPr lang="it-IT" sz="2000" err="1"/>
              <a:t>remains</a:t>
            </a:r>
            <a:r>
              <a:rPr lang="it-IT" sz="2000"/>
              <a:t> </a:t>
            </a:r>
            <a:r>
              <a:rPr lang="it-IT" sz="2000" err="1"/>
              <a:t>accessible</a:t>
            </a:r>
            <a:r>
              <a:rPr lang="it-IT" sz="2000"/>
              <a:t> and responsive to users.</a:t>
            </a:r>
          </a:p>
          <a:p>
            <a:pPr marL="285750" indent="-285750">
              <a:buFont typeface="Arial" panose="020B0604020202020204" pitchFamily="34" charset="0"/>
              <a:buChar char="•"/>
            </a:pPr>
            <a:r>
              <a:rPr lang="it-IT" sz="2000" err="1"/>
              <a:t>Allows</a:t>
            </a:r>
            <a:r>
              <a:rPr lang="it-IT" sz="2000"/>
              <a:t> the system to continue </a:t>
            </a:r>
            <a:r>
              <a:rPr lang="it-IT" sz="2000" err="1"/>
              <a:t>operating</a:t>
            </a:r>
            <a:r>
              <a:rPr lang="it-IT" sz="2000"/>
              <a:t> </a:t>
            </a:r>
            <a:r>
              <a:rPr lang="it-IT" sz="2000" err="1"/>
              <a:t>despite</a:t>
            </a:r>
            <a:r>
              <a:rPr lang="it-IT" sz="2000"/>
              <a:t> network </a:t>
            </a:r>
            <a:r>
              <a:rPr lang="it-IT" sz="2000" err="1"/>
              <a:t>partitions</a:t>
            </a:r>
            <a:r>
              <a:rPr lang="it-IT" sz="2000"/>
              <a:t>.</a:t>
            </a:r>
          </a:p>
        </p:txBody>
      </p:sp>
    </p:spTree>
    <p:extLst>
      <p:ext uri="{BB962C8B-B14F-4D97-AF65-F5344CB8AC3E}">
        <p14:creationId xmlns:p14="http://schemas.microsoft.com/office/powerpoint/2010/main" val="18116753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AAA0F97-1B2C-F44D-FB20-DBC7C62ABB2B}"/>
              </a:ext>
            </a:extLst>
          </p:cNvPr>
          <p:cNvSpPr>
            <a:spLocks noGrp="1"/>
          </p:cNvSpPr>
          <p:nvPr>
            <p:ph type="title"/>
          </p:nvPr>
        </p:nvSpPr>
        <p:spPr>
          <a:xfrm>
            <a:off x="182741" y="80261"/>
            <a:ext cx="8761797" cy="1143000"/>
          </a:xfrm>
        </p:spPr>
        <p:txBody>
          <a:bodyPr/>
          <a:lstStyle/>
          <a:p>
            <a:r>
              <a:rPr lang="en-US"/>
              <a:t>Handling Intra-DB Consistency </a:t>
            </a:r>
            <a:endParaRPr lang="it-IT"/>
          </a:p>
        </p:txBody>
      </p:sp>
      <p:pic>
        <p:nvPicPr>
          <p:cNvPr id="5" name="Immagine 4">
            <a:extLst>
              <a:ext uri="{FF2B5EF4-FFF2-40B4-BE49-F238E27FC236}">
                <a16:creationId xmlns:a16="http://schemas.microsoft.com/office/drawing/2014/main" id="{2E16CB32-8EC6-351C-880A-1FC79509BF88}"/>
              </a:ext>
            </a:extLst>
          </p:cNvPr>
          <p:cNvPicPr>
            <a:picLocks noChangeAspect="1"/>
          </p:cNvPicPr>
          <p:nvPr/>
        </p:nvPicPr>
        <p:blipFill>
          <a:blip r:embed="rId2"/>
          <a:stretch>
            <a:fillRect/>
          </a:stretch>
        </p:blipFill>
        <p:spPr>
          <a:xfrm>
            <a:off x="563671" y="1416033"/>
            <a:ext cx="7772400" cy="4201297"/>
          </a:xfrm>
          <a:prstGeom prst="rect">
            <a:avLst/>
          </a:prstGeom>
        </p:spPr>
      </p:pic>
    </p:spTree>
    <p:extLst>
      <p:ext uri="{BB962C8B-B14F-4D97-AF65-F5344CB8AC3E}">
        <p14:creationId xmlns:p14="http://schemas.microsoft.com/office/powerpoint/2010/main" val="9918736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6719C-05B2-C6C3-75F5-883D8653070A}"/>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6BE99EA-3D68-8DA2-95B5-8D7F46540DD0}"/>
              </a:ext>
            </a:extLst>
          </p:cNvPr>
          <p:cNvSpPr>
            <a:spLocks noGrp="1"/>
          </p:cNvSpPr>
          <p:nvPr>
            <p:ph type="title"/>
          </p:nvPr>
        </p:nvSpPr>
        <p:spPr>
          <a:xfrm>
            <a:off x="191100" y="732"/>
            <a:ext cx="8761797" cy="1143000"/>
          </a:xfrm>
        </p:spPr>
        <p:txBody>
          <a:bodyPr>
            <a:normAutofit/>
          </a:bodyPr>
          <a:lstStyle/>
          <a:p>
            <a:r>
              <a:rPr lang="en-US"/>
              <a:t>Swagger UI REST APIs documentation</a:t>
            </a:r>
          </a:p>
        </p:txBody>
      </p:sp>
      <p:sp>
        <p:nvSpPr>
          <p:cNvPr id="4" name="CasellaDiTesto 3">
            <a:extLst>
              <a:ext uri="{FF2B5EF4-FFF2-40B4-BE49-F238E27FC236}">
                <a16:creationId xmlns:a16="http://schemas.microsoft.com/office/drawing/2014/main" id="{6F79EBDD-AAC9-7899-4225-52081EBC261C}"/>
              </a:ext>
            </a:extLst>
          </p:cNvPr>
          <p:cNvSpPr txBox="1"/>
          <p:nvPr/>
        </p:nvSpPr>
        <p:spPr>
          <a:xfrm>
            <a:off x="359135" y="1277773"/>
            <a:ext cx="814647" cy="369332"/>
          </a:xfrm>
          <a:prstGeom prst="rect">
            <a:avLst/>
          </a:prstGeom>
          <a:noFill/>
        </p:spPr>
        <p:txBody>
          <a:bodyPr wrap="square" rtlCol="0">
            <a:spAutoFit/>
          </a:bodyPr>
          <a:lstStyle/>
          <a:p>
            <a:r>
              <a:rPr lang="it-IT" b="1" i="1" u="sng"/>
              <a:t>Admin</a:t>
            </a:r>
            <a:endParaRPr lang="it-IT" sz="1600" b="1" i="1" u="sng"/>
          </a:p>
        </p:txBody>
      </p:sp>
      <p:sp>
        <p:nvSpPr>
          <p:cNvPr id="3" name="CasellaDiTesto 2">
            <a:hlinkClick r:id="rId3"/>
            <a:extLst>
              <a:ext uri="{FF2B5EF4-FFF2-40B4-BE49-F238E27FC236}">
                <a16:creationId xmlns:a16="http://schemas.microsoft.com/office/drawing/2014/main" id="{5D301932-8A82-C256-0A2B-D7DF202352B2}"/>
              </a:ext>
            </a:extLst>
          </p:cNvPr>
          <p:cNvSpPr txBox="1"/>
          <p:nvPr/>
        </p:nvSpPr>
        <p:spPr>
          <a:xfrm>
            <a:off x="2332892" y="908442"/>
            <a:ext cx="4478216" cy="369331"/>
          </a:xfrm>
          <a:prstGeom prst="rect">
            <a:avLst/>
          </a:prstGeom>
          <a:noFill/>
        </p:spPr>
        <p:txBody>
          <a:bodyPr wrap="square" rtlCol="0">
            <a:spAutoFit/>
          </a:bodyPr>
          <a:lstStyle/>
          <a:p>
            <a:pPr algn="ctr"/>
            <a:r>
              <a:rPr lang="it-IT" dirty="0">
                <a:solidFill>
                  <a:srgbClr val="0070C0"/>
                </a:solidFill>
                <a:hlinkClick r:id="rId3">
                  <a:extLst>
                    <a:ext uri="{A12FA001-AC4F-418D-AE19-62706E023703}">
                      <ahyp:hlinkClr xmlns:ahyp="http://schemas.microsoft.com/office/drawing/2018/hyperlinkcolor" val="tx"/>
                    </a:ext>
                  </a:extLst>
                </a:hlinkClick>
              </a:rPr>
              <a:t>Overview</a:t>
            </a:r>
            <a:endParaRPr lang="it-IT" dirty="0">
              <a:solidFill>
                <a:srgbClr val="0070C0"/>
              </a:solidFill>
            </a:endParaRPr>
          </a:p>
        </p:txBody>
      </p:sp>
      <p:pic>
        <p:nvPicPr>
          <p:cNvPr id="7" name="Immagine 6">
            <a:extLst>
              <a:ext uri="{FF2B5EF4-FFF2-40B4-BE49-F238E27FC236}">
                <a16:creationId xmlns:a16="http://schemas.microsoft.com/office/drawing/2014/main" id="{CA21E278-0A07-3C00-6B0E-7E9744F5DF7A}"/>
              </a:ext>
            </a:extLst>
          </p:cNvPr>
          <p:cNvPicPr>
            <a:picLocks noChangeAspect="1"/>
          </p:cNvPicPr>
          <p:nvPr/>
        </p:nvPicPr>
        <p:blipFill>
          <a:blip r:embed="rId4"/>
          <a:stretch>
            <a:fillRect/>
          </a:stretch>
        </p:blipFill>
        <p:spPr>
          <a:xfrm>
            <a:off x="934064" y="1691784"/>
            <a:ext cx="7275871" cy="4330737"/>
          </a:xfrm>
          <a:prstGeom prst="rect">
            <a:avLst/>
          </a:prstGeom>
        </p:spPr>
      </p:pic>
    </p:spTree>
    <p:extLst>
      <p:ext uri="{BB962C8B-B14F-4D97-AF65-F5344CB8AC3E}">
        <p14:creationId xmlns:p14="http://schemas.microsoft.com/office/powerpoint/2010/main" val="4351307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E6B83-9DA7-E35F-1B65-1CC323859A9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046C651-FEB5-4BC1-8134-417C64572ADE}"/>
              </a:ext>
            </a:extLst>
          </p:cNvPr>
          <p:cNvSpPr>
            <a:spLocks noGrp="1"/>
          </p:cNvSpPr>
          <p:nvPr>
            <p:ph type="title"/>
          </p:nvPr>
        </p:nvSpPr>
        <p:spPr/>
        <p:txBody>
          <a:bodyPr>
            <a:normAutofit/>
          </a:bodyPr>
          <a:lstStyle/>
          <a:p>
            <a:r>
              <a:rPr lang="en-US"/>
              <a:t>Swagger UI REST APIs documentation</a:t>
            </a:r>
          </a:p>
        </p:txBody>
      </p:sp>
      <p:sp>
        <p:nvSpPr>
          <p:cNvPr id="4" name="CasellaDiTesto 3">
            <a:extLst>
              <a:ext uri="{FF2B5EF4-FFF2-40B4-BE49-F238E27FC236}">
                <a16:creationId xmlns:a16="http://schemas.microsoft.com/office/drawing/2014/main" id="{B2FF15E0-D52B-FB64-6FC2-D8C9BF2A2D61}"/>
              </a:ext>
            </a:extLst>
          </p:cNvPr>
          <p:cNvSpPr txBox="1"/>
          <p:nvPr/>
        </p:nvSpPr>
        <p:spPr>
          <a:xfrm>
            <a:off x="182741" y="1505518"/>
            <a:ext cx="1040706" cy="369332"/>
          </a:xfrm>
          <a:prstGeom prst="rect">
            <a:avLst/>
          </a:prstGeom>
          <a:noFill/>
        </p:spPr>
        <p:txBody>
          <a:bodyPr wrap="square" rtlCol="0">
            <a:spAutoFit/>
          </a:bodyPr>
          <a:lstStyle/>
          <a:p>
            <a:r>
              <a:rPr lang="it-IT" b="1" i="1" u="sng" err="1"/>
              <a:t>Recipes</a:t>
            </a:r>
            <a:endParaRPr lang="it-IT" b="1" i="1" u="sng"/>
          </a:p>
        </p:txBody>
      </p:sp>
      <p:pic>
        <p:nvPicPr>
          <p:cNvPr id="9" name="Immagine 8">
            <a:extLst>
              <a:ext uri="{FF2B5EF4-FFF2-40B4-BE49-F238E27FC236}">
                <a16:creationId xmlns:a16="http://schemas.microsoft.com/office/drawing/2014/main" id="{34BC873F-9A7F-2947-D56E-276666BF747A}"/>
              </a:ext>
            </a:extLst>
          </p:cNvPr>
          <p:cNvPicPr>
            <a:picLocks noChangeAspect="1"/>
          </p:cNvPicPr>
          <p:nvPr/>
        </p:nvPicPr>
        <p:blipFill>
          <a:blip r:embed="rId3"/>
          <a:stretch>
            <a:fillRect/>
          </a:stretch>
        </p:blipFill>
        <p:spPr>
          <a:xfrm>
            <a:off x="441585" y="2012287"/>
            <a:ext cx="8260829" cy="2833425"/>
          </a:xfrm>
          <a:prstGeom prst="rect">
            <a:avLst/>
          </a:prstGeom>
        </p:spPr>
      </p:pic>
    </p:spTree>
    <p:extLst>
      <p:ext uri="{BB962C8B-B14F-4D97-AF65-F5344CB8AC3E}">
        <p14:creationId xmlns:p14="http://schemas.microsoft.com/office/powerpoint/2010/main" val="22920379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4173E-268C-2C01-D651-9859E7C379A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5902434-492C-C50C-2C91-87AA051AD1B1}"/>
              </a:ext>
            </a:extLst>
          </p:cNvPr>
          <p:cNvSpPr>
            <a:spLocks noGrp="1"/>
          </p:cNvSpPr>
          <p:nvPr>
            <p:ph type="title"/>
          </p:nvPr>
        </p:nvSpPr>
        <p:spPr/>
        <p:txBody>
          <a:bodyPr>
            <a:normAutofit/>
          </a:bodyPr>
          <a:lstStyle/>
          <a:p>
            <a:r>
              <a:rPr lang="en-US"/>
              <a:t>Swagger UI REST APIs documentation</a:t>
            </a:r>
          </a:p>
        </p:txBody>
      </p:sp>
      <p:sp>
        <p:nvSpPr>
          <p:cNvPr id="4" name="CasellaDiTesto 3">
            <a:extLst>
              <a:ext uri="{FF2B5EF4-FFF2-40B4-BE49-F238E27FC236}">
                <a16:creationId xmlns:a16="http://schemas.microsoft.com/office/drawing/2014/main" id="{9998897E-ED2F-1F20-FDFA-175A726AAB8E}"/>
              </a:ext>
            </a:extLst>
          </p:cNvPr>
          <p:cNvSpPr txBox="1"/>
          <p:nvPr/>
        </p:nvSpPr>
        <p:spPr>
          <a:xfrm>
            <a:off x="269507" y="1136840"/>
            <a:ext cx="617413" cy="369332"/>
          </a:xfrm>
          <a:prstGeom prst="rect">
            <a:avLst/>
          </a:prstGeom>
          <a:noFill/>
        </p:spPr>
        <p:txBody>
          <a:bodyPr wrap="square" rtlCol="0">
            <a:spAutoFit/>
          </a:bodyPr>
          <a:lstStyle/>
          <a:p>
            <a:r>
              <a:rPr lang="it-IT" b="1" i="1" u="sng"/>
              <a:t>Chef</a:t>
            </a:r>
            <a:endParaRPr lang="it-IT" sz="1600" b="1" i="1" u="sng"/>
          </a:p>
        </p:txBody>
      </p:sp>
      <p:pic>
        <p:nvPicPr>
          <p:cNvPr id="6" name="Immagine 5">
            <a:extLst>
              <a:ext uri="{FF2B5EF4-FFF2-40B4-BE49-F238E27FC236}">
                <a16:creationId xmlns:a16="http://schemas.microsoft.com/office/drawing/2014/main" id="{7371DD8D-F35F-6A19-223D-AEA31C460A1E}"/>
              </a:ext>
            </a:extLst>
          </p:cNvPr>
          <p:cNvPicPr>
            <a:picLocks noChangeAspect="1"/>
          </p:cNvPicPr>
          <p:nvPr/>
        </p:nvPicPr>
        <p:blipFill>
          <a:blip r:embed="rId2"/>
          <a:stretch>
            <a:fillRect/>
          </a:stretch>
        </p:blipFill>
        <p:spPr>
          <a:xfrm>
            <a:off x="491092" y="1602425"/>
            <a:ext cx="8145094" cy="4357886"/>
          </a:xfrm>
          <a:prstGeom prst="rect">
            <a:avLst/>
          </a:prstGeom>
        </p:spPr>
      </p:pic>
    </p:spTree>
    <p:extLst>
      <p:ext uri="{BB962C8B-B14F-4D97-AF65-F5344CB8AC3E}">
        <p14:creationId xmlns:p14="http://schemas.microsoft.com/office/powerpoint/2010/main" val="30729991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E94A9-CE94-53F3-C8A7-7D3796A9CEE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93C1774-32F1-46AA-BCDF-C4D03DD861AF}"/>
              </a:ext>
            </a:extLst>
          </p:cNvPr>
          <p:cNvSpPr>
            <a:spLocks noGrp="1"/>
          </p:cNvSpPr>
          <p:nvPr>
            <p:ph type="title"/>
          </p:nvPr>
        </p:nvSpPr>
        <p:spPr/>
        <p:txBody>
          <a:bodyPr>
            <a:normAutofit/>
          </a:bodyPr>
          <a:lstStyle/>
          <a:p>
            <a:r>
              <a:rPr lang="en-US"/>
              <a:t>Swagger UI REST APIs documentation</a:t>
            </a:r>
          </a:p>
        </p:txBody>
      </p:sp>
      <p:sp>
        <p:nvSpPr>
          <p:cNvPr id="4" name="CasellaDiTesto 3">
            <a:extLst>
              <a:ext uri="{FF2B5EF4-FFF2-40B4-BE49-F238E27FC236}">
                <a16:creationId xmlns:a16="http://schemas.microsoft.com/office/drawing/2014/main" id="{D53BD277-3FF5-1775-85BB-985F5EC33715}"/>
              </a:ext>
            </a:extLst>
          </p:cNvPr>
          <p:cNvSpPr txBox="1"/>
          <p:nvPr/>
        </p:nvSpPr>
        <p:spPr>
          <a:xfrm>
            <a:off x="306506" y="1098340"/>
            <a:ext cx="829458" cy="369332"/>
          </a:xfrm>
          <a:prstGeom prst="rect">
            <a:avLst/>
          </a:prstGeom>
          <a:noFill/>
        </p:spPr>
        <p:txBody>
          <a:bodyPr wrap="none" rtlCol="0">
            <a:spAutoFit/>
          </a:bodyPr>
          <a:lstStyle/>
          <a:p>
            <a:r>
              <a:rPr lang="it-IT" b="1" i="1" u="sng"/>
              <a:t>Foodie</a:t>
            </a:r>
            <a:endParaRPr lang="it-IT" sz="1600" b="1" i="1" u="sng"/>
          </a:p>
        </p:txBody>
      </p:sp>
      <p:pic>
        <p:nvPicPr>
          <p:cNvPr id="6" name="Immagine 5">
            <a:extLst>
              <a:ext uri="{FF2B5EF4-FFF2-40B4-BE49-F238E27FC236}">
                <a16:creationId xmlns:a16="http://schemas.microsoft.com/office/drawing/2014/main" id="{09367A07-E458-68A3-DA9F-B05BF2A99A52}"/>
              </a:ext>
            </a:extLst>
          </p:cNvPr>
          <p:cNvPicPr>
            <a:picLocks noChangeAspect="1"/>
          </p:cNvPicPr>
          <p:nvPr/>
        </p:nvPicPr>
        <p:blipFill>
          <a:blip r:embed="rId2"/>
          <a:stretch>
            <a:fillRect/>
          </a:stretch>
        </p:blipFill>
        <p:spPr>
          <a:xfrm>
            <a:off x="439155" y="1515797"/>
            <a:ext cx="8248967" cy="4424028"/>
          </a:xfrm>
          <a:prstGeom prst="rect">
            <a:avLst/>
          </a:prstGeom>
        </p:spPr>
      </p:pic>
    </p:spTree>
    <p:extLst>
      <p:ext uri="{BB962C8B-B14F-4D97-AF65-F5344CB8AC3E}">
        <p14:creationId xmlns:p14="http://schemas.microsoft.com/office/powerpoint/2010/main" val="13658139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F8AC5-4010-CF99-9EFC-F0D847E2C71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B21CCCF-0CA3-50C7-AB21-38C13A606A9A}"/>
              </a:ext>
            </a:extLst>
          </p:cNvPr>
          <p:cNvSpPr>
            <a:spLocks noGrp="1"/>
          </p:cNvSpPr>
          <p:nvPr>
            <p:ph type="title"/>
          </p:nvPr>
        </p:nvSpPr>
        <p:spPr/>
        <p:txBody>
          <a:bodyPr>
            <a:normAutofit/>
          </a:bodyPr>
          <a:lstStyle/>
          <a:p>
            <a:r>
              <a:rPr lang="en-US"/>
              <a:t>Swagger UI REST APIs documentation</a:t>
            </a:r>
          </a:p>
        </p:txBody>
      </p:sp>
      <p:sp>
        <p:nvSpPr>
          <p:cNvPr id="4" name="CasellaDiTesto 3">
            <a:extLst>
              <a:ext uri="{FF2B5EF4-FFF2-40B4-BE49-F238E27FC236}">
                <a16:creationId xmlns:a16="http://schemas.microsoft.com/office/drawing/2014/main" id="{D4919F98-26C6-92F5-7CD5-AEC90F4A25C3}"/>
              </a:ext>
            </a:extLst>
          </p:cNvPr>
          <p:cNvSpPr txBox="1"/>
          <p:nvPr/>
        </p:nvSpPr>
        <p:spPr>
          <a:xfrm>
            <a:off x="256775" y="4011775"/>
            <a:ext cx="1260410" cy="369332"/>
          </a:xfrm>
          <a:prstGeom prst="rect">
            <a:avLst/>
          </a:prstGeom>
          <a:noFill/>
        </p:spPr>
        <p:txBody>
          <a:bodyPr wrap="none" rtlCol="0">
            <a:spAutoFit/>
          </a:bodyPr>
          <a:lstStyle/>
          <a:p>
            <a:r>
              <a:rPr lang="it-IT" b="1" i="1" u="sng" err="1"/>
              <a:t>Ingredients</a:t>
            </a:r>
            <a:endParaRPr lang="it-IT" sz="1600" b="1" i="1" u="sng"/>
          </a:p>
        </p:txBody>
      </p:sp>
      <p:sp>
        <p:nvSpPr>
          <p:cNvPr id="9" name="CasellaDiTesto 8">
            <a:extLst>
              <a:ext uri="{FF2B5EF4-FFF2-40B4-BE49-F238E27FC236}">
                <a16:creationId xmlns:a16="http://schemas.microsoft.com/office/drawing/2014/main" id="{40A1D350-55FB-D8BB-8214-6A5151E3C1C1}"/>
              </a:ext>
            </a:extLst>
          </p:cNvPr>
          <p:cNvSpPr txBox="1"/>
          <p:nvPr/>
        </p:nvSpPr>
        <p:spPr>
          <a:xfrm>
            <a:off x="256775" y="1367403"/>
            <a:ext cx="651140" cy="369332"/>
          </a:xfrm>
          <a:prstGeom prst="rect">
            <a:avLst/>
          </a:prstGeom>
          <a:noFill/>
        </p:spPr>
        <p:txBody>
          <a:bodyPr wrap="none" rtlCol="0">
            <a:spAutoFit/>
          </a:bodyPr>
          <a:lstStyle/>
          <a:p>
            <a:r>
              <a:rPr lang="it-IT" b="1" i="1" u="sng"/>
              <a:t>Auth</a:t>
            </a:r>
            <a:endParaRPr lang="it-IT" sz="1600" b="1" i="1" u="sng"/>
          </a:p>
        </p:txBody>
      </p:sp>
      <p:pic>
        <p:nvPicPr>
          <p:cNvPr id="5" name="Immagine 4">
            <a:extLst>
              <a:ext uri="{FF2B5EF4-FFF2-40B4-BE49-F238E27FC236}">
                <a16:creationId xmlns:a16="http://schemas.microsoft.com/office/drawing/2014/main" id="{1BFD9385-AF9B-774E-DB48-7A4875CB230C}"/>
              </a:ext>
            </a:extLst>
          </p:cNvPr>
          <p:cNvPicPr>
            <a:picLocks noChangeAspect="1"/>
          </p:cNvPicPr>
          <p:nvPr/>
        </p:nvPicPr>
        <p:blipFill>
          <a:blip r:embed="rId2"/>
          <a:stretch>
            <a:fillRect/>
          </a:stretch>
        </p:blipFill>
        <p:spPr>
          <a:xfrm>
            <a:off x="400306" y="1804716"/>
            <a:ext cx="8286494" cy="1624284"/>
          </a:xfrm>
          <a:prstGeom prst="rect">
            <a:avLst/>
          </a:prstGeom>
        </p:spPr>
      </p:pic>
      <p:pic>
        <p:nvPicPr>
          <p:cNvPr id="8" name="Immagine 7">
            <a:extLst>
              <a:ext uri="{FF2B5EF4-FFF2-40B4-BE49-F238E27FC236}">
                <a16:creationId xmlns:a16="http://schemas.microsoft.com/office/drawing/2014/main" id="{834C3007-E8F2-D76C-8AA8-E6F75AC9601A}"/>
              </a:ext>
            </a:extLst>
          </p:cNvPr>
          <p:cNvPicPr>
            <a:picLocks noChangeAspect="1"/>
          </p:cNvPicPr>
          <p:nvPr/>
        </p:nvPicPr>
        <p:blipFill>
          <a:blip r:embed="rId3"/>
          <a:stretch>
            <a:fillRect/>
          </a:stretch>
        </p:blipFill>
        <p:spPr>
          <a:xfrm>
            <a:off x="400306" y="4381107"/>
            <a:ext cx="8286494" cy="933134"/>
          </a:xfrm>
          <a:prstGeom prst="rect">
            <a:avLst/>
          </a:prstGeom>
        </p:spPr>
      </p:pic>
    </p:spTree>
    <p:extLst>
      <p:ext uri="{BB962C8B-B14F-4D97-AF65-F5344CB8AC3E}">
        <p14:creationId xmlns:p14="http://schemas.microsoft.com/office/powerpoint/2010/main" val="35031433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F10A9-BD3E-0D97-3FDA-DFD59CDCDD7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99CA852-B84C-D709-75CA-CE2056DDD1D0}"/>
              </a:ext>
            </a:extLst>
          </p:cNvPr>
          <p:cNvSpPr>
            <a:spLocks noGrp="1"/>
          </p:cNvSpPr>
          <p:nvPr>
            <p:ph type="title"/>
          </p:nvPr>
        </p:nvSpPr>
        <p:spPr/>
        <p:txBody>
          <a:bodyPr>
            <a:normAutofit/>
          </a:bodyPr>
          <a:lstStyle/>
          <a:p>
            <a:r>
              <a:rPr lang="en-US"/>
              <a:t>Swagger UI REST APIs documentation</a:t>
            </a:r>
          </a:p>
        </p:txBody>
      </p:sp>
      <p:sp>
        <p:nvSpPr>
          <p:cNvPr id="4" name="CasellaDiTesto 3">
            <a:extLst>
              <a:ext uri="{FF2B5EF4-FFF2-40B4-BE49-F238E27FC236}">
                <a16:creationId xmlns:a16="http://schemas.microsoft.com/office/drawing/2014/main" id="{DAF5226E-F1F0-FCBF-AA2C-0912B13A5E8A}"/>
              </a:ext>
            </a:extLst>
          </p:cNvPr>
          <p:cNvSpPr txBox="1"/>
          <p:nvPr/>
        </p:nvSpPr>
        <p:spPr>
          <a:xfrm>
            <a:off x="199462" y="1063816"/>
            <a:ext cx="1360629" cy="369332"/>
          </a:xfrm>
          <a:prstGeom prst="rect">
            <a:avLst/>
          </a:prstGeom>
          <a:noFill/>
        </p:spPr>
        <p:txBody>
          <a:bodyPr wrap="none" rtlCol="0">
            <a:spAutoFit/>
          </a:bodyPr>
          <a:lstStyle/>
          <a:p>
            <a:r>
              <a:rPr lang="it-IT" b="1" i="1" u="sng" err="1"/>
              <a:t>SmartFridge</a:t>
            </a:r>
            <a:endParaRPr lang="it-IT" sz="1600" b="1" i="1" u="sng"/>
          </a:p>
        </p:txBody>
      </p:sp>
      <p:sp>
        <p:nvSpPr>
          <p:cNvPr id="6" name="CasellaDiTesto 5">
            <a:extLst>
              <a:ext uri="{FF2B5EF4-FFF2-40B4-BE49-F238E27FC236}">
                <a16:creationId xmlns:a16="http://schemas.microsoft.com/office/drawing/2014/main" id="{577BB396-CE44-2CF2-D757-BAC9CFA3AA68}"/>
              </a:ext>
            </a:extLst>
          </p:cNvPr>
          <p:cNvSpPr txBox="1"/>
          <p:nvPr/>
        </p:nvSpPr>
        <p:spPr>
          <a:xfrm>
            <a:off x="199462" y="3746451"/>
            <a:ext cx="4579374" cy="369332"/>
          </a:xfrm>
          <a:prstGeom prst="rect">
            <a:avLst/>
          </a:prstGeom>
          <a:noFill/>
        </p:spPr>
        <p:txBody>
          <a:bodyPr wrap="square">
            <a:spAutoFit/>
          </a:bodyPr>
          <a:lstStyle/>
          <a:p>
            <a:r>
              <a:rPr lang="it-IT" b="1" i="1" u="sng" err="1"/>
              <a:t>S</a:t>
            </a:r>
            <a:r>
              <a:rPr lang="it-IT" sz="1800" b="1" i="1" u="sng" err="1"/>
              <a:t>hoppingList</a:t>
            </a:r>
            <a:endParaRPr lang="it-IT" sz="1800" b="1" i="1" u="sng"/>
          </a:p>
        </p:txBody>
      </p:sp>
      <p:pic>
        <p:nvPicPr>
          <p:cNvPr id="5" name="Immagine 4">
            <a:extLst>
              <a:ext uri="{FF2B5EF4-FFF2-40B4-BE49-F238E27FC236}">
                <a16:creationId xmlns:a16="http://schemas.microsoft.com/office/drawing/2014/main" id="{73A87ABB-8584-74F1-792B-97A730B6389C}"/>
              </a:ext>
            </a:extLst>
          </p:cNvPr>
          <p:cNvPicPr>
            <a:picLocks noChangeAspect="1"/>
          </p:cNvPicPr>
          <p:nvPr/>
        </p:nvPicPr>
        <p:blipFill>
          <a:blip r:embed="rId2"/>
          <a:stretch>
            <a:fillRect/>
          </a:stretch>
        </p:blipFill>
        <p:spPr>
          <a:xfrm>
            <a:off x="686549" y="4131172"/>
            <a:ext cx="7770901" cy="1945834"/>
          </a:xfrm>
          <a:prstGeom prst="rect">
            <a:avLst/>
          </a:prstGeom>
        </p:spPr>
      </p:pic>
      <p:pic>
        <p:nvPicPr>
          <p:cNvPr id="9" name="Immagine 8">
            <a:extLst>
              <a:ext uri="{FF2B5EF4-FFF2-40B4-BE49-F238E27FC236}">
                <a16:creationId xmlns:a16="http://schemas.microsoft.com/office/drawing/2014/main" id="{84110045-3FC0-278F-7888-DD8D037E7296}"/>
              </a:ext>
            </a:extLst>
          </p:cNvPr>
          <p:cNvPicPr>
            <a:picLocks noChangeAspect="1"/>
          </p:cNvPicPr>
          <p:nvPr/>
        </p:nvPicPr>
        <p:blipFill>
          <a:blip r:embed="rId3"/>
          <a:stretch>
            <a:fillRect/>
          </a:stretch>
        </p:blipFill>
        <p:spPr>
          <a:xfrm>
            <a:off x="686549" y="1433148"/>
            <a:ext cx="7770901" cy="2297914"/>
          </a:xfrm>
          <a:prstGeom prst="rect">
            <a:avLst/>
          </a:prstGeom>
        </p:spPr>
      </p:pic>
    </p:spTree>
    <p:extLst>
      <p:ext uri="{BB962C8B-B14F-4D97-AF65-F5344CB8AC3E}">
        <p14:creationId xmlns:p14="http://schemas.microsoft.com/office/powerpoint/2010/main" val="23837045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38BBB-BD9E-CD10-1F7B-FA4DBBB0906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71B28F5-9661-5E21-96BB-AAB12D988F03}"/>
              </a:ext>
            </a:extLst>
          </p:cNvPr>
          <p:cNvSpPr>
            <a:spLocks noGrp="1"/>
          </p:cNvSpPr>
          <p:nvPr>
            <p:ph type="title"/>
          </p:nvPr>
        </p:nvSpPr>
        <p:spPr/>
        <p:txBody>
          <a:bodyPr>
            <a:normAutofit/>
          </a:bodyPr>
          <a:lstStyle/>
          <a:p>
            <a:r>
              <a:rPr lang="en-US"/>
              <a:t>Java doc documentation</a:t>
            </a:r>
          </a:p>
        </p:txBody>
      </p:sp>
      <p:pic>
        <p:nvPicPr>
          <p:cNvPr id="8" name="Immagine 7">
            <a:extLst>
              <a:ext uri="{FF2B5EF4-FFF2-40B4-BE49-F238E27FC236}">
                <a16:creationId xmlns:a16="http://schemas.microsoft.com/office/drawing/2014/main" id="{0708A7E9-74A8-87E0-B5FD-96E9820B8163}"/>
              </a:ext>
            </a:extLst>
          </p:cNvPr>
          <p:cNvPicPr>
            <a:picLocks noChangeAspect="1"/>
          </p:cNvPicPr>
          <p:nvPr/>
        </p:nvPicPr>
        <p:blipFill>
          <a:blip r:embed="rId2"/>
          <a:stretch>
            <a:fillRect/>
          </a:stretch>
        </p:blipFill>
        <p:spPr>
          <a:xfrm>
            <a:off x="1614058" y="1064625"/>
            <a:ext cx="5915884" cy="4728750"/>
          </a:xfrm>
          <a:prstGeom prst="rect">
            <a:avLst/>
          </a:prstGeom>
        </p:spPr>
      </p:pic>
    </p:spTree>
    <p:extLst>
      <p:ext uri="{BB962C8B-B14F-4D97-AF65-F5344CB8AC3E}">
        <p14:creationId xmlns:p14="http://schemas.microsoft.com/office/powerpoint/2010/main" val="6525581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6A919-8F80-817E-6217-1B47AF2AD01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ACEA642-FC4C-27DE-CD9F-9D8346EB3094}"/>
              </a:ext>
            </a:extLst>
          </p:cNvPr>
          <p:cNvSpPr>
            <a:spLocks noGrp="1"/>
          </p:cNvSpPr>
          <p:nvPr>
            <p:ph type="title"/>
          </p:nvPr>
        </p:nvSpPr>
        <p:spPr>
          <a:xfrm>
            <a:off x="182741" y="90093"/>
            <a:ext cx="8761797" cy="1143000"/>
          </a:xfrm>
        </p:spPr>
        <p:txBody>
          <a:bodyPr vert="horz" lIns="91440" tIns="45720" rIns="91440" bIns="45720" rtlCol="0" anchor="ctr">
            <a:normAutofit/>
          </a:bodyPr>
          <a:lstStyle/>
          <a:p>
            <a:r>
              <a:rPr lang="it-IT" kern="1200">
                <a:latin typeface="+mj-lt"/>
                <a:ea typeface="+mj-ea"/>
                <a:cs typeface="+mj-cs"/>
              </a:rPr>
              <a:t>Live Demo with Postman</a:t>
            </a:r>
          </a:p>
        </p:txBody>
      </p:sp>
      <p:sp>
        <p:nvSpPr>
          <p:cNvPr id="3" name="CasellaDiTesto 2">
            <a:extLst>
              <a:ext uri="{FF2B5EF4-FFF2-40B4-BE49-F238E27FC236}">
                <a16:creationId xmlns:a16="http://schemas.microsoft.com/office/drawing/2014/main" id="{DD065997-AD02-E935-941A-761D0FBD669D}"/>
              </a:ext>
            </a:extLst>
          </p:cNvPr>
          <p:cNvSpPr txBox="1"/>
          <p:nvPr/>
        </p:nvSpPr>
        <p:spPr>
          <a:xfrm>
            <a:off x="457200" y="1600200"/>
            <a:ext cx="4038600" cy="4525963"/>
          </a:xfrm>
          <a:prstGeom prst="rect">
            <a:avLst/>
          </a:prstGeom>
        </p:spPr>
        <p:txBody>
          <a:bodyPr vert="horz" lIns="91440" tIns="45720" rIns="91440" bIns="45720" rtlCol="0">
            <a:normAutofit/>
          </a:bodyPr>
          <a:lstStyle/>
          <a:p>
            <a:pPr marL="342900" indent="-342900">
              <a:lnSpc>
                <a:spcPct val="90000"/>
              </a:lnSpc>
              <a:spcBef>
                <a:spcPct val="20000"/>
              </a:spcBef>
              <a:buFont typeface="Arial"/>
              <a:buChar char="•"/>
            </a:pPr>
            <a:endParaRPr lang="it-IT" sz="1500" i="1"/>
          </a:p>
        </p:txBody>
      </p:sp>
      <p:pic>
        <p:nvPicPr>
          <p:cNvPr id="5" name="Immagine 4">
            <a:extLst>
              <a:ext uri="{FF2B5EF4-FFF2-40B4-BE49-F238E27FC236}">
                <a16:creationId xmlns:a16="http://schemas.microsoft.com/office/drawing/2014/main" id="{8C02B958-6B8B-DA37-FE62-9FC9C23C058D}"/>
              </a:ext>
            </a:extLst>
          </p:cNvPr>
          <p:cNvPicPr>
            <a:picLocks noChangeAspect="1"/>
          </p:cNvPicPr>
          <p:nvPr/>
        </p:nvPicPr>
        <p:blipFill>
          <a:blip r:embed="rId3"/>
          <a:stretch>
            <a:fillRect/>
          </a:stretch>
        </p:blipFill>
        <p:spPr>
          <a:xfrm>
            <a:off x="533400" y="1600200"/>
            <a:ext cx="7924800" cy="3658873"/>
          </a:xfrm>
          <a:prstGeom prst="rect">
            <a:avLst/>
          </a:prstGeom>
        </p:spPr>
      </p:pic>
    </p:spTree>
    <p:extLst>
      <p:ext uri="{BB962C8B-B14F-4D97-AF65-F5344CB8AC3E}">
        <p14:creationId xmlns:p14="http://schemas.microsoft.com/office/powerpoint/2010/main" val="3627092107"/>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3375</Words>
  <Application>Microsoft Macintosh PowerPoint</Application>
  <PresentationFormat>Presentazione su schermo (4:3)</PresentationFormat>
  <Paragraphs>476</Paragraphs>
  <Slides>55</Slides>
  <Notes>31</Notes>
  <HiddenSlides>0</HiddenSlides>
  <MMClips>0</MMClips>
  <ScaleCrop>false</ScaleCrop>
  <HeadingPairs>
    <vt:vector size="6" baseType="variant">
      <vt:variant>
        <vt:lpstr>Caratteri utilizzati</vt:lpstr>
      </vt:variant>
      <vt:variant>
        <vt:i4>6</vt:i4>
      </vt:variant>
      <vt:variant>
        <vt:lpstr>Tema</vt:lpstr>
      </vt:variant>
      <vt:variant>
        <vt:i4>1</vt:i4>
      </vt:variant>
      <vt:variant>
        <vt:lpstr>Titoli diapositive</vt:lpstr>
      </vt:variant>
      <vt:variant>
        <vt:i4>55</vt:i4>
      </vt:variant>
    </vt:vector>
  </HeadingPairs>
  <TitlesOfParts>
    <vt:vector size="62" baseType="lpstr">
      <vt:lpstr>Arial</vt:lpstr>
      <vt:lpstr>Calibri</vt:lpstr>
      <vt:lpstr>Calibri </vt:lpstr>
      <vt:lpstr>Courier New</vt:lpstr>
      <vt:lpstr>Google Sans Text</vt:lpstr>
      <vt:lpstr>Symbol</vt:lpstr>
      <vt:lpstr>Tema di Office</vt:lpstr>
      <vt:lpstr>Large-Scale and Multi-Structured Databases</vt:lpstr>
      <vt:lpstr>Application Highlights</vt:lpstr>
      <vt:lpstr>Actors and Mockups (i)</vt:lpstr>
      <vt:lpstr>Actors and Mockups (ii) </vt:lpstr>
      <vt:lpstr>Actors and Mockups (iii)</vt:lpstr>
      <vt:lpstr>Actors and Mockups (iv)</vt:lpstr>
      <vt:lpstr>Actors and Mockups (v)</vt:lpstr>
      <vt:lpstr>Actors and Mockups (vi)</vt:lpstr>
      <vt:lpstr>Actors and Mockups (vii)</vt:lpstr>
      <vt:lpstr>Actors and Mockups (viii)</vt:lpstr>
      <vt:lpstr>Actors and Mockups (ix)</vt:lpstr>
      <vt:lpstr>Actors and Mockups (x)</vt:lpstr>
      <vt:lpstr>Actors and Mockups (xi)</vt:lpstr>
      <vt:lpstr>Actors and Mockups (xii)</vt:lpstr>
      <vt:lpstr>Actors and Mockups (xiii)</vt:lpstr>
      <vt:lpstr>Dataset Description</vt:lpstr>
      <vt:lpstr>Dataset Description</vt:lpstr>
      <vt:lpstr>UML Design Class Diagram</vt:lpstr>
      <vt:lpstr>Application non-functional requirements</vt:lpstr>
      <vt:lpstr>Document DB Design</vt:lpstr>
      <vt:lpstr>Document DB Design</vt:lpstr>
      <vt:lpstr>Document DB Design</vt:lpstr>
      <vt:lpstr>Document DB Design</vt:lpstr>
      <vt:lpstr>Document DB Design</vt:lpstr>
      <vt:lpstr>Relevant MongoDB queries</vt:lpstr>
      <vt:lpstr>Relevant MongoDB queries</vt:lpstr>
      <vt:lpstr>Relevant MongoDB queries</vt:lpstr>
      <vt:lpstr>Relevant MongoDB queries</vt:lpstr>
      <vt:lpstr>MongoDB Replica Set Configuration</vt:lpstr>
      <vt:lpstr>MongoDB Indexes</vt:lpstr>
      <vt:lpstr>MongoDB Indexes</vt:lpstr>
      <vt:lpstr>Discussion on MongoDB Data Sharding</vt:lpstr>
      <vt:lpstr>Key-value DB Design</vt:lpstr>
      <vt:lpstr>Key-value DB Design</vt:lpstr>
      <vt:lpstr>Key-value DB Design</vt:lpstr>
      <vt:lpstr>Redis Replica Set Configuration</vt:lpstr>
      <vt:lpstr>Relevant Redis queries</vt:lpstr>
      <vt:lpstr>Relevant Redis queries</vt:lpstr>
      <vt:lpstr>Graph DB Design</vt:lpstr>
      <vt:lpstr>Graph DB Design</vt:lpstr>
      <vt:lpstr>Relevant Neo4j queries</vt:lpstr>
      <vt:lpstr>Relevant Neo4j queries</vt:lpstr>
      <vt:lpstr>Relevant Neo4j queries</vt:lpstr>
      <vt:lpstr>Relevant Neo4j queries</vt:lpstr>
      <vt:lpstr>Neo4j Indexes</vt:lpstr>
      <vt:lpstr>CAP – theorem consideration</vt:lpstr>
      <vt:lpstr>Handling Intra-DB Consistency </vt:lpstr>
      <vt:lpstr>Swagger UI REST APIs documentation</vt:lpstr>
      <vt:lpstr>Swagger UI REST APIs documentation</vt:lpstr>
      <vt:lpstr>Swagger UI REST APIs documentation</vt:lpstr>
      <vt:lpstr>Swagger UI REST APIs documentation</vt:lpstr>
      <vt:lpstr>Swagger UI REST APIs documentation</vt:lpstr>
      <vt:lpstr>Swagger UI REST APIs documentation</vt:lpstr>
      <vt:lpstr>Java doc documentation</vt:lpstr>
      <vt:lpstr>Live Demo with Postman</vt:lpstr>
    </vt:vector>
  </TitlesOfParts>
  <Company>Università di Pisa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Large Scale and Non-Structured Databases The Database Revolutions</dc:title>
  <dc:creator>Francesco  Marcelloni</dc:creator>
  <cp:lastModifiedBy>Megan Maremmani</cp:lastModifiedBy>
  <cp:revision>1</cp:revision>
  <dcterms:created xsi:type="dcterms:W3CDTF">2019-07-02T09:26:30Z</dcterms:created>
  <dcterms:modified xsi:type="dcterms:W3CDTF">2026-06-15T15:19:53Z</dcterms:modified>
</cp:coreProperties>
</file>